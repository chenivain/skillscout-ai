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f7d5e31e064ce3" /><Relationship Type="http://schemas.openxmlformats.org/officeDocument/2006/relationships/extended-properties" Target="/docProps/app.xml" Id="Rcf32c2f4710c485a" /><Relationship Type="http://schemas.openxmlformats.org/officeDocument/2006/relationships/officeDocument" Target="/ppt/presentation.xml" Id="R6770854ef3724ae7" /></Relationships>
</file>

<file path=ppt/presentation.xml><?xml version="1.0" encoding="utf-8"?>
<p:presentation xmlns:p="http://schemas.openxmlformats.org/presentationml/2006/main">
  <p:sldMasterIdLst>
    <p:sldMasterId xmlns:r="http://schemas.openxmlformats.org/officeDocument/2006/relationships" id="2147483648" r:id="R69d069e681ea4822"/>
  </p:sldMasterIdLst>
  <p:notesMasterIdLst>
    <p:notesMasterId xmlns:r="http://schemas.openxmlformats.org/officeDocument/2006/relationships" r:id="Rb9e53b97b6ac46d1"/>
  </p:notesMasterIdLst>
  <p:sldIdLst>
    <p:sldId xmlns:r="http://schemas.openxmlformats.org/officeDocument/2006/relationships" id="256" r:id="Rb2badacf056f4fd2"/>
    <p:sldId xmlns:r="http://schemas.openxmlformats.org/officeDocument/2006/relationships" id="257" r:id="Raa47bac5b0f14afa"/>
    <p:sldId xmlns:r="http://schemas.openxmlformats.org/officeDocument/2006/relationships" id="258" r:id="R5f3f3f7415d7446b"/>
    <p:sldId xmlns:r="http://schemas.openxmlformats.org/officeDocument/2006/relationships" id="259" r:id="R95950ac904164bdb"/>
    <p:sldId xmlns:r="http://schemas.openxmlformats.org/officeDocument/2006/relationships" id="260" r:id="R3f9ee31480034f73"/>
    <p:sldId xmlns:r="http://schemas.openxmlformats.org/officeDocument/2006/relationships" id="261" r:id="R0745360698a14619"/>
    <p:sldId xmlns:r="http://schemas.openxmlformats.org/officeDocument/2006/relationships" id="262" r:id="R6e88bc2e1b684b0d"/>
    <p:sldId xmlns:r="http://schemas.openxmlformats.org/officeDocument/2006/relationships" id="263" r:id="R5e1618c4f27342bc"/>
    <p:sldId xmlns:r="http://schemas.openxmlformats.org/officeDocument/2006/relationships" id="264" r:id="R700a2a6e18544b0a"/>
    <p:sldId xmlns:r="http://schemas.openxmlformats.org/officeDocument/2006/relationships" id="265" r:id="R86e4030a04c14858"/>
    <p:sldId xmlns:r="http://schemas.openxmlformats.org/officeDocument/2006/relationships" id="266" r:id="R87d7f107815540a5"/>
    <p:sldId xmlns:r="http://schemas.openxmlformats.org/officeDocument/2006/relationships" id="267" r:id="Re6d613be52814541"/>
    <p:sldId xmlns:r="http://schemas.openxmlformats.org/officeDocument/2006/relationships" id="268" r:id="R7597a045c6fb49ca"/>
    <p:sldId xmlns:r="http://schemas.openxmlformats.org/officeDocument/2006/relationships" id="269" r:id="Re76477b82c47482e"/>
    <p:sldId xmlns:r="http://schemas.openxmlformats.org/officeDocument/2006/relationships" id="270" r:id="R005f55fdcdc34dae"/>
    <p:sldId xmlns:r="http://schemas.openxmlformats.org/officeDocument/2006/relationships" id="271" r:id="R108695596a39482d"/>
    <p:sldId xmlns:r="http://schemas.openxmlformats.org/officeDocument/2006/relationships" id="272" r:id="Rec488688fe304da9"/>
    <p:sldId xmlns:r="http://schemas.openxmlformats.org/officeDocument/2006/relationships" id="273" r:id="R2c69e724293e4132"/>
    <p:sldId xmlns:r="http://schemas.openxmlformats.org/officeDocument/2006/relationships" id="274" r:id="Rc0dfd2e120244b36"/>
    <p:sldId xmlns:r="http://schemas.openxmlformats.org/officeDocument/2006/relationships" id="275" r:id="R3ebf6db62e104a88"/>
    <p:sldId xmlns:r="http://schemas.openxmlformats.org/officeDocument/2006/relationships" id="276" r:id="Rd2312a2104b643bb"/>
    <p:sldId xmlns:r="http://schemas.openxmlformats.org/officeDocument/2006/relationships" id="277" r:id="R70a9ec0de35c4293"/>
    <p:sldId xmlns:r="http://schemas.openxmlformats.org/officeDocument/2006/relationships" id="278" r:id="R9b367721988c4fe3"/>
    <p:sldId xmlns:r="http://schemas.openxmlformats.org/officeDocument/2006/relationships" id="279" r:id="R4dd4df2123114b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9bce0dd66e453a" /><Relationship Type="http://schemas.openxmlformats.org/officeDocument/2006/relationships/slideMaster" Target="/ppt/slideMasters/slideMaster1.xml" Id="R69d069e681ea4822" /><Relationship Type="http://schemas.openxmlformats.org/officeDocument/2006/relationships/notesMaster" Target="/ppt/notesMasters/notesMaster1.xml" Id="Rb9e53b97b6ac46d1" /><Relationship Type="http://schemas.openxmlformats.org/officeDocument/2006/relationships/presProps" Target="/ppt/presProps.xml" Id="R0778a532523848e7" /><Relationship Type="http://schemas.openxmlformats.org/officeDocument/2006/relationships/tableStyles" Target="/ppt/tableStyles.xml" Id="R5fd1123171c0471a" /><Relationship Type="http://schemas.openxmlformats.org/officeDocument/2006/relationships/slide" Target="/ppt/slides/slide1.xml" Id="Rb2badacf056f4fd2" /><Relationship Type="http://schemas.openxmlformats.org/officeDocument/2006/relationships/slide" Target="/ppt/slides/slide2.xml" Id="Raa47bac5b0f14afa" /><Relationship Type="http://schemas.openxmlformats.org/officeDocument/2006/relationships/slide" Target="/ppt/slides/slide3.xml" Id="R5f3f3f7415d7446b" /><Relationship Type="http://schemas.openxmlformats.org/officeDocument/2006/relationships/slide" Target="/ppt/slides/slide4.xml" Id="R95950ac904164bdb" /><Relationship Type="http://schemas.openxmlformats.org/officeDocument/2006/relationships/slide" Target="/ppt/slides/slide5.xml" Id="R3f9ee31480034f73" /><Relationship Type="http://schemas.openxmlformats.org/officeDocument/2006/relationships/slide" Target="/ppt/slides/slide6.xml" Id="R0745360698a14619" /><Relationship Type="http://schemas.openxmlformats.org/officeDocument/2006/relationships/slide" Target="/ppt/slides/slide7.xml" Id="R6e88bc2e1b684b0d" /><Relationship Type="http://schemas.openxmlformats.org/officeDocument/2006/relationships/slide" Target="/ppt/slides/slide8.xml" Id="R5e1618c4f27342bc" /><Relationship Type="http://schemas.openxmlformats.org/officeDocument/2006/relationships/slide" Target="/ppt/slides/slide9.xml" Id="R700a2a6e18544b0a" /><Relationship Type="http://schemas.openxmlformats.org/officeDocument/2006/relationships/slide" Target="/ppt/slides/slide10.xml" Id="R86e4030a04c14858" /><Relationship Type="http://schemas.openxmlformats.org/officeDocument/2006/relationships/slide" Target="/ppt/slides/slide11.xml" Id="R87d7f107815540a5" /><Relationship Type="http://schemas.openxmlformats.org/officeDocument/2006/relationships/slide" Target="/ppt/slides/slide12.xml" Id="Re6d613be52814541" /><Relationship Type="http://schemas.openxmlformats.org/officeDocument/2006/relationships/slide" Target="/ppt/slides/slide13.xml" Id="R7597a045c6fb49ca" /><Relationship Type="http://schemas.openxmlformats.org/officeDocument/2006/relationships/slide" Target="/ppt/slides/slide14.xml" Id="Re76477b82c47482e" /><Relationship Type="http://schemas.openxmlformats.org/officeDocument/2006/relationships/slide" Target="/ppt/slides/slide15.xml" Id="R005f55fdcdc34dae" /><Relationship Type="http://schemas.openxmlformats.org/officeDocument/2006/relationships/slide" Target="/ppt/slides/slide16.xml" Id="R108695596a39482d" /><Relationship Type="http://schemas.openxmlformats.org/officeDocument/2006/relationships/slide" Target="/ppt/slides/slide17.xml" Id="Rec488688fe304da9" /><Relationship Type="http://schemas.openxmlformats.org/officeDocument/2006/relationships/slide" Target="/ppt/slides/slide18.xml" Id="R2c69e724293e4132" /><Relationship Type="http://schemas.openxmlformats.org/officeDocument/2006/relationships/slide" Target="/ppt/slides/slide19.xml" Id="Rc0dfd2e120244b36" /><Relationship Type="http://schemas.openxmlformats.org/officeDocument/2006/relationships/slide" Target="/ppt/slides/slide20.xml" Id="R3ebf6db62e104a88" /><Relationship Type="http://schemas.openxmlformats.org/officeDocument/2006/relationships/slide" Target="/ppt/slides/slide21.xml" Id="Rd2312a2104b643bb" /><Relationship Type="http://schemas.openxmlformats.org/officeDocument/2006/relationships/slide" Target="/ppt/slides/slide22.xml" Id="R70a9ec0de35c4293" /><Relationship Type="http://schemas.openxmlformats.org/officeDocument/2006/relationships/slide" Target="/ppt/slides/slide23.xml" Id="R9b367721988c4fe3" /><Relationship Type="http://schemas.openxmlformats.org/officeDocument/2006/relationships/slide" Target="/ppt/slides/slide24.xml" Id="R4dd4df2123114b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53a4c084714f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72fe308da14384" /><Relationship Type="http://schemas.openxmlformats.org/officeDocument/2006/relationships/notesMaster" Target="/ppt/notesMasters/notesMaster1.xml" Id="R2cd91f916f1d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feacdf13364b75" /><Relationship Type="http://schemas.openxmlformats.org/officeDocument/2006/relationships/notesMaster" Target="/ppt/notesMasters/notesMaster1.xml" Id="R43f00e20a6a04a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2da520b5a741b1" /><Relationship Type="http://schemas.openxmlformats.org/officeDocument/2006/relationships/notesMaster" Target="/ppt/notesMasters/notesMaster1.xml" Id="R8ca1619bb8894f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a8b7a97f0f4cb2" /><Relationship Type="http://schemas.openxmlformats.org/officeDocument/2006/relationships/notesMaster" Target="/ppt/notesMasters/notesMaster1.xml" Id="R3a0d3e139ed04d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1571963bb94d7b" /><Relationship Type="http://schemas.openxmlformats.org/officeDocument/2006/relationships/notesMaster" Target="/ppt/notesMasters/notesMaster1.xml" Id="R595725d5b6e246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0b5d7672db4be8" /><Relationship Type="http://schemas.openxmlformats.org/officeDocument/2006/relationships/notesMaster" Target="/ppt/notesMasters/notesMaster1.xml" Id="R7ba6d114cb1a4c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bbb41ef3314090" /><Relationship Type="http://schemas.openxmlformats.org/officeDocument/2006/relationships/notesMaster" Target="/ppt/notesMasters/notesMaster1.xml" Id="Rdde106ee1cb343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a060145c2a4f61" /><Relationship Type="http://schemas.openxmlformats.org/officeDocument/2006/relationships/notesMaster" Target="/ppt/notesMasters/notesMaster1.xml" Id="R9982aa5a4da841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c97eb9551443bb" /><Relationship Type="http://schemas.openxmlformats.org/officeDocument/2006/relationships/notesMaster" Target="/ppt/notesMasters/notesMaster1.xml" Id="Ra53650c4923548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26c7ef265246ad" /><Relationship Type="http://schemas.openxmlformats.org/officeDocument/2006/relationships/notesMaster" Target="/ppt/notesMasters/notesMaster1.xml" Id="R1c078c3deb164d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efd681dacb4b5e" /><Relationship Type="http://schemas.openxmlformats.org/officeDocument/2006/relationships/notesMaster" Target="/ppt/notesMasters/notesMaster1.xml" Id="Rc81fe2dc86db42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4f7bef248a4756" /><Relationship Type="http://schemas.openxmlformats.org/officeDocument/2006/relationships/notesMaster" Target="/ppt/notesMasters/notesMaster1.xml" Id="R67ccd5dba66941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1815bda823450e" /><Relationship Type="http://schemas.openxmlformats.org/officeDocument/2006/relationships/notesMaster" Target="/ppt/notesMasters/notesMaster1.xml" Id="R2519d47d81254a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f4ad0e7c7b4586" /><Relationship Type="http://schemas.openxmlformats.org/officeDocument/2006/relationships/notesMaster" Target="/ppt/notesMasters/notesMaster1.xml" Id="R6487fb679a9846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6e3ddd76cd4681" /><Relationship Type="http://schemas.openxmlformats.org/officeDocument/2006/relationships/notesMaster" Target="/ppt/notesMasters/notesMaster1.xml" Id="R78cc91ce367d45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0d996b749e4ac0" /><Relationship Type="http://schemas.openxmlformats.org/officeDocument/2006/relationships/notesMaster" Target="/ppt/notesMasters/notesMaster1.xml" Id="R8e8cd557173c4d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e88aa371814cff" /><Relationship Type="http://schemas.openxmlformats.org/officeDocument/2006/relationships/notesMaster" Target="/ppt/notesMasters/notesMaster1.xml" Id="R91b48901c2bf48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1543fc93b24bd5" /><Relationship Type="http://schemas.openxmlformats.org/officeDocument/2006/relationships/notesMaster" Target="/ppt/notesMasters/notesMaster1.xml" Id="R30f1489ac25749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4721bd35964f59" /><Relationship Type="http://schemas.openxmlformats.org/officeDocument/2006/relationships/notesMaster" Target="/ppt/notesMasters/notesMaster1.xml" Id="R60c68e13b1f54c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0d3602c69d4274" /><Relationship Type="http://schemas.openxmlformats.org/officeDocument/2006/relationships/notesMaster" Target="/ppt/notesMasters/notesMaster1.xml" Id="Rfc2049a433b148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c06d818a9c4fd8" /><Relationship Type="http://schemas.openxmlformats.org/officeDocument/2006/relationships/notesMaster" Target="/ppt/notesMasters/notesMaster1.xml" Id="R11fb731e6fa84b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c963d94b674329" /><Relationship Type="http://schemas.openxmlformats.org/officeDocument/2006/relationships/notesMaster" Target="/ppt/notesMasters/notesMaster1.xml" Id="R2d82ca9f6a0e46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880863f573483f" /><Relationship Type="http://schemas.openxmlformats.org/officeDocument/2006/relationships/notesMaster" Target="/ppt/notesMasters/notesMaster1.xml" Id="R2e0dd66ef08146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61120ee628467b" /><Relationship Type="http://schemas.openxmlformats.org/officeDocument/2006/relationships/notesMaster" Target="/ppt/notesMasters/notesMaster1.xml" Id="Rded57ccc902e45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SkillScout AI. It helps an employee identify missing skills and find relevant courses. We will explain the problem, show how the four agents work and demonstrate the system. Each member should describe their actual contribution when asked.</a:t>
            </a:r>
          </a:p>
          <a:p xmlns:a="http://schemas.openxmlformats.org/drawingml/2006/main">
            <a:r>
              <a:t/>
            </a:r>
          </a:p>
          <a:p xmlns:a="http://schemas.openxmlformats.org/drawingml/2006/main">
            <a:r>
              <a:t>Source: Group Assignment Brief.pdf; presenter details in the supplied Canva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a beginner needs a different course from someone with several years of experience. Our project supports that choice. We have not measured real-world time savings or employee career outcomes.</a:t>
            </a:r>
          </a:p>
          <a:p xmlns:a="http://schemas.openxmlformats.org/drawingml/2006/main">
            <a:r>
              <a:t/>
            </a:r>
          </a:p>
          <a:p xmlns:a="http://schemas.openxmlformats.org/drawingml/2006/main">
            <a:r>
              <a:t>Source: Project problem statement;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titles and provider links are stored in the catalogue. Prices, ratings and discounts are demonstration data and must be checked with the provider. There is no live LinkedIn scraping in this implementation.</a:t>
            </a:r>
          </a:p>
          <a:p xmlns:a="http://schemas.openxmlformats.org/drawingml/2006/main">
            <a:r>
              <a:t/>
            </a:r>
          </a:p>
          <a:p xmlns:a="http://schemas.openxmlformats.org/drawingml/2006/main">
            <a:r>
              <a:t>Source: backend/data/seed.py;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profile. The current role mapping produces these five gaps when the profile has no additional interests or biography. Changing the profile can change the result. Missing from the profile does not prove the person lacks the skill; the profile should be kept accurate.</a:t>
            </a:r>
          </a:p>
          <a:p xmlns:a="http://schemas.openxmlformats.org/drawingml/2006/main">
            <a:r>
              <a:t/>
            </a:r>
          </a:p>
          <a:p xmlns:a="http://schemas.openxmlformats.org/drawingml/2006/main">
            <a:r>
              <a:t>Source: backend/ai/engine.py: analyze_profile; backend/ai/taxonomy.py: ROLE_SKILLS.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connects to the gateway. The gateway reads the database and calls the four workers in order. Workers do not directly call one another. Ollama is used by selected features; it does not run all recommendation logic.</a:t>
            </a:r>
          </a:p>
          <a:p xmlns:a="http://schemas.openxmlformats.org/drawingml/2006/main">
            <a:r>
              <a:t/>
            </a:r>
          </a:p>
          <a:p xmlns:a="http://schemas.openxmlformats.org/drawingml/2006/main">
            <a:r>
              <a:t>Source: scripts/dev.py; backend/api.py; backend/worker.py; backend/db.py.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passes each result into later steps and records the run. This is a fixed, bounded workflow. It is not four independent language models planning freely. The final agent ranks opportunities; the gateway saves results and creates eligible notifications.</a:t>
            </a:r>
          </a:p>
          <a:p xmlns:a="http://schemas.openxmlformats.org/drawingml/2006/main">
            <a:r>
              <a:t/>
            </a:r>
          </a:p>
          <a:p xmlns:a="http://schemas.openxmlformats.org/drawingml/2006/main">
            <a:r>
              <a:t>Source: backend/api.py: _execute_pipeline; backend/worker.py: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 is analyze_profile() in backend/ai/engine.py. It also considers certifications, training history, interests and biography. If Ollama works, it may choose and order up to five existing gaps. The code checks those choices. If not, rule-based priorities remain.</a:t>
            </a:r>
          </a:p>
          <a:p xmlns:a="http://schemas.openxmlformats.org/drawingml/2006/main">
            <a:r>
              <a:t/>
            </a:r>
          </a:p>
          <a:p xmlns:a="http://schemas.openxmlformats.org/drawingml/2006/main">
            <a:r>
              <a:t>Source: backend/ai/engine.py: analyze_profile; backend/ai/taxonomy.py.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taxonomy contains 40 canonical skills and 15 role mappings. This knowledge was curated for the project. It is not discovered or learned automatically by Ollama. Adding a new role may require extending both mappings and course coverage.</a:t>
            </a:r>
          </a:p>
          <a:p xmlns:a="http://schemas.openxmlformats.org/drawingml/2006/main">
            <a:r>
              <a:t/>
            </a:r>
          </a:p>
          <a:p xmlns:a="http://schemas.openxmlformats.org/drawingml/2006/main">
            <a:r>
              <a:t>Source: backend/ai/taxonomy.py: SKILL_ALIASES, ROLE_SKILLS, ROLE_ALIASES, PREREQUISITES.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discover_trends() uses dictionary matching, not a trained neural named-entity model. It counts a skill once per post and compares two time windows. These trends describe the supplied synthetic posts. They are not proof of real job-market demand.</a:t>
            </a:r>
          </a:p>
          <a:p xmlns:a="http://schemas.openxmlformats.org/drawingml/2006/main">
            <a:r>
              <a:t/>
            </a:r>
          </a:p>
          <a:p xmlns:a="http://schemas.openxmlformats.org/drawingml/2006/main">
            <a:r>
              <a:t>Source: backend/ai/engine.py: discover_trends; backend/ai/taxonomy.py; backend/data/seed.py.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is retrieve_courses() and HybridIndex in backend/ai/engine.py. This is lexical retrieval using BM25 and sparse TF-IDF vectors, not neural embeddings. It normally returns up to 12 candidates. The final course recommendation score is calculated later by agent four.</a:t>
            </a:r>
          </a:p>
          <a:p xmlns:a="http://schemas.openxmlformats.org/drawingml/2006/main">
            <a:r>
              <a:t/>
            </a:r>
          </a:p>
          <a:p xmlns:a="http://schemas.openxmlformats.org/drawingml/2006/main">
            <a:r>
              <a:t>Source: backend/ai/engine.py: HybridIndex, retrieve_courses.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calculates these factors with project-defined rules. It removes completed or irrelevant courses and may exclude advanced courses when foundations are missing. The gateway creates eligible in-app notifications for opted-in users. Ratings are not a scoring factor.</a:t>
            </a:r>
          </a:p>
          <a:p xmlns:a="http://schemas.openxmlformats.org/drawingml/2006/main">
            <a:r>
              <a:t/>
            </a:r>
          </a:p>
          <a:p xmlns:a="http://schemas.openxmlformats.org/drawingml/2006/main">
            <a:r>
              <a:t>Source: backend/ai/engine.py: recommend; backend/api.py: notification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configured default model is qwen2.5:3b. The model is optional. Trend extraction, course retrieval and recommendation scores are implemented with algorithms and rules. A running Ollama service is not proof that a request used the model; inspect llm_used in the response.</a:t>
            </a:r>
          </a:p>
          <a:p xmlns:a="http://schemas.openxmlformats.org/drawingml/2006/main">
            <a:r>
              <a:t/>
            </a:r>
          </a:p>
          <a:p xmlns:a="http://schemas.openxmlformats.org/drawingml/2006/main">
            <a:r>
              <a:t>Source: backend/ai/engine.py; backend/config.py; scripts/model.py.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answer_question() provides retrieval-grounded assistance. Our implementation constrains selections and uses templates for the final facts instead of trusting unrestricted model prose. This reduces made-up course details, but it does not make outdated or inaccurate source records correct.</a:t>
            </a:r>
          </a:p>
          <a:p xmlns:a="http://schemas.openxmlformats.org/drawingml/2006/main">
            <a:r>
              <a:t/>
            </a:r>
          </a:p>
          <a:p xmlns:a="http://schemas.openxmlformats.org/drawingml/2006/main">
            <a:r>
              <a:t>Source: backend/ai/engine.py: answer_question; tests/test_ai.py.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Passwords use PBKDF2-HMAC-SHA256 with a salt and 310,000 iterations. Session tokens are hashed in the database. Cookies are HttpOnly and SameSite. The local SQLite file is not encrypted. Production deployment would need further hardening, including HTTPS and stronger operational controls.</a:t>
            </a:r>
          </a:p>
          <a:p xmlns:a="http://schemas.openxmlformats.org/drawingml/2006/main">
            <a:r>
              <a:t/>
            </a:r>
          </a:p>
          <a:p xmlns:a="http://schemas.openxmlformats.org/drawingml/2006/main">
            <a:r>
              <a:t>Source: backend/db.py; backend/security.py; backend/api.py; backend/worker.py.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Fairness is a design intention, not a proven fairness result. The small curated catalogue may favour supported roles and providers. Consent withdrawal removes current analyses and notices; prior private run history remains until account deletion. Externally saved backups are outside that deletion.</a:t>
            </a:r>
          </a:p>
          <a:p xmlns:a="http://schemas.openxmlformats.org/drawingml/2006/main">
            <a:r>
              <a:t/>
            </a:r>
          </a:p>
          <a:p xmlns:a="http://schemas.openxmlformats.org/drawingml/2006/main">
            <a:r>
              <a:t>Source: docs/RESPONSIBLE_AI.md;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employee account. For the exact example use Data Analyst, SQL/Excel/Power BI and Data Scientist, with no extra interests or biography. Explain that saving a course is a personal choice. If showing completion, it is self-reported and changes the profile; do not mark a course complete merely to test the button without intending to change that demo account.</a:t>
            </a:r>
          </a:p>
          <a:p xmlns:a="http://schemas.openxmlformats.org/drawingml/2006/main">
            <a:r>
              <a:t/>
            </a:r>
          </a:p>
          <a:p xmlns:a="http://schemas.openxmlformats.org/drawingml/2006/main">
            <a:r>
              <a:t>Source: frontend/src; backend/api.py; project demo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on 21 September 2026. Relevance labels were authored for development, not collected from an independent user study. NDCG@5 was 0.885. Automated tests do not prove production readiness. See the separate rehearsal notes for the known frontend build check and current model verification steps.</a:t>
            </a:r>
          </a:p>
          <a:p xmlns:a="http://schemas.openxmlformats.org/drawingml/2006/main">
            <a:r>
              <a:t/>
            </a:r>
          </a:p>
          <a:p xmlns:a="http://schemas.openxmlformats.org/drawingml/2006/main">
            <a:r>
              <a:t>Source: tests/test_ai.py; tests/test_api.py; backend/evaluation.py; recorded validation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Scheduled checks only run while the local gateway is running. They re-analyse stored data; they are not a live internet monitoring service. Integration with HR systems, email and Teams is proposed future work.</a:t>
            </a:r>
          </a:p>
          <a:p xmlns:a="http://schemas.openxmlformats.org/drawingml/2006/main">
            <a:r>
              <a:t/>
            </a:r>
          </a:p>
          <a:p xmlns:a="http://schemas.openxmlformats.org/drawingml/2006/main">
            <a:r>
              <a:t>Source: README.md; docs/ARCHITECTURE.md; backend/api.py: scheduled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addresses the assignment’s commercialization requirement. Costs could include hosting, model inference, data maintenance, support and integrations. We have not validated willingness to pay or launched an enterprise service.</a:t>
            </a:r>
          </a:p>
          <a:p xmlns:a="http://schemas.openxmlformats.org/drawingml/2006/main">
            <a:r>
              <a:t/>
            </a:r>
          </a:p>
          <a:p xmlns:a="http://schemas.openxmlformats.org/drawingml/2006/main">
            <a:r>
              <a:t>Source: User-supplied commercialization proposal; Group Assignment Brief.pdf.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demonstrates a complete bounded workflow using the provided data. The employee remains in control. We can now show the code and answer questions about our design decisions. Do not claim unmeasured business results or invented personal contributions.</a:t>
            </a:r>
          </a:p>
          <a:p xmlns:a="http://schemas.openxmlformats.org/drawingml/2006/main">
            <a:r>
              <a:t/>
            </a:r>
          </a:p>
          <a:p xmlns:a="http://schemas.openxmlformats.org/drawingml/2006/main">
            <a:r>
              <a:t>Source: README.md; backend/ai/engine.py; backend/api.py; frontend/src.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backend/ai/engine.py in VS Code and use Find to locate each named function. Open backend/worker.py to show AGENT_KIND dispatch and backend/api.py to show _execute_pipeline. Use function names because line numbers can change after edits.</a:t>
            </a:r>
          </a:p>
          <a:p xmlns:a="http://schemas.openxmlformats.org/drawingml/2006/main">
            <a:r>
              <a:t/>
            </a:r>
          </a:p>
          <a:p xmlns:a="http://schemas.openxmlformats.org/drawingml/2006/main">
            <a:r>
              <a:t>Source: backend/ai/engine.py; backend/worker.py; backend/api.py; scripts/dev.py.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 trends, retrieval and recommendation workers use ports 8101 to 8104. Each is a separate FastAPI process. A port is a numbered network endpoint. The gateway uses port 8000. The X-Agent-Key header is a shared secret for internal calls, not a user password.</a:t>
            </a:r>
          </a:p>
          <a:p xmlns:a="http://schemas.openxmlformats.org/drawingml/2006/main">
            <a:r>
              <a:t/>
            </a:r>
          </a:p>
          <a:p xmlns:a="http://schemas.openxmlformats.org/drawingml/2006/main">
            <a:r>
              <a:t>Source: CONTRACT.md; backend/config.py; backend/worker.py;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and cosine components are normalized before blending. Profile fit includes level, budget and time, with penalties where applicable. Notification creation also requires opt-in and deduplication; its high-priority check makes the effective score threshold 78. A discount is only one small factor.</a:t>
            </a:r>
          </a:p>
          <a:p xmlns:a="http://schemas.openxmlformats.org/drawingml/2006/main">
            <a:r>
              <a:t/>
            </a:r>
          </a:p>
          <a:p xmlns:a="http://schemas.openxmlformats.org/drawingml/2006/main">
            <a:r>
              <a:t>Source: backend/ai/engine.py: HybridIndex, retrieve_courses, recommend;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Activate the installed virtual environment first if needed. If a port is busy, stop the existing project process before starting a second copy. The detailed original rehearsal guide contains startup and troubleshooting instructions. Primary references for this deck: assignment brief, README.md, CONTRACT.md, backend source and docs/ARCHITECTURE.md. Repository: https://github.com/CheNivain/Skillscout-AI.</a:t>
            </a:r>
          </a:p>
          <a:p xmlns:a="http://schemas.openxmlformats.org/drawingml/2006/main">
            <a:r>
              <a:t/>
            </a:r>
          </a:p>
          <a:p xmlns:a="http://schemas.openxmlformats.org/drawingml/2006/main">
            <a:r>
              <a:t>Source: scripts/dev.py; README.md; backend source; Group Assignment Brief.pdf.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f4555963d4c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3c9eb2e2a64414" /><Relationship Type="http://schemas.openxmlformats.org/officeDocument/2006/relationships/slideLayout" Target="/ppt/slideLayouts/slideLayout1.xml" Id="Rb0f4300e09ab45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4300e09ab45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797f7eac3d4182" /><Relationship Type="http://schemas.openxmlformats.org/officeDocument/2006/relationships/notesSlide" Target="/ppt/notesSlides/notesSlide1.xml" Id="R54c657b00a2d4d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539444cdca4592" /><Relationship Type="http://schemas.openxmlformats.org/officeDocument/2006/relationships/notesSlide" Target="/ppt/notesSlides/notesSlide2.xml" Id="Ra6e85edee38841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601fa6c2894b2b" /><Relationship Type="http://schemas.openxmlformats.org/officeDocument/2006/relationships/notesSlide" Target="/ppt/notesSlides/notesSlide3.xml" Id="R579a29fdf7b849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9fa3a5766045e7" /><Relationship Type="http://schemas.openxmlformats.org/officeDocument/2006/relationships/notesSlide" Target="/ppt/notesSlides/notesSlide4.xml" Id="R4d4b3dad625748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541990b6154acd" /><Relationship Type="http://schemas.openxmlformats.org/officeDocument/2006/relationships/notesSlide" Target="/ppt/notesSlides/notesSlide5.xml" Id="Rf071d39fd16142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86137845ec4baf" /><Relationship Type="http://schemas.openxmlformats.org/officeDocument/2006/relationships/notesSlide" Target="/ppt/notesSlides/notesSlide6.xml" Id="R8a3045e0cc1e4e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51f618af1644f4" /><Relationship Type="http://schemas.openxmlformats.org/officeDocument/2006/relationships/notesSlide" Target="/ppt/notesSlides/notesSlide7.xml" Id="R0a93c1fc258e4f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2f267dd8fb49e2" /><Relationship Type="http://schemas.openxmlformats.org/officeDocument/2006/relationships/notesSlide" Target="/ppt/notesSlides/notesSlide8.xml" Id="R9087e4e211ca40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0e35d2c7a54896" /><Relationship Type="http://schemas.openxmlformats.org/officeDocument/2006/relationships/notesSlide" Target="/ppt/notesSlides/notesSlide9.xml" Id="R3bae544047b543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f669cb8c884a12" /><Relationship Type="http://schemas.openxmlformats.org/officeDocument/2006/relationships/notesSlide" Target="/ppt/notesSlides/notesSlide10.xml" Id="R572863de3fec48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1f4642f73745ad" /><Relationship Type="http://schemas.openxmlformats.org/officeDocument/2006/relationships/notesSlide" Target="/ppt/notesSlides/notesSlide11.xml" Id="R5cc35bc8068f47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4e5e6a9e764d2e" /><Relationship Type="http://schemas.openxmlformats.org/officeDocument/2006/relationships/notesSlide" Target="/ppt/notesSlides/notesSlide12.xml" Id="R51e3fd4fd17342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63060db4a34638" /><Relationship Type="http://schemas.openxmlformats.org/officeDocument/2006/relationships/notesSlide" Target="/ppt/notesSlides/notesSlide13.xml" Id="R480328839da34b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d6cd434fe54696" /><Relationship Type="http://schemas.openxmlformats.org/officeDocument/2006/relationships/notesSlide" Target="/ppt/notesSlides/notesSlide14.xml" Id="Rc8fd1c23d16244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6627b7c3a24368" /><Relationship Type="http://schemas.openxmlformats.org/officeDocument/2006/relationships/notesSlide" Target="/ppt/notesSlides/notesSlide15.xml" Id="R3059a53de9794d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e05ec00d74840fd" /><Relationship Type="http://schemas.openxmlformats.org/officeDocument/2006/relationships/notesSlide" Target="/ppt/notesSlides/notesSlide16.xml" Id="R189cf787b0c549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468943bc62b4933" /><Relationship Type="http://schemas.openxmlformats.org/officeDocument/2006/relationships/notesSlide" Target="/ppt/notesSlides/notesSlide17.xml" Id="Rf0d215615e9842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a1a912b43f44c8" /><Relationship Type="http://schemas.openxmlformats.org/officeDocument/2006/relationships/notesSlide" Target="/ppt/notesSlides/notesSlide18.xml" Id="R6bdbfebf89464a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f3e629817e4dd1" /><Relationship Type="http://schemas.openxmlformats.org/officeDocument/2006/relationships/notesSlide" Target="/ppt/notesSlides/notesSlide19.xml" Id="Rdb2b2e48d30a48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8dccdf81a34958" /><Relationship Type="http://schemas.openxmlformats.org/officeDocument/2006/relationships/notesSlide" Target="/ppt/notesSlides/notesSlide20.xml" Id="Raaa7999668e34f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535ace410e42fa" /><Relationship Type="http://schemas.openxmlformats.org/officeDocument/2006/relationships/notesSlide" Target="/ppt/notesSlides/notesSlide21.xml" Id="R17ffad020f534b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34828584184606" /><Relationship Type="http://schemas.openxmlformats.org/officeDocument/2006/relationships/notesSlide" Target="/ppt/notesSlides/notesSlide22.xml" Id="R227707354b2045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7b816a53e7f429a" /><Relationship Type="http://schemas.openxmlformats.org/officeDocument/2006/relationships/notesSlide" Target="/ppt/notesSlides/notesSlide23.xml" Id="R96005e9f878449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4f67eb2c264977" /><Relationship Type="http://schemas.openxmlformats.org/officeDocument/2006/relationships/notesSlide" Target="/ppt/notesSlides/notesSlide24.xml" Id="Rcbb1b5fdcde84e10" /></Relationships>
</file>

<file path=ppt/slides/slide1.xml><?xml version="1.0" encoding="utf-8"?>
<p:sld xmlns:p="http://schemas.openxmlformats.org/presentationml/2006/main">
  <p:cSld>
    <p:bg>
      <p:bgPr>
        <a:solidFill xmlns:a="http://schemas.openxmlformats.org/drawingml/2006/main">
          <a:srgbClr val="203D34"/>
        </a:solidFill>
      </p:bgPr>
    </p:bg>
    <p:spTree>
      <p:nvGrpSpPr>
        <p:cNvPr id="1" name=""/>
        <p:cNvGrpSpPr/>
        <p:nvPr/>
      </p:nvGrpSpPr>
      <p:grpSpPr>
        <a:xfrm xmlns:a="http://schemas.openxmlformats.org/drawingml/2006/main"/>
      </p:grpSpPr>
      <p:sp>
        <p:nvSpPr>
          <p:cNvPr id="5" name="IT3041 · INFORMATION RETRIEVAL AND WEB ANALYTICS">
            <a:extLst xmlns:a="http://schemas.openxmlformats.org/drawingml/2006/main">
              <a:ext uri="{FF2B5EF4-FFF2-40B4-BE49-F238E27FC236}">
                <a16:creationId xmlns:a16="http://schemas.microsoft.com/office/drawing/2014/main" id="{604FB267-890F-4985-A7E1-D9C9F4CBF3E4}"/>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C8DBBE"/>
                </a:solidFill>
                <a:latin typeface="Helvetica Neue"/>
                <a:ea typeface="Helvetica Neue"/>
                <a:cs typeface="Helvetica Neue"/>
              </a:defRPr>
            </a:pPr>
            <a:r>
              <a:rPr sz="1275" b="1">
                <a:solidFill>
                  <a:srgbClr val="C8DBBE"/>
                </a:solidFill>
                <a:latin typeface="Helvetica Neue"/>
                <a:ea typeface="Helvetica Neue"/>
                <a:cs typeface="Helvetica Neue"/>
              </a:rPr>
              <a:t>IT3041 · INFORMATION RETRIEVAL AND WEB ANALYTICS</a:t>
            </a:r>
          </a:p>
        </p:txBody>
      </p:sp>
      <p:sp>
        <p:nvSpPr>
          <p:cNvPr id="2" name="SkillScout AI">
            <a:extLst xmlns:a="http://schemas.openxmlformats.org/drawingml/2006/main">
              <a:ext uri="{FF2B5EF4-FFF2-40B4-BE49-F238E27FC236}">
                <a16:creationId xmlns:a16="http://schemas.microsoft.com/office/drawing/2014/main" id="{20F40162-FBF4-49BF-A867-51E63725C29D}"/>
              </a:ext>
            </a:extLst>
          </p:cNvPr>
          <p:cNvSpPr>
            <a:spLocks xmlns:a="http://schemas.openxmlformats.org/drawingml/2006/main" noGrp="1"/>
          </p:cNvSpPr>
          <p:nvPr/>
        </p:nvSpPr>
        <p:spPr>
          <a:xfrm xmlns:a="http://schemas.openxmlformats.org/drawingml/2006/main">
            <a:off x="609600" y="1257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F7F6F0"/>
                </a:solidFill>
                <a:latin typeface="Helvetica Neue"/>
                <a:ea typeface="Helvetica Neue"/>
                <a:cs typeface="Helvetica Neue"/>
              </a:defRPr>
            </a:pPr>
            <a:r>
              <a:rPr sz="5850" b="1">
                <a:solidFill>
                  <a:srgbClr val="F7F6F0"/>
                </a:solidFill>
                <a:latin typeface="Helvetica Neue"/>
                <a:ea typeface="Helvetica Neue"/>
                <a:cs typeface="Helvetica Neue"/>
              </a:rPr>
              <a:t>SkillScout AI</a:t>
            </a:r>
          </a:p>
        </p:txBody>
      </p:sp>
      <p:sp>
        <p:nvSpPr>
          <p:cNvPr id="3" name="A system for recommending employee training">
            <a:extLst xmlns:a="http://schemas.openxmlformats.org/drawingml/2006/main">
              <a:ext uri="{FF2B5EF4-FFF2-40B4-BE49-F238E27FC236}">
                <a16:creationId xmlns:a16="http://schemas.microsoft.com/office/drawing/2014/main" id="{71EAF1A9-2E4E-46C5-B68E-911A63ACD8C1}"/>
              </a:ext>
            </a:extLst>
          </p:cNvPr>
          <p:cNvSpPr>
            <a:spLocks xmlns:a="http://schemas.openxmlformats.org/drawingml/2006/main" noGrp="1"/>
          </p:cNvSpPr>
          <p:nvPr/>
        </p:nvSpPr>
        <p:spPr>
          <a:xfrm xmlns:a="http://schemas.openxmlformats.org/drawingml/2006/main">
            <a:off x="647700" y="248602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a:solidFill>
                  <a:srgbClr val="DCE9D4"/>
                </a:solidFill>
                <a:latin typeface="Helvetica Neue"/>
                <a:ea typeface="Helvetica Neue"/>
                <a:cs typeface="Helvetica Neue"/>
              </a:defRPr>
            </a:pPr>
            <a:r>
              <a:rPr sz="2625">
                <a:solidFill>
                  <a:srgbClr val="DCE9D4"/>
                </a:solidFill>
                <a:latin typeface="Helvetica Neue"/>
                <a:ea typeface="Helvetica Neue"/>
                <a:cs typeface="Helvetica Neue"/>
              </a:rPr>
              <a:t>A system for recommending employee training</a:t>
            </a:r>
          </a:p>
        </p:txBody>
      </p:sp>
      <p:sp>
        <p:nvSpPr>
          <p:cNvPr id="4" name="Group project viva&#10;&#10;Chelaka Wijesekara — IT23542006&#10;Nadun We">
            <a:extLst xmlns:a="http://schemas.openxmlformats.org/drawingml/2006/main">
              <a:ext uri="{FF2B5EF4-FFF2-40B4-BE49-F238E27FC236}">
                <a16:creationId xmlns:a16="http://schemas.microsoft.com/office/drawing/2014/main" id="{029844D0-DB02-40E7-ABB0-AE3D63AE3104}"/>
              </a:ext>
            </a:extLst>
          </p:cNvPr>
          <p:cNvSpPr>
            <a:spLocks xmlns:a="http://schemas.openxmlformats.org/drawingml/2006/main" noGrp="1"/>
          </p:cNvSpPr>
          <p:nvPr/>
        </p:nvSpPr>
        <p:spPr>
          <a:xfrm xmlns:a="http://schemas.openxmlformats.org/drawingml/2006/main">
            <a:off x="647700" y="3476625"/>
            <a:ext cx="104775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Group project viva</a:t>
            </a:r>
          </a:p>
          <a:p xmlns:a="http://schemas.openxmlformats.org/drawingml/2006/main">
            <a:r>
              <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Chelaka Wijesekara — IT23542006</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Nadun Weerakkody — IT23607200</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Dinadi Jayathilake — IT23608504</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Sanali Sudugodage — IT22557742</a:t>
            </a:r>
          </a:p>
        </p:txBody>
      </p:sp>
    </p:spTree>
    <p:extLst>
      <p:ext uri="{BB962C8B-B14F-4D97-AF65-F5344CB8AC3E}">
        <p14:creationId xmlns:p14="http://schemas.microsoft.com/office/powerpoint/2010/main" val="1485368989"/>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9DBA6554-A4CA-4EDE-AD1A-DC4E577A1E33}"/>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he problem and our objective">
            <a:extLst xmlns:a="http://schemas.openxmlformats.org/drawingml/2006/main">
              <a:ext uri="{FF2B5EF4-FFF2-40B4-BE49-F238E27FC236}">
                <a16:creationId xmlns:a16="http://schemas.microsoft.com/office/drawing/2014/main" id="{1D43F9B5-008B-498A-B5E3-3A4AC29FEFFE}"/>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problem and our objective</a:t>
            </a:r>
          </a:p>
        </p:txBody>
      </p:sp>
      <p:sp>
        <p:nvSpPr>
          <p:cNvPr id="3" name="The problem">
            <a:extLst xmlns:a="http://schemas.openxmlformats.org/drawingml/2006/main">
              <a:ext uri="{FF2B5EF4-FFF2-40B4-BE49-F238E27FC236}">
                <a16:creationId xmlns:a16="http://schemas.microsoft.com/office/drawing/2014/main" id="{701998FE-4D79-467B-8643-139777810635}"/>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problem</a:t>
            </a:r>
          </a:p>
        </p:txBody>
      </p:sp>
      <p:sp>
        <p:nvSpPr>
          <p:cNvPr id="4" name="Employees have many courses to choose from. They must work o">
            <a:extLst xmlns:a="http://schemas.openxmlformats.org/drawingml/2006/main">
              <a:ext uri="{FF2B5EF4-FFF2-40B4-BE49-F238E27FC236}">
                <a16:creationId xmlns:a16="http://schemas.microsoft.com/office/drawing/2014/main" id="{591C8B9C-7AC2-4384-BA11-08B3907B53A9}"/>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Employees have many courses to choose from. They must work out which courses fit their skills, career goal, time and budget.</a:t>
            </a:r>
          </a:p>
        </p:txBody>
      </p:sp>
      <p:sp>
        <p:nvSpPr>
          <p:cNvPr id="5" name="Our objective">
            <a:extLst xmlns:a="http://schemas.openxmlformats.org/drawingml/2006/main">
              <a:ext uri="{FF2B5EF4-FFF2-40B4-BE49-F238E27FC236}">
                <a16:creationId xmlns:a16="http://schemas.microsoft.com/office/drawing/2014/main" id="{D96749BB-B684-459F-8168-4087D46B1D32}"/>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Our objective</a:t>
            </a:r>
          </a:p>
        </p:txBody>
      </p:sp>
      <p:sp>
        <p:nvSpPr>
          <p:cNvPr id="6" name="Use an employee profile to identify learning needs, find sui">
            <a:extLst xmlns:a="http://schemas.openxmlformats.org/drawingml/2006/main">
              <a:ext uri="{FF2B5EF4-FFF2-40B4-BE49-F238E27FC236}">
                <a16:creationId xmlns:a16="http://schemas.microsoft.com/office/drawing/2014/main" id="{28AC99ED-0B8D-4362-AEC5-CE8C1BE74690}"/>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an employee profile to identify learning needs, find suitable courses and explain why each course is recommended.</a:t>
            </a:r>
          </a:p>
        </p:txBody>
      </p:sp>
      <p:sp>
        <p:nvSpPr>
          <p:cNvPr id="7" name="Personalization means choosing results for a particular pers">
            <a:extLst xmlns:a="http://schemas.openxmlformats.org/drawingml/2006/main">
              <a:ext uri="{FF2B5EF4-FFF2-40B4-BE49-F238E27FC236}">
                <a16:creationId xmlns:a16="http://schemas.microsoft.com/office/drawing/2014/main" id="{3FCE8074-E68D-4C24-A819-74ACDC6F929B}"/>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Personalization means choosing results for a particular person, using their own needs.</a:t>
            </a:r>
          </a:p>
        </p:txBody>
      </p:sp>
      <p:sp>
        <p:nvSpPr>
          <p:cNvPr id="8" name="02">
            <a:extLst xmlns:a="http://schemas.openxmlformats.org/drawingml/2006/main">
              <a:ext uri="{FF2B5EF4-FFF2-40B4-BE49-F238E27FC236}">
                <a16:creationId xmlns:a16="http://schemas.microsoft.com/office/drawing/2014/main" id="{D896D990-8C67-404E-A730-B84FE331F498}"/>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02</a:t>
            </a:r>
          </a:p>
        </p:txBody>
      </p:sp>
    </p:spTree>
    <p:extLst>
      <p:ext uri="{BB962C8B-B14F-4D97-AF65-F5344CB8AC3E}">
        <p14:creationId xmlns:p14="http://schemas.microsoft.com/office/powerpoint/2010/main" val="1177911808"/>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E48F714E-03AA-4438-B0F2-8145881ADE9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at the system takes in and gives back">
            <a:extLst xmlns:a="http://schemas.openxmlformats.org/drawingml/2006/main">
              <a:ext uri="{FF2B5EF4-FFF2-40B4-BE49-F238E27FC236}">
                <a16:creationId xmlns:a16="http://schemas.microsoft.com/office/drawing/2014/main" id="{724B48A2-2D82-4AA1-9305-6FE564D46715}"/>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What the system takes in and gives back</a:t>
            </a:r>
          </a:p>
        </p:txBody>
      </p:sp>
      <p:sp>
        <p:nvSpPr>
          <p:cNvPr id="3" name="Input: information the system receives">
            <a:extLst xmlns:a="http://schemas.openxmlformats.org/drawingml/2006/main">
              <a:ext uri="{FF2B5EF4-FFF2-40B4-BE49-F238E27FC236}">
                <a16:creationId xmlns:a16="http://schemas.microsoft.com/office/drawing/2014/main" id="{ABA81767-E17C-4AF0-B943-DB65E1F9CF55}"/>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Input: information the system receives</a:t>
            </a:r>
          </a:p>
        </p:txBody>
      </p:sp>
      <p:sp>
        <p:nvSpPr>
          <p:cNvPr id="4" name="Employee role, skills, experience, qualifications, learning ">
            <a:extLst xmlns:a="http://schemas.openxmlformats.org/drawingml/2006/main">
              <a:ext uri="{FF2B5EF4-FFF2-40B4-BE49-F238E27FC236}">
                <a16:creationId xmlns:a16="http://schemas.microsoft.com/office/drawing/2014/main" id="{202CD780-9964-4B8E-8E80-67D96AFAC26B}"/>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 role, skills, experience, qualifications, learning history and career goal.</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Saved course details and learning posts.</a:t>
            </a:r>
          </a:p>
        </p:txBody>
      </p:sp>
      <p:sp>
        <p:nvSpPr>
          <p:cNvPr id="5" name="Output: information the system produces">
            <a:extLst xmlns:a="http://schemas.openxmlformats.org/drawingml/2006/main">
              <a:ext uri="{FF2B5EF4-FFF2-40B4-BE49-F238E27FC236}">
                <a16:creationId xmlns:a16="http://schemas.microsoft.com/office/drawing/2014/main" id="{50BF70BA-FB97-4C39-9192-F7D35FBB16DB}"/>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Output: information the system produces</a:t>
            </a:r>
          </a:p>
        </p:txBody>
      </p:sp>
      <p:sp>
        <p:nvSpPr>
          <p:cNvPr id="6" name="Missing skills, recommended courses, reasons, scores and eli">
            <a:extLst xmlns:a="http://schemas.openxmlformats.org/drawingml/2006/main">
              <a:ext uri="{FF2B5EF4-FFF2-40B4-BE49-F238E27FC236}">
                <a16:creationId xmlns:a16="http://schemas.microsoft.com/office/drawing/2014/main" id="{BDFBA554-2363-4AEB-9DEC-D93679F19F82}"/>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Missing skills, recommended courses, reasons, scores and eligible notifications.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employee decides what to study.</a:t>
            </a:r>
          </a:p>
        </p:txBody>
      </p:sp>
      <p:sp>
        <p:nvSpPr>
          <p:cNvPr id="7" name="The prototype uses 32 sample course records and 42 synthetic">
            <a:extLst xmlns:a="http://schemas.openxmlformats.org/drawingml/2006/main">
              <a:ext uri="{FF2B5EF4-FFF2-40B4-BE49-F238E27FC236}">
                <a16:creationId xmlns:a16="http://schemas.microsoft.com/office/drawing/2014/main" id="{5508D611-6EAF-4AE4-8785-137782BDDB9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prototype uses 32 sample course records and 42 synthetic posts. Synthetic means made for testing.</a:t>
            </a:r>
          </a:p>
        </p:txBody>
      </p:sp>
      <p:sp>
        <p:nvSpPr>
          <p:cNvPr id="8" name="03">
            <a:extLst xmlns:a="http://schemas.openxmlformats.org/drawingml/2006/main">
              <a:ext uri="{FF2B5EF4-FFF2-40B4-BE49-F238E27FC236}">
                <a16:creationId xmlns:a16="http://schemas.microsoft.com/office/drawing/2014/main" id="{17FB4E15-E570-484B-958D-72CBFEF61F9B}"/>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03</a:t>
            </a:r>
          </a:p>
        </p:txBody>
      </p:sp>
    </p:spTree>
    <p:extLst>
      <p:ext uri="{BB962C8B-B14F-4D97-AF65-F5344CB8AC3E}">
        <p14:creationId xmlns:p14="http://schemas.microsoft.com/office/powerpoint/2010/main" val="779529569"/>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14B0E183-ED7C-4AA0-8E46-9802630680F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 simple example">
            <a:extLst xmlns:a="http://schemas.openxmlformats.org/drawingml/2006/main">
              <a:ext uri="{FF2B5EF4-FFF2-40B4-BE49-F238E27FC236}">
                <a16:creationId xmlns:a16="http://schemas.microsoft.com/office/drawing/2014/main" id="{8CF03DF0-3826-42FB-80F2-9BF02E993AC6}"/>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 simple example</a:t>
            </a:r>
          </a:p>
        </p:txBody>
      </p:sp>
      <p:sp>
        <p:nvSpPr>
          <p:cNvPr id="3" name="Employee profile">
            <a:extLst xmlns:a="http://schemas.openxmlformats.org/drawingml/2006/main">
              <a:ext uri="{FF2B5EF4-FFF2-40B4-BE49-F238E27FC236}">
                <a16:creationId xmlns:a16="http://schemas.microsoft.com/office/drawing/2014/main" id="{F034FD0A-8A02-42B0-9E4C-5214B5685442}"/>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Employee profile</a:t>
            </a:r>
          </a:p>
        </p:txBody>
      </p:sp>
      <p:sp>
        <p:nvSpPr>
          <p:cNvPr id="4" name="Current role: Data Analyst&#10;Known skills: SQL, Excel, Power B">
            <a:extLst xmlns:a="http://schemas.openxmlformats.org/drawingml/2006/main">
              <a:ext uri="{FF2B5EF4-FFF2-40B4-BE49-F238E27FC236}">
                <a16:creationId xmlns:a16="http://schemas.microsoft.com/office/drawing/2014/main" id="{2D00495F-5C26-4248-9120-1BDBCAE18E06}"/>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Current role: Data Analyst</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Known skills: SQL, Excel, Power BI</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Career goal: Data Scientist</a:t>
            </a:r>
          </a:p>
        </p:txBody>
      </p:sp>
      <p:sp>
        <p:nvSpPr>
          <p:cNvPr id="5" name="Skills to learn">
            <a:extLst xmlns:a="http://schemas.openxmlformats.org/drawingml/2006/main">
              <a:ext uri="{FF2B5EF4-FFF2-40B4-BE49-F238E27FC236}">
                <a16:creationId xmlns:a16="http://schemas.microsoft.com/office/drawing/2014/main" id="{A8634AD2-772B-449E-82B1-F272BF7A40E9}"/>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Skills to learn</a:t>
            </a:r>
          </a:p>
        </p:txBody>
      </p:sp>
      <p:sp>
        <p:nvSpPr>
          <p:cNvPr id="6" name="Python, Statistics, Machine Learning, Pandas and Data Visual">
            <a:extLst xmlns:a="http://schemas.openxmlformats.org/drawingml/2006/main">
              <a:ext uri="{FF2B5EF4-FFF2-40B4-BE49-F238E27FC236}">
                <a16:creationId xmlns:a16="http://schemas.microsoft.com/office/drawing/2014/main" id="{CF790272-0672-406C-B10C-C503D8DC75B6}"/>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Python, Statistics, Machine Learning, Pandas and Data Visualization.</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system uses these gaps to search for courses.</a:t>
            </a:r>
          </a:p>
        </p:txBody>
      </p:sp>
      <p:sp>
        <p:nvSpPr>
          <p:cNvPr id="7" name="A skill gap is a skill needed for the target role that is mi">
            <a:extLst xmlns:a="http://schemas.openxmlformats.org/drawingml/2006/main">
              <a:ext uri="{FF2B5EF4-FFF2-40B4-BE49-F238E27FC236}">
                <a16:creationId xmlns:a16="http://schemas.microsoft.com/office/drawing/2014/main" id="{2A4DAF0D-128B-478D-A48C-5582D03C74FC}"/>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skill gap is a skill needed for the target role that is missing from the employee’s recorded skills.</a:t>
            </a:r>
          </a:p>
        </p:txBody>
      </p:sp>
      <p:sp>
        <p:nvSpPr>
          <p:cNvPr id="8" name="04">
            <a:extLst xmlns:a="http://schemas.openxmlformats.org/drawingml/2006/main">
              <a:ext uri="{FF2B5EF4-FFF2-40B4-BE49-F238E27FC236}">
                <a16:creationId xmlns:a16="http://schemas.microsoft.com/office/drawing/2014/main" id="{ED5769B3-E390-4F7A-90B9-5BAF118D175E}"/>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04</a:t>
            </a:r>
          </a:p>
        </p:txBody>
      </p:sp>
    </p:spTree>
    <p:extLst>
      <p:ext uri="{BB962C8B-B14F-4D97-AF65-F5344CB8AC3E}">
        <p14:creationId xmlns:p14="http://schemas.microsoft.com/office/powerpoint/2010/main" val="1736513054"/>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793BBBB0-2B32-49D6-A1E1-0E39C54CDADA}"/>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he main parts of the system">
            <a:extLst xmlns:a="http://schemas.openxmlformats.org/drawingml/2006/main">
              <a:ext uri="{FF2B5EF4-FFF2-40B4-BE49-F238E27FC236}">
                <a16:creationId xmlns:a16="http://schemas.microsoft.com/office/drawing/2014/main" id="{F299243C-DD4A-4C54-B9AF-579962E05891}"/>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main parts of the system</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Part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it does</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Frontend · React and TypeScript</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screens the employee sees and uses.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Backend gateway · FastAPI</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Receives requests and controls the four-agent workflow.</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Four agent services · Python</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Analyse needs, find trends, retrieve courses and rank them.</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Database · SQLite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Saves accounts, profiles, courses and activity in a local file.</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Local model · Ollama</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Helps with limited choices when the model is available.</a:t>
                      </a:r>
                    </a:p>
                  </a:txBody>
                  <a:tcPr marL="91440" marR="91440" marT="45720" marB="45720" anchor="ctr">
                    <a:solidFill>
                      <a:srgbClr val="F7F6F0"/>
                    </a:solidFill>
                  </a:tcPr>
                </a:tc>
              </a:tr>
            </a:tbl>
          </a:graphicData>
        </a:graphic>
      </p:graphicFrame>
      <p:sp>
        <p:nvSpPr>
          <p:cNvPr id="4" name="Frontend = visible interface. Backend = processing behind it">
            <a:extLst xmlns:a="http://schemas.openxmlformats.org/drawingml/2006/main">
              <a:ext uri="{FF2B5EF4-FFF2-40B4-BE49-F238E27FC236}">
                <a16:creationId xmlns:a16="http://schemas.microsoft.com/office/drawing/2014/main" id="{B3B66471-2A9A-4C66-868E-898FF73B3007}"/>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Frontend = visible interface. Backend = processing behind it. A service is a running program with a specific job.</a:t>
            </a:r>
          </a:p>
        </p:txBody>
      </p:sp>
      <p:sp>
        <p:nvSpPr>
          <p:cNvPr id="5" name="05">
            <a:extLst xmlns:a="http://schemas.openxmlformats.org/drawingml/2006/main">
              <a:ext uri="{FF2B5EF4-FFF2-40B4-BE49-F238E27FC236}">
                <a16:creationId xmlns:a16="http://schemas.microsoft.com/office/drawing/2014/main" id="{050A3D56-F6D5-491F-8DBB-C23865447B2D}"/>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05</a:t>
            </a:r>
          </a:p>
        </p:txBody>
      </p:sp>
    </p:spTree>
    <p:extLst>
      <p:ext uri="{BB962C8B-B14F-4D97-AF65-F5344CB8AC3E}">
        <p14:creationId xmlns:p14="http://schemas.microsoft.com/office/powerpoint/2010/main" val="328432052"/>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C35544EC-C2CF-4D3A-B7AA-0106717919A0}"/>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How the four agents work together">
            <a:extLst xmlns:a="http://schemas.openxmlformats.org/drawingml/2006/main">
              <a:ext uri="{FF2B5EF4-FFF2-40B4-BE49-F238E27FC236}">
                <a16:creationId xmlns:a16="http://schemas.microsoft.com/office/drawing/2014/main" id="{732671E4-D902-44CE-98ED-2D7804BC7353}"/>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the four agents work together</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904875"/>
                <a:gridCol w="3905250"/>
                <a:gridCol w="6162675"/>
              </a:tblGrid>
              <a:tr h="670560">
                <a:tc>
                  <a:txBody>
                    <a:bodyPr lIns="133350" tIns="85725" rIns="133350" bIns="85725">
                      <a:noAutofit/>
                    </a:bodyPr>
                    <a:lstStyle/>
                    <a:p>
                      <a:r>
                        <a:rPr sz="1725" b="1">
                          <a:solidFill>
                            <a:srgbClr val="F7F6F0"/>
                          </a:solidFill>
                          <a:latin typeface="Helvetica Neue"/>
                          <a:ea typeface="Helvetica Neue"/>
                          <a:cs typeface="Helvetica Neue"/>
                        </a:rPr>
                        <a:t>Step</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Agent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Result passed back to the gateway</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1</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Profile &amp; Training Needs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Skills the employee needs to learn.</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2</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Learning Trend Discovery</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Skills mentioned in learning posts, with evidence.</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3</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Training Opportunity Retrieval</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Courses that match those needs.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4</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Recommendation &amp; Notification</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Ranked courses, scores, reasons and priorities.</a:t>
                      </a:r>
                    </a:p>
                  </a:txBody>
                  <a:tcPr marL="91440" marR="91440" marT="45720" marB="45720" anchor="ctr">
                    <a:solidFill>
                      <a:srgbClr val="ECF0E8"/>
                    </a:solidFill>
                  </a:tcPr>
                </a:tc>
              </a:tr>
            </a:tbl>
          </a:graphicData>
        </a:graphic>
      </p:graphicFrame>
      <p:sp>
        <p:nvSpPr>
          <p:cNvPr id="4" name="An agent is a software component with a specific task. Here,">
            <a:extLst xmlns:a="http://schemas.openxmlformats.org/drawingml/2006/main">
              <a:ext uri="{FF2B5EF4-FFF2-40B4-BE49-F238E27FC236}">
                <a16:creationId xmlns:a16="http://schemas.microsoft.com/office/drawing/2014/main" id="{55F1A8F2-FAE5-4233-801B-10F0825F61A8}"/>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An agent is a software component with a specific task. Here, the gateway coordinates four specialized services.</a:t>
            </a:r>
          </a:p>
        </p:txBody>
      </p:sp>
      <p:sp>
        <p:nvSpPr>
          <p:cNvPr id="5" name="06">
            <a:extLst xmlns:a="http://schemas.openxmlformats.org/drawingml/2006/main">
              <a:ext uri="{FF2B5EF4-FFF2-40B4-BE49-F238E27FC236}">
                <a16:creationId xmlns:a16="http://schemas.microsoft.com/office/drawing/2014/main" id="{51EAB150-BC25-4A97-BE38-A6AD0E790517}"/>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06</a:t>
            </a:r>
          </a:p>
        </p:txBody>
      </p:sp>
    </p:spTree>
    <p:extLst>
      <p:ext uri="{BB962C8B-B14F-4D97-AF65-F5344CB8AC3E}">
        <p14:creationId xmlns:p14="http://schemas.microsoft.com/office/powerpoint/2010/main" val="1383970892"/>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AC1063DE-6689-44FD-971E-77930E50B98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1: identify learning needs">
            <a:extLst xmlns:a="http://schemas.openxmlformats.org/drawingml/2006/main">
              <a:ext uri="{FF2B5EF4-FFF2-40B4-BE49-F238E27FC236}">
                <a16:creationId xmlns:a16="http://schemas.microsoft.com/office/drawing/2014/main" id="{84AAB6A8-FFB1-4B3F-8DE7-83BF0CCB977A}"/>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1: identify learning needs</a:t>
            </a:r>
          </a:p>
        </p:txBody>
      </p:sp>
      <p:sp>
        <p:nvSpPr>
          <p:cNvPr id="3" name="01">
            <a:extLst xmlns:a="http://schemas.openxmlformats.org/drawingml/2006/main">
              <a:ext uri="{FF2B5EF4-FFF2-40B4-BE49-F238E27FC236}">
                <a16:creationId xmlns:a16="http://schemas.microsoft.com/office/drawing/2014/main" id="{8A199693-5670-497A-90A8-DC555759B555}"/>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Read the employee’s skills, role and career goal.">
            <a:extLst xmlns:a="http://schemas.openxmlformats.org/drawingml/2006/main">
              <a:ext uri="{FF2B5EF4-FFF2-40B4-BE49-F238E27FC236}">
                <a16:creationId xmlns:a16="http://schemas.microsoft.com/office/drawing/2014/main" id="{E3A95E37-9699-4439-924E-1DB1527529B1}"/>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Read the employee’s skills, role and career goal.</a:t>
            </a:r>
          </a:p>
        </p:txBody>
      </p:sp>
      <p:sp>
        <p:nvSpPr>
          <p:cNvPr id="5" name="02">
            <a:extLst xmlns:a="http://schemas.openxmlformats.org/drawingml/2006/main">
              <a:ext uri="{FF2B5EF4-FFF2-40B4-BE49-F238E27FC236}">
                <a16:creationId xmlns:a16="http://schemas.microsoft.com/office/drawing/2014/main" id="{A8F296E6-2ED6-4A21-ACF4-EFF7DC08BA06}"/>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Find target skills using the project’s role-to-skill list.">
            <a:extLst xmlns:a="http://schemas.openxmlformats.org/drawingml/2006/main">
              <a:ext uri="{FF2B5EF4-FFF2-40B4-BE49-F238E27FC236}">
                <a16:creationId xmlns:a16="http://schemas.microsoft.com/office/drawing/2014/main" id="{F3DE9648-0F08-4E74-8E70-7D4FC14B9970}"/>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Find target skills using the project’s role-to-skill list.</a:t>
            </a:r>
          </a:p>
        </p:txBody>
      </p:sp>
      <p:sp>
        <p:nvSpPr>
          <p:cNvPr id="7" name="03">
            <a:extLst xmlns:a="http://schemas.openxmlformats.org/drawingml/2006/main">
              <a:ext uri="{FF2B5EF4-FFF2-40B4-BE49-F238E27FC236}">
                <a16:creationId xmlns:a16="http://schemas.microsoft.com/office/drawing/2014/main" id="{972CF722-66EA-4516-8BAE-D80F65EB8ED7}"/>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Remove skills already recorded to get the skill gaps.">
            <a:extLst xmlns:a="http://schemas.openxmlformats.org/drawingml/2006/main">
              <a:ext uri="{FF2B5EF4-FFF2-40B4-BE49-F238E27FC236}">
                <a16:creationId xmlns:a16="http://schemas.microsoft.com/office/drawing/2014/main" id="{543D59A3-EFCA-4501-8F80-5CCA5A59B342}"/>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Remove skills already recorded to get the skill gaps.</a:t>
            </a:r>
          </a:p>
        </p:txBody>
      </p:sp>
      <p:sp>
        <p:nvSpPr>
          <p:cNvPr id="9" name="04">
            <a:extLst xmlns:a="http://schemas.openxmlformats.org/drawingml/2006/main">
              <a:ext uri="{FF2B5EF4-FFF2-40B4-BE49-F238E27FC236}">
                <a16:creationId xmlns:a16="http://schemas.microsoft.com/office/drawing/2014/main" id="{65741DA1-A680-4AA9-9986-3FEBDF1B55A4}"/>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Prioritize the gaps and place foundation skills first.">
            <a:extLst xmlns:a="http://schemas.openxmlformats.org/drawingml/2006/main">
              <a:ext uri="{FF2B5EF4-FFF2-40B4-BE49-F238E27FC236}">
                <a16:creationId xmlns:a16="http://schemas.microsoft.com/office/drawing/2014/main" id="{7E682762-4EC3-45AA-BF2D-632FF3AE1A25}"/>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Prioritize the gaps and place foundation skills first.</a:t>
            </a:r>
          </a:p>
        </p:txBody>
      </p:sp>
      <p:sp>
        <p:nvSpPr>
          <p:cNvPr id="11" name="A prerequisite is something to learn first. For example, lea">
            <a:extLst xmlns:a="http://schemas.openxmlformats.org/drawingml/2006/main">
              <a:ext uri="{FF2B5EF4-FFF2-40B4-BE49-F238E27FC236}">
                <a16:creationId xmlns:a16="http://schemas.microsoft.com/office/drawing/2014/main" id="{E148ABC0-5122-480C-BE9A-0AB68AA401B5}"/>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prerequisite is something to learn first. For example, learn Python before Pandas.</a:t>
            </a:r>
          </a:p>
        </p:txBody>
      </p:sp>
      <p:sp>
        <p:nvSpPr>
          <p:cNvPr id="12" name="07">
            <a:extLst xmlns:a="http://schemas.openxmlformats.org/drawingml/2006/main">
              <a:ext uri="{FF2B5EF4-FFF2-40B4-BE49-F238E27FC236}">
                <a16:creationId xmlns:a16="http://schemas.microsoft.com/office/drawing/2014/main" id="{3BE17D22-4AA8-4CF3-95A0-25CA37DEB4BB}"/>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07</a:t>
            </a:r>
          </a:p>
        </p:txBody>
      </p:sp>
    </p:spTree>
    <p:extLst>
      <p:ext uri="{BB962C8B-B14F-4D97-AF65-F5344CB8AC3E}">
        <p14:creationId xmlns:p14="http://schemas.microsoft.com/office/powerpoint/2010/main" val="1454742318"/>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CD5A0861-BE1B-4FF1-B980-BCF88C882CFE}"/>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y skills are written in the code">
            <a:extLst xmlns:a="http://schemas.openxmlformats.org/drawingml/2006/main">
              <a:ext uri="{FF2B5EF4-FFF2-40B4-BE49-F238E27FC236}">
                <a16:creationId xmlns:a16="http://schemas.microsoft.com/office/drawing/2014/main" id="{DA4851B4-B416-4A9F-9B48-D63827BFEC2C}"/>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Why skills are written in the code</a:t>
            </a:r>
          </a:p>
        </p:txBody>
      </p:sp>
      <p:sp>
        <p:nvSpPr>
          <p:cNvPr id="3" name="The skill dictionary">
            <a:extLst xmlns:a="http://schemas.openxmlformats.org/drawingml/2006/main">
              <a:ext uri="{FF2B5EF4-FFF2-40B4-BE49-F238E27FC236}">
                <a16:creationId xmlns:a16="http://schemas.microsoft.com/office/drawing/2014/main" id="{5C98748D-6B4B-403D-A46C-40718AE1B3FC}"/>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skill dictionary</a:t>
            </a:r>
          </a:p>
        </p:txBody>
      </p:sp>
      <p:sp>
        <p:nvSpPr>
          <p:cNvPr id="4" name="taxonomy.py stores known skill names, alternative names, rol">
            <a:extLst xmlns:a="http://schemas.openxmlformats.org/drawingml/2006/main">
              <a:ext uri="{FF2B5EF4-FFF2-40B4-BE49-F238E27FC236}">
                <a16:creationId xmlns:a16="http://schemas.microsoft.com/office/drawing/2014/main" id="{3E728552-0A32-42EB-AF33-81179BD4A6CD}"/>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taxonomy.py stores known skill names, alternative names, role requirements and prerequisites.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For example, “k8s” and “Kubernetes” refer to the same skill.</a:t>
            </a:r>
          </a:p>
        </p:txBody>
      </p:sp>
      <p:sp>
        <p:nvSpPr>
          <p:cNvPr id="5" name="Why we use it">
            <a:extLst xmlns:a="http://schemas.openxmlformats.org/drawingml/2006/main">
              <a:ext uri="{FF2B5EF4-FFF2-40B4-BE49-F238E27FC236}">
                <a16:creationId xmlns:a16="http://schemas.microsoft.com/office/drawing/2014/main" id="{5847EFFA-1FEE-41B8-A572-DC67EBB4349C}"/>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Why we use it</a:t>
            </a:r>
          </a:p>
        </p:txBody>
      </p:sp>
      <p:sp>
        <p:nvSpPr>
          <p:cNvPr id="6" name="It makes matching consistent and keeps the prototype’s choic">
            <a:extLst xmlns:a="http://schemas.openxmlformats.org/drawingml/2006/main">
              <a:ext uri="{FF2B5EF4-FFF2-40B4-BE49-F238E27FC236}">
                <a16:creationId xmlns:a16="http://schemas.microsoft.com/office/drawing/2014/main" id="{DC709A23-AA19-44FE-B2F0-2754D2BF9F8D}"/>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makes matching consistent and keeps the prototype’s choices explainable.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has limited coverage and must be updated for new roles and skills.</a:t>
            </a:r>
          </a:p>
        </p:txBody>
      </p:sp>
      <p:sp>
        <p:nvSpPr>
          <p:cNvPr id="7" name="A taxonomy is an organized list of terms and their relations">
            <a:extLst xmlns:a="http://schemas.openxmlformats.org/drawingml/2006/main">
              <a:ext uri="{FF2B5EF4-FFF2-40B4-BE49-F238E27FC236}">
                <a16:creationId xmlns:a16="http://schemas.microsoft.com/office/drawing/2014/main" id="{11CE1B5A-F9C1-4507-BFB7-837928CF93E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taxonomy is an organized list of terms and their relationships. An alias is another name for the same thing.</a:t>
            </a:r>
          </a:p>
        </p:txBody>
      </p:sp>
      <p:sp>
        <p:nvSpPr>
          <p:cNvPr id="8" name="08">
            <a:extLst xmlns:a="http://schemas.openxmlformats.org/drawingml/2006/main">
              <a:ext uri="{FF2B5EF4-FFF2-40B4-BE49-F238E27FC236}">
                <a16:creationId xmlns:a16="http://schemas.microsoft.com/office/drawing/2014/main" id="{C8632AD6-0878-4C13-88D0-419B1B0A6B04}"/>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08</a:t>
            </a:r>
          </a:p>
        </p:txBody>
      </p:sp>
    </p:spTree>
    <p:extLst>
      <p:ext uri="{BB962C8B-B14F-4D97-AF65-F5344CB8AC3E}">
        <p14:creationId xmlns:p14="http://schemas.microsoft.com/office/powerpoint/2010/main" val="718840155"/>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33A0A45C-FB9E-422C-BA04-D77DCD703098}"/>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2: find learning trends">
            <a:extLst xmlns:a="http://schemas.openxmlformats.org/drawingml/2006/main">
              <a:ext uri="{FF2B5EF4-FFF2-40B4-BE49-F238E27FC236}">
                <a16:creationId xmlns:a16="http://schemas.microsoft.com/office/drawing/2014/main" id="{B9AA8D9B-72F4-43E4-B846-84E532D154B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2: find learning trends</a:t>
            </a:r>
          </a:p>
        </p:txBody>
      </p:sp>
      <p:sp>
        <p:nvSpPr>
          <p:cNvPr id="3" name="Read the learning posts">
            <a:extLst xmlns:a="http://schemas.openxmlformats.org/drawingml/2006/main">
              <a:ext uri="{FF2B5EF4-FFF2-40B4-BE49-F238E27FC236}">
                <a16:creationId xmlns:a16="http://schemas.microsoft.com/office/drawing/2014/main" id="{2DA744F3-90C9-4F58-A13D-CCF8AF8E5F67}"/>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Read the learning posts</a:t>
            </a:r>
          </a:p>
        </p:txBody>
      </p:sp>
      <p:sp>
        <p:nvSpPr>
          <p:cNvPr id="4" name="The agent searches text for known skills, certifications and">
            <a:extLst xmlns:a="http://schemas.openxmlformats.org/drawingml/2006/main">
              <a:ext uri="{FF2B5EF4-FFF2-40B4-BE49-F238E27FC236}">
                <a16:creationId xmlns:a16="http://schemas.microsoft.com/office/drawing/2014/main" id="{BA3425F0-110E-4F47-A8FE-36C09BECF5C5}"/>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agent searches text for known skills, certifications and course names.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Example: “I completed Azure AI Fundamentals.”</a:t>
            </a:r>
          </a:p>
        </p:txBody>
      </p:sp>
      <p:sp>
        <p:nvSpPr>
          <p:cNvPr id="5" name="Compare recent mentions">
            <a:extLst xmlns:a="http://schemas.openxmlformats.org/drawingml/2006/main">
              <a:ext uri="{FF2B5EF4-FFF2-40B4-BE49-F238E27FC236}">
                <a16:creationId xmlns:a16="http://schemas.microsoft.com/office/drawing/2014/main" id="{06CD5191-138B-4B56-B098-9902B3C54211}"/>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Compare recent mentions</a:t>
            </a:r>
          </a:p>
        </p:txBody>
      </p:sp>
      <p:sp>
        <p:nvSpPr>
          <p:cNvPr id="6" name="It counts skill mentions in the latest 14 days and the previ">
            <a:extLst xmlns:a="http://schemas.openxmlformats.org/drawingml/2006/main">
              <a:ext uri="{FF2B5EF4-FFF2-40B4-BE49-F238E27FC236}">
                <a16:creationId xmlns:a16="http://schemas.microsoft.com/office/drawing/2014/main" id="{D3A879BB-A112-4E41-A82A-C9ACBE30406B}"/>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counts skill mentions in the latest 14 days and the previous 14 days.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returns trends and example posts as evidence.</a:t>
            </a:r>
          </a:p>
        </p:txBody>
      </p:sp>
      <p:sp>
        <p:nvSpPr>
          <p:cNvPr id="7" name="NLP means Natural Language Processing: using code to extract">
            <a:extLst xmlns:a="http://schemas.openxmlformats.org/drawingml/2006/main">
              <a:ext uri="{FF2B5EF4-FFF2-40B4-BE49-F238E27FC236}">
                <a16:creationId xmlns:a16="http://schemas.microsoft.com/office/drawing/2014/main" id="{9816F7E6-6A44-48AD-A311-4600B584FB7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NLP means Natural Language Processing: using code to extract useful information from human language.</a:t>
            </a:r>
          </a:p>
        </p:txBody>
      </p:sp>
      <p:sp>
        <p:nvSpPr>
          <p:cNvPr id="8" name="09">
            <a:extLst xmlns:a="http://schemas.openxmlformats.org/drawingml/2006/main">
              <a:ext uri="{FF2B5EF4-FFF2-40B4-BE49-F238E27FC236}">
                <a16:creationId xmlns:a16="http://schemas.microsoft.com/office/drawing/2014/main" id="{9E5EC3F0-8628-491D-AACE-2BFA6844A612}"/>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09</a:t>
            </a:r>
          </a:p>
        </p:txBody>
      </p:sp>
    </p:spTree>
    <p:extLst>
      <p:ext uri="{BB962C8B-B14F-4D97-AF65-F5344CB8AC3E}">
        <p14:creationId xmlns:p14="http://schemas.microsoft.com/office/powerpoint/2010/main" val="668793271"/>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F020C734-A5C5-4248-A83D-94961DDA10B3}"/>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3: find relevant courses">
            <a:extLst xmlns:a="http://schemas.openxmlformats.org/drawingml/2006/main">
              <a:ext uri="{FF2B5EF4-FFF2-40B4-BE49-F238E27FC236}">
                <a16:creationId xmlns:a16="http://schemas.microsoft.com/office/drawing/2014/main" id="{176DAE79-4E8B-4E25-B1BC-BC506CCC8E03}"/>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3: find relevant courses</a:t>
            </a:r>
          </a:p>
        </p:txBody>
      </p:sp>
      <p:sp>
        <p:nvSpPr>
          <p:cNvPr id="3" name="What it searches">
            <a:extLst xmlns:a="http://schemas.openxmlformats.org/drawingml/2006/main">
              <a:ext uri="{FF2B5EF4-FFF2-40B4-BE49-F238E27FC236}">
                <a16:creationId xmlns:a16="http://schemas.microsoft.com/office/drawing/2014/main" id="{415BBC2F-68D7-43A8-A960-5341E9CE5444}"/>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What it searches</a:t>
            </a:r>
          </a:p>
        </p:txBody>
      </p:sp>
      <p:sp>
        <p:nvSpPr>
          <p:cNvPr id="4" name="It builds a search request from the employee’s needs and rel">
            <a:extLst xmlns:a="http://schemas.openxmlformats.org/drawingml/2006/main">
              <a:ext uri="{FF2B5EF4-FFF2-40B4-BE49-F238E27FC236}">
                <a16:creationId xmlns:a16="http://schemas.microsoft.com/office/drawing/2014/main" id="{8E064CA0-6E9F-4D05-91FE-8A6528AF46A8}"/>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builds a search request from the employee’s needs and relevant trends.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searches the stored course catalogue and returns candidate courses.</a:t>
            </a:r>
          </a:p>
        </p:txBody>
      </p:sp>
      <p:sp>
        <p:nvSpPr>
          <p:cNvPr id="5" name="How it matches text">
            <a:extLst xmlns:a="http://schemas.openxmlformats.org/drawingml/2006/main">
              <a:ext uri="{FF2B5EF4-FFF2-40B4-BE49-F238E27FC236}">
                <a16:creationId xmlns:a16="http://schemas.microsoft.com/office/drawing/2014/main" id="{900511F6-B421-48DC-912D-728E7B87848A}"/>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How it matches text</a:t>
            </a:r>
          </a:p>
        </p:txBody>
      </p:sp>
      <p:sp>
        <p:nvSpPr>
          <p:cNvPr id="6" name="BM25 gives scores for matching search words.&#10;&#10;TF-IDF gives w">
            <a:extLst xmlns:a="http://schemas.openxmlformats.org/drawingml/2006/main">
              <a:ext uri="{FF2B5EF4-FFF2-40B4-BE49-F238E27FC236}">
                <a16:creationId xmlns:a16="http://schemas.microsoft.com/office/drawing/2014/main" id="{FE87440C-724F-48B4-AFB2-B43788B2DE6F}"/>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BM25 gives scores for matching search words.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TF-IDF gives weight to useful words; cosine similarity compares the resulting word-weight patterns.</a:t>
            </a:r>
          </a:p>
        </p:txBody>
      </p:sp>
      <p:sp>
        <p:nvSpPr>
          <p:cNvPr id="7" name="Information retrieval (IR) means finding relevant items in a">
            <a:extLst xmlns:a="http://schemas.openxmlformats.org/drawingml/2006/main">
              <a:ext uri="{FF2B5EF4-FFF2-40B4-BE49-F238E27FC236}">
                <a16:creationId xmlns:a16="http://schemas.microsoft.com/office/drawing/2014/main" id="{1D01B115-D3D7-4462-A47C-C5BA4D7A4F52}"/>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Information retrieval (IR) means finding relevant items in a collection. Hybrid search combines two methods.</a:t>
            </a:r>
          </a:p>
        </p:txBody>
      </p:sp>
      <p:sp>
        <p:nvSpPr>
          <p:cNvPr id="8" name="10">
            <a:extLst xmlns:a="http://schemas.openxmlformats.org/drawingml/2006/main">
              <a:ext uri="{FF2B5EF4-FFF2-40B4-BE49-F238E27FC236}">
                <a16:creationId xmlns:a16="http://schemas.microsoft.com/office/drawing/2014/main" id="{36739FDF-8407-4F77-8C94-4090B56DA291}"/>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10</a:t>
            </a:r>
          </a:p>
        </p:txBody>
      </p:sp>
    </p:spTree>
    <p:extLst>
      <p:ext uri="{BB962C8B-B14F-4D97-AF65-F5344CB8AC3E}">
        <p14:creationId xmlns:p14="http://schemas.microsoft.com/office/powerpoint/2010/main" val="1853572294"/>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B18429B0-E9D4-4C70-9BFE-9FBDF6AF4C1A}"/>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4: rank and explain the courses">
            <a:extLst xmlns:a="http://schemas.openxmlformats.org/drawingml/2006/main">
              <a:ext uri="{FF2B5EF4-FFF2-40B4-BE49-F238E27FC236}">
                <a16:creationId xmlns:a16="http://schemas.microsoft.com/office/drawing/2014/main" id="{0898D042-6C8C-4C2F-A189-DE20CDD601B5}"/>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4: rank and explain the courses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143250"/>
                <a:gridCol w="1524000"/>
                <a:gridCol w="6305550"/>
              </a:tblGrid>
              <a:tr h="596900">
                <a:tc>
                  <a:txBody>
                    <a:bodyPr lIns="133350" tIns="85725" rIns="133350" bIns="85725">
                      <a:noAutofit/>
                    </a:bodyPr>
                    <a:lstStyle/>
                    <a:p>
                      <a:r>
                        <a:rPr sz="1725" b="1">
                          <a:solidFill>
                            <a:srgbClr val="F7F6F0"/>
                          </a:solidFill>
                          <a:latin typeface="Helvetica Neue"/>
                          <a:ea typeface="Helvetica Neue"/>
                          <a:cs typeface="Helvetica Neue"/>
                        </a:rPr>
                        <a:t>Factor</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Weight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Simple meaning</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Profile relevance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25%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Fits the employee’s level, budget and time.</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Career alignment</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25%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Matches skills needed for the career goal.</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Skill-gap relevance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30%</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Teaches skills missing from the profile.</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Trend relevance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15%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Matches trends found in the learning posts.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Discount value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Reflects the saving in the stored course record.</a:t>
                      </a:r>
                    </a:p>
                  </a:txBody>
                  <a:tcPr marL="91440" marR="91440" marT="45720" marB="45720" anchor="ctr">
                    <a:solidFill>
                      <a:srgbClr val="F7F6F0"/>
                    </a:solidFill>
                  </a:tcPr>
                </a:tc>
              </a:tr>
            </a:tbl>
          </a:graphicData>
        </a:graphic>
      </p:graphicFrame>
      <p:sp>
        <p:nvSpPr>
          <p:cNvPr id="4" name="A weighted score gives more importance to some factors than ">
            <a:extLst xmlns:a="http://schemas.openxmlformats.org/drawingml/2006/main">
              <a:ext uri="{FF2B5EF4-FFF2-40B4-BE49-F238E27FC236}">
                <a16:creationId xmlns:a16="http://schemas.microsoft.com/office/drawing/2014/main" id="{366CFB7A-1879-47DF-BF7E-C52F64EECE7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weighted score gives more importance to some factors than others. The score is not a probability of success.</a:t>
            </a:r>
          </a:p>
        </p:txBody>
      </p:sp>
      <p:sp>
        <p:nvSpPr>
          <p:cNvPr id="5" name="11">
            <a:extLst xmlns:a="http://schemas.openxmlformats.org/drawingml/2006/main">
              <a:ext uri="{FF2B5EF4-FFF2-40B4-BE49-F238E27FC236}">
                <a16:creationId xmlns:a16="http://schemas.microsoft.com/office/drawing/2014/main" id="{BD07F813-95BE-4654-9663-EDC31BC66C8A}"/>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11</a:t>
            </a:r>
          </a:p>
        </p:txBody>
      </p:sp>
    </p:spTree>
    <p:extLst>
      <p:ext uri="{BB962C8B-B14F-4D97-AF65-F5344CB8AC3E}">
        <p14:creationId xmlns:p14="http://schemas.microsoft.com/office/powerpoint/2010/main" val="1325766668"/>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55117044-0E41-4F2B-8D18-928C9B681694}"/>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ere Ollama is used">
            <a:extLst xmlns:a="http://schemas.openxmlformats.org/drawingml/2006/main">
              <a:ext uri="{FF2B5EF4-FFF2-40B4-BE49-F238E27FC236}">
                <a16:creationId xmlns:a16="http://schemas.microsoft.com/office/drawing/2014/main" id="{661D36ED-1BCD-44DC-878D-233061ADD33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Where Ollama is used</a:t>
            </a:r>
          </a:p>
        </p:txBody>
      </p:sp>
      <p:sp>
        <p:nvSpPr>
          <p:cNvPr id="3" name="The model’s job">
            <a:extLst xmlns:a="http://schemas.openxmlformats.org/drawingml/2006/main">
              <a:ext uri="{FF2B5EF4-FFF2-40B4-BE49-F238E27FC236}">
                <a16:creationId xmlns:a16="http://schemas.microsoft.com/office/drawing/2014/main" id="{A623AF9E-7E98-494F-8B25-D152AB1963DF}"/>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model’s job</a:t>
            </a:r>
          </a:p>
        </p:txBody>
      </p:sp>
      <p:sp>
        <p:nvSpPr>
          <p:cNvPr id="4" name="Suggest an order for existing skill gaps.&#10;&#10;Help Ask Scout ch">
            <a:extLst xmlns:a="http://schemas.openxmlformats.org/drawingml/2006/main">
              <a:ext uri="{FF2B5EF4-FFF2-40B4-BE49-F238E27FC236}">
                <a16:creationId xmlns:a16="http://schemas.microsoft.com/office/drawing/2014/main" id="{C2025F69-39BC-4AC9-8CB3-ED6C857F3A46}"/>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Suggest an order for existing skill gaps.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Help Ask Scout choose from course records that were already retrieved.</a:t>
            </a:r>
          </a:p>
        </p:txBody>
      </p:sp>
      <p:sp>
        <p:nvSpPr>
          <p:cNvPr id="5" name="The code checks the answer">
            <a:extLst xmlns:a="http://schemas.openxmlformats.org/drawingml/2006/main">
              <a:ext uri="{FF2B5EF4-FFF2-40B4-BE49-F238E27FC236}">
                <a16:creationId xmlns:a16="http://schemas.microsoft.com/office/drawing/2014/main" id="{899C313B-AF5F-49BA-B661-063C62D6C505}"/>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code checks the answer</a:t>
            </a:r>
          </a:p>
        </p:txBody>
      </p:sp>
      <p:sp>
        <p:nvSpPr>
          <p:cNvPr id="6" name="Only allowed skills and course IDs are accepted.&#10;&#10;If the mod">
            <a:extLst xmlns:a="http://schemas.openxmlformats.org/drawingml/2006/main">
              <a:ext uri="{FF2B5EF4-FFF2-40B4-BE49-F238E27FC236}">
                <a16:creationId xmlns:a16="http://schemas.microsoft.com/office/drawing/2014/main" id="{80C06C61-4C59-4096-992D-731E55C0CB6B}"/>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Only allowed skills and course IDs are accepted.</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If the model is unavailable or gives an invalid answer, the system uses its rule-based fallback.</a:t>
            </a:r>
          </a:p>
        </p:txBody>
      </p:sp>
      <p:sp>
        <p:nvSpPr>
          <p:cNvPr id="7" name="An LLM is a large language model that processes text. Ollama">
            <a:extLst xmlns:a="http://schemas.openxmlformats.org/drawingml/2006/main">
              <a:ext uri="{FF2B5EF4-FFF2-40B4-BE49-F238E27FC236}">
                <a16:creationId xmlns:a16="http://schemas.microsoft.com/office/drawing/2014/main" id="{A831310A-3E73-46F6-A1A6-6B56B001057C}"/>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An LLM is a large language model that processes text. Ollama runs the model locally. Fallback means a backup method.</a:t>
            </a:r>
          </a:p>
        </p:txBody>
      </p:sp>
      <p:sp>
        <p:nvSpPr>
          <p:cNvPr id="8" name="12">
            <a:extLst xmlns:a="http://schemas.openxmlformats.org/drawingml/2006/main">
              <a:ext uri="{FF2B5EF4-FFF2-40B4-BE49-F238E27FC236}">
                <a16:creationId xmlns:a16="http://schemas.microsoft.com/office/drawing/2014/main" id="{CD98F5A5-5546-434D-8EE4-8791CB5371A4}"/>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12</a:t>
            </a:r>
          </a:p>
        </p:txBody>
      </p:sp>
    </p:spTree>
    <p:extLst>
      <p:ext uri="{BB962C8B-B14F-4D97-AF65-F5344CB8AC3E}">
        <p14:creationId xmlns:p14="http://schemas.microsoft.com/office/powerpoint/2010/main" val="2030034354"/>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F1F1C455-39DD-4012-88A6-E66C5AA48E31}"/>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sk Scout and hallucination control">
            <a:extLst xmlns:a="http://schemas.openxmlformats.org/drawingml/2006/main">
              <a:ext uri="{FF2B5EF4-FFF2-40B4-BE49-F238E27FC236}">
                <a16:creationId xmlns:a16="http://schemas.microsoft.com/office/drawing/2014/main" id="{5F12EC3B-D6DC-4CB6-AD51-9B2B2A6A637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Ask Scout and hallucination control</a:t>
            </a:r>
          </a:p>
        </p:txBody>
      </p:sp>
      <p:sp>
        <p:nvSpPr>
          <p:cNvPr id="3" name="01">
            <a:extLst xmlns:a="http://schemas.openxmlformats.org/drawingml/2006/main">
              <a:ext uri="{FF2B5EF4-FFF2-40B4-BE49-F238E27FC236}">
                <a16:creationId xmlns:a16="http://schemas.microsoft.com/office/drawing/2014/main" id="{1174359A-30FE-4BEF-8B65-92DEC67D18F8}"/>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The employee asks a question about learning.">
            <a:extLst xmlns:a="http://schemas.openxmlformats.org/drawingml/2006/main">
              <a:ext uri="{FF2B5EF4-FFF2-40B4-BE49-F238E27FC236}">
                <a16:creationId xmlns:a16="http://schemas.microsoft.com/office/drawing/2014/main" id="{29979B92-E1E0-4DB6-8F64-3E7436017103}"/>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employee asks a question about learning.</a:t>
            </a:r>
          </a:p>
        </p:txBody>
      </p:sp>
      <p:sp>
        <p:nvSpPr>
          <p:cNvPr id="5" name="02">
            <a:extLst xmlns:a="http://schemas.openxmlformats.org/drawingml/2006/main">
              <a:ext uri="{FF2B5EF4-FFF2-40B4-BE49-F238E27FC236}">
                <a16:creationId xmlns:a16="http://schemas.microsoft.com/office/drawing/2014/main" id="{3E26B684-3BB4-4078-910C-1F5A794F993F}"/>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The system retrieves matching course records.">
            <a:extLst xmlns:a="http://schemas.openxmlformats.org/drawingml/2006/main">
              <a:ext uri="{FF2B5EF4-FFF2-40B4-BE49-F238E27FC236}">
                <a16:creationId xmlns:a16="http://schemas.microsoft.com/office/drawing/2014/main" id="{E41C11C9-E7B2-4909-836F-1984AE5B06EB}"/>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system retrieves matching course records.</a:t>
            </a:r>
          </a:p>
        </p:txBody>
      </p:sp>
      <p:sp>
        <p:nvSpPr>
          <p:cNvPr id="7" name="03">
            <a:extLst xmlns:a="http://schemas.openxmlformats.org/drawingml/2006/main">
              <a:ext uri="{FF2B5EF4-FFF2-40B4-BE49-F238E27FC236}">
                <a16:creationId xmlns:a16="http://schemas.microsoft.com/office/drawing/2014/main" id="{CFA8B6BD-35C3-49F7-8E10-B379948D03F5}"/>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The optional model selects from allowed course IDs.">
            <a:extLst xmlns:a="http://schemas.openxmlformats.org/drawingml/2006/main">
              <a:ext uri="{FF2B5EF4-FFF2-40B4-BE49-F238E27FC236}">
                <a16:creationId xmlns:a16="http://schemas.microsoft.com/office/drawing/2014/main" id="{EBB81F49-DC7B-4FCF-8C88-A5C31E4BC4B6}"/>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optional model selects from allowed course IDs.</a:t>
            </a:r>
          </a:p>
        </p:txBody>
      </p:sp>
      <p:sp>
        <p:nvSpPr>
          <p:cNvPr id="9" name="04">
            <a:extLst xmlns:a="http://schemas.openxmlformats.org/drawingml/2006/main">
              <a:ext uri="{FF2B5EF4-FFF2-40B4-BE49-F238E27FC236}">
                <a16:creationId xmlns:a16="http://schemas.microsoft.com/office/drawing/2014/main" id="{82088372-3C0F-4193-B3AF-2349D1919E48}"/>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Code builds the answer using validated course facts.">
            <a:extLst xmlns:a="http://schemas.openxmlformats.org/drawingml/2006/main">
              <a:ext uri="{FF2B5EF4-FFF2-40B4-BE49-F238E27FC236}">
                <a16:creationId xmlns:a16="http://schemas.microsoft.com/office/drawing/2014/main" id="{D2FBE791-FD15-4DB4-AF64-A5B3FE04DF09}"/>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Code builds the answer using validated course facts.</a:t>
            </a:r>
          </a:p>
        </p:txBody>
      </p:sp>
      <p:sp>
        <p:nvSpPr>
          <p:cNvPr id="11" name="Hallucination = an AI answer that sounds convincing but cont">
            <a:extLst xmlns:a="http://schemas.openxmlformats.org/drawingml/2006/main">
              <a:ext uri="{FF2B5EF4-FFF2-40B4-BE49-F238E27FC236}">
                <a16:creationId xmlns:a16="http://schemas.microsoft.com/office/drawing/2014/main" id="{2E14FA05-6B72-455D-9731-2E6880CDFAE3}"/>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Hallucination = an AI answer that sounds convincing but contains unsupported information. RAG = retrieve information first to support an AI answer.</a:t>
            </a:r>
          </a:p>
        </p:txBody>
      </p:sp>
      <p:sp>
        <p:nvSpPr>
          <p:cNvPr id="12" name="13">
            <a:extLst xmlns:a="http://schemas.openxmlformats.org/drawingml/2006/main">
              <a:ext uri="{FF2B5EF4-FFF2-40B4-BE49-F238E27FC236}">
                <a16:creationId xmlns:a16="http://schemas.microsoft.com/office/drawing/2014/main" id="{F1AE6F68-A2E6-4970-A081-BB4FA0CF25AE}"/>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13</a:t>
            </a:r>
          </a:p>
        </p:txBody>
      </p:sp>
    </p:spTree>
    <p:extLst>
      <p:ext uri="{BB962C8B-B14F-4D97-AF65-F5344CB8AC3E}">
        <p14:creationId xmlns:p14="http://schemas.microsoft.com/office/powerpoint/2010/main" val="1492411101"/>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2FA28EF5-70A1-4119-9122-46B0924889EC}"/>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How information is stored and protected">
            <a:extLst xmlns:a="http://schemas.openxmlformats.org/drawingml/2006/main">
              <a:ext uri="{FF2B5EF4-FFF2-40B4-BE49-F238E27FC236}">
                <a16:creationId xmlns:a16="http://schemas.microsoft.com/office/drawing/2014/main" id="{1B0B5FD4-01D6-4825-997B-5C1E96599D4B}"/>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information is stored and protected</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3524250"/>
                <a:gridCol w="7448550"/>
              </a:tblGrid>
              <a:tr h="670560">
                <a:tc>
                  <a:txBody>
                    <a:bodyPr lIns="133350" tIns="85725" rIns="133350" bIns="85725">
                      <a:noAutofit/>
                    </a:bodyPr>
                    <a:lstStyle/>
                    <a:p>
                      <a:r>
                        <a:rPr sz="1725" b="1">
                          <a:solidFill>
                            <a:srgbClr val="F7F6F0"/>
                          </a:solidFill>
                          <a:latin typeface="Helvetica Neue"/>
                          <a:ea typeface="Helvetica Neue"/>
                          <a:cs typeface="Helvetica Neue"/>
                        </a:rPr>
                        <a:t>Area</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Implementation</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Stored data</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SQLite file: data/skillscout.db. Accounts, profiles and application records.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Authentication: who are you?</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Password verification and a login session. Passwords are stored as salted hashes.</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Authorization: what may you do?</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Employee, HR and administrator permissions, with checks on the server.</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Request protection</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Session cookies, request checks, input limits and a shared key for agent calls.</a:t>
                      </a:r>
                    </a:p>
                  </a:txBody>
                  <a:tcPr marL="91440" marR="91440" marT="45720" marB="45720" anchor="ctr">
                    <a:solidFill>
                      <a:srgbClr val="ECF0E8"/>
                    </a:solidFill>
                  </a:tcPr>
                </a:tc>
              </a:tr>
            </a:tbl>
          </a:graphicData>
        </a:graphic>
      </p:graphicFrame>
      <p:sp>
        <p:nvSpPr>
          <p:cNvPr id="4" name="A database stores structured data. A password hash is a one-">
            <a:extLst xmlns:a="http://schemas.openxmlformats.org/drawingml/2006/main">
              <a:ext uri="{FF2B5EF4-FFF2-40B4-BE49-F238E27FC236}">
                <a16:creationId xmlns:a16="http://schemas.microsoft.com/office/drawing/2014/main" id="{F3773C2D-E690-4C9A-AA8A-60C8AD8D81D7}"/>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database stores structured data. A password hash is a one-way check value, so the original password is not stored.</a:t>
            </a:r>
          </a:p>
        </p:txBody>
      </p:sp>
      <p:sp>
        <p:nvSpPr>
          <p:cNvPr id="5" name="14">
            <a:extLst xmlns:a="http://schemas.openxmlformats.org/drawingml/2006/main">
              <a:ext uri="{FF2B5EF4-FFF2-40B4-BE49-F238E27FC236}">
                <a16:creationId xmlns:a16="http://schemas.microsoft.com/office/drawing/2014/main" id="{BEE5C7B4-5932-4B31-91F2-3CBB00DB488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14</a:t>
            </a:r>
          </a:p>
        </p:txBody>
      </p:sp>
    </p:spTree>
    <p:extLst>
      <p:ext uri="{BB962C8B-B14F-4D97-AF65-F5344CB8AC3E}">
        <p14:creationId xmlns:p14="http://schemas.microsoft.com/office/powerpoint/2010/main" val="1202016718"/>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EAED35FD-72BE-494F-BA42-A99C937C2CD7}"/>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Responsible use of employee data">
            <a:extLst xmlns:a="http://schemas.openxmlformats.org/drawingml/2006/main">
              <a:ext uri="{FF2B5EF4-FFF2-40B4-BE49-F238E27FC236}">
                <a16:creationId xmlns:a16="http://schemas.microsoft.com/office/drawing/2014/main" id="{DA86CAA5-D383-4AA1-853D-AF27FC738A5E}"/>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Responsible use of employee data</a:t>
            </a:r>
          </a:p>
        </p:txBody>
      </p:sp>
      <p:sp>
        <p:nvSpPr>
          <p:cNvPr id="3" name="Employee choice and privacy">
            <a:extLst xmlns:a="http://schemas.openxmlformats.org/drawingml/2006/main">
              <a:ext uri="{FF2B5EF4-FFF2-40B4-BE49-F238E27FC236}">
                <a16:creationId xmlns:a16="http://schemas.microsoft.com/office/drawing/2014/main" id="{5623E2A6-03DE-4287-8A71-07484B88A8DD}"/>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Employee choice and privacy</a:t>
            </a:r>
          </a:p>
        </p:txBody>
      </p:sp>
      <p:sp>
        <p:nvSpPr>
          <p:cNvPr id="4" name="The employee enables analysis through consent.&#10;&#10;They can edi">
            <a:extLst xmlns:a="http://schemas.openxmlformats.org/drawingml/2006/main">
              <a:ext uri="{FF2B5EF4-FFF2-40B4-BE49-F238E27FC236}">
                <a16:creationId xmlns:a16="http://schemas.microsoft.com/office/drawing/2014/main" id="{E4990F37-3C34-4CDF-BB74-EAA6621A8D58}"/>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employee enables analysis through consent.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They can edit or export their information and delete their account.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They choose whether to take a course.</a:t>
            </a:r>
          </a:p>
        </p:txBody>
      </p:sp>
      <p:sp>
        <p:nvSpPr>
          <p:cNvPr id="5" name="Fair and explainable recommendations">
            <a:extLst xmlns:a="http://schemas.openxmlformats.org/drawingml/2006/main">
              <a:ext uri="{FF2B5EF4-FFF2-40B4-BE49-F238E27FC236}">
                <a16:creationId xmlns:a16="http://schemas.microsoft.com/office/drawing/2014/main" id="{CC538BC2-29FB-4B99-B9E8-4CD0B92D5277}"/>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Fair and explainable recommendations</a:t>
            </a:r>
          </a:p>
        </p:txBody>
      </p:sp>
      <p:sp>
        <p:nvSpPr>
          <p:cNvPr id="6" name="Use professional skills and goals.&#10;&#10;Show the reason and scor">
            <a:extLst xmlns:a="http://schemas.openxmlformats.org/drawingml/2006/main">
              <a:ext uri="{FF2B5EF4-FFF2-40B4-BE49-F238E27FC236}">
                <a16:creationId xmlns:a16="http://schemas.microsoft.com/office/drawing/2014/main" id="{34B938C1-2876-424C-9588-27EA72EA42EF}"/>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professional skills and goals.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Show the reason and score factors.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Do not use results to decide hiring, promotions or dismissal.</a:t>
            </a:r>
          </a:p>
        </p:txBody>
      </p:sp>
      <p:sp>
        <p:nvSpPr>
          <p:cNvPr id="7" name="Consent means the person agrees to the stated use of their d">
            <a:extLst xmlns:a="http://schemas.openxmlformats.org/drawingml/2006/main">
              <a:ext uri="{FF2B5EF4-FFF2-40B4-BE49-F238E27FC236}">
                <a16:creationId xmlns:a16="http://schemas.microsoft.com/office/drawing/2014/main" id="{7E9874E7-9270-4972-A26B-EAE536E18971}"/>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Consent means the person agrees to the stated use of their data. Transparency means explaining how a result was produced.</a:t>
            </a:r>
          </a:p>
        </p:txBody>
      </p:sp>
      <p:sp>
        <p:nvSpPr>
          <p:cNvPr id="8" name="15">
            <a:extLst xmlns:a="http://schemas.openxmlformats.org/drawingml/2006/main">
              <a:ext uri="{FF2B5EF4-FFF2-40B4-BE49-F238E27FC236}">
                <a16:creationId xmlns:a16="http://schemas.microsoft.com/office/drawing/2014/main" id="{EEFDD2DB-169B-4EC5-A6CE-6B5BE9DC1471}"/>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15</a:t>
            </a:r>
          </a:p>
        </p:txBody>
      </p:sp>
    </p:spTree>
    <p:extLst>
      <p:ext uri="{BB962C8B-B14F-4D97-AF65-F5344CB8AC3E}">
        <p14:creationId xmlns:p14="http://schemas.microsoft.com/office/powerpoint/2010/main" val="1209990830"/>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F756C1B1-850F-4488-8817-ED5EE7834C1C}"/>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Live demonstration">
            <a:extLst xmlns:a="http://schemas.openxmlformats.org/drawingml/2006/main">
              <a:ext uri="{FF2B5EF4-FFF2-40B4-BE49-F238E27FC236}">
                <a16:creationId xmlns:a16="http://schemas.microsoft.com/office/drawing/2014/main" id="{5C15E6DA-18D4-4660-95C7-194245291B32}"/>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Live demonstration</a:t>
            </a:r>
          </a:p>
        </p:txBody>
      </p:sp>
      <p:sp>
        <p:nvSpPr>
          <p:cNvPr id="3" name="01">
            <a:extLst xmlns:a="http://schemas.openxmlformats.org/drawingml/2006/main">
              <a:ext uri="{FF2B5EF4-FFF2-40B4-BE49-F238E27FC236}">
                <a16:creationId xmlns:a16="http://schemas.microsoft.com/office/drawing/2014/main" id="{0D74B1CE-9E7E-4867-8E08-29C9195B285D}"/>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Sign in, open Profile &amp; settings, and enter the example prof">
            <a:extLst xmlns:a="http://schemas.openxmlformats.org/drawingml/2006/main">
              <a:ext uri="{FF2B5EF4-FFF2-40B4-BE49-F238E27FC236}">
                <a16:creationId xmlns:a16="http://schemas.microsoft.com/office/drawing/2014/main" id="{009E1A18-18A9-4616-B76A-4AB6E7CD099C}"/>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Sign in, open Profile &amp; settings, and enter the example profile.</a:t>
            </a:r>
          </a:p>
        </p:txBody>
      </p:sp>
      <p:sp>
        <p:nvSpPr>
          <p:cNvPr id="5" name="02">
            <a:extLst xmlns:a="http://schemas.openxmlformats.org/drawingml/2006/main">
              <a:ext uri="{FF2B5EF4-FFF2-40B4-BE49-F238E27FC236}">
                <a16:creationId xmlns:a16="http://schemas.microsoft.com/office/drawing/2014/main" id="{E0391141-CD13-44BF-BD2B-FCDF67044DB7}"/>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Enable learning analysis, save, and select Find opportunitie">
            <a:extLst xmlns:a="http://schemas.openxmlformats.org/drawingml/2006/main">
              <a:ext uri="{FF2B5EF4-FFF2-40B4-BE49-F238E27FC236}">
                <a16:creationId xmlns:a16="http://schemas.microsoft.com/office/drawing/2014/main" id="{9D6275A7-0364-49BF-8C4D-F91FE20D43C0}"/>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Enable learning analysis, save, and select Find opportunities.</a:t>
            </a:r>
          </a:p>
        </p:txBody>
      </p:sp>
      <p:sp>
        <p:nvSpPr>
          <p:cNvPr id="7" name="03">
            <a:extLst xmlns:a="http://schemas.openxmlformats.org/drawingml/2006/main">
              <a:ext uri="{FF2B5EF4-FFF2-40B4-BE49-F238E27FC236}">
                <a16:creationId xmlns:a16="http://schemas.microsoft.com/office/drawing/2014/main" id="{2F49DDD6-E4E0-4C36-BD2B-509B6B0C9467}"/>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Open Agent activity to show the four steps and their results">
            <a:extLst xmlns:a="http://schemas.openxmlformats.org/drawingml/2006/main">
              <a:ext uri="{FF2B5EF4-FFF2-40B4-BE49-F238E27FC236}">
                <a16:creationId xmlns:a16="http://schemas.microsoft.com/office/drawing/2014/main" id="{2E9F59A0-E2D7-4D24-B074-1AD1BAE8563C}"/>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Open Agent activity to show the four steps and their results.</a:t>
            </a:r>
          </a:p>
        </p:txBody>
      </p:sp>
      <p:sp>
        <p:nvSpPr>
          <p:cNvPr id="9" name="04">
            <a:extLst xmlns:a="http://schemas.openxmlformats.org/drawingml/2006/main">
              <a:ext uri="{FF2B5EF4-FFF2-40B4-BE49-F238E27FC236}">
                <a16:creationId xmlns:a16="http://schemas.microsoft.com/office/drawing/2014/main" id="{FE3708CA-9B4F-4184-A52C-84E52EEAF47B}"/>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Explain one recommendation, then save it to the learning pla">
            <a:extLst xmlns:a="http://schemas.openxmlformats.org/drawingml/2006/main">
              <a:ext uri="{FF2B5EF4-FFF2-40B4-BE49-F238E27FC236}">
                <a16:creationId xmlns:a16="http://schemas.microsoft.com/office/drawing/2014/main" id="{16D11A7D-5646-4051-8841-B994656A83D7}"/>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Explain one recommendation, then save it to the learning plan.</a:t>
            </a:r>
          </a:p>
        </p:txBody>
      </p:sp>
      <p:sp>
        <p:nvSpPr>
          <p:cNvPr id="11" name="Show the skill gap, the course’s reason and its score. Check">
            <a:extLst xmlns:a="http://schemas.openxmlformats.org/drawingml/2006/main">
              <a:ext uri="{FF2B5EF4-FFF2-40B4-BE49-F238E27FC236}">
                <a16:creationId xmlns:a16="http://schemas.microsoft.com/office/drawing/2014/main" id="{FF8DE7B8-6E50-4B82-84DD-49A68105AF60}"/>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Show the skill gap, the course’s reason and its score. Check Learning trends for the source evidence.</a:t>
            </a:r>
          </a:p>
        </p:txBody>
      </p:sp>
      <p:sp>
        <p:nvSpPr>
          <p:cNvPr id="12" name="16">
            <a:extLst xmlns:a="http://schemas.openxmlformats.org/drawingml/2006/main">
              <a:ext uri="{FF2B5EF4-FFF2-40B4-BE49-F238E27FC236}">
                <a16:creationId xmlns:a16="http://schemas.microsoft.com/office/drawing/2014/main" id="{25DF5732-1409-455D-A817-33345401C633}"/>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16</a:t>
            </a:r>
          </a:p>
        </p:txBody>
      </p:sp>
    </p:spTree>
    <p:extLst>
      <p:ext uri="{BB962C8B-B14F-4D97-AF65-F5344CB8AC3E}">
        <p14:creationId xmlns:p14="http://schemas.microsoft.com/office/powerpoint/2010/main" val="631478550"/>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4DD0B8B8-30EC-4D92-B035-B9681712F54D}"/>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esting and evaluation">
            <a:extLst xmlns:a="http://schemas.openxmlformats.org/drawingml/2006/main">
              <a:ext uri="{FF2B5EF4-FFF2-40B4-BE49-F238E27FC236}">
                <a16:creationId xmlns:a16="http://schemas.microsoft.com/office/drawing/2014/main" id="{9168570E-421B-4EA6-A45D-C76EC80405BB}"/>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Testing and evaluation</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3333750"/>
                <a:gridCol w="1809750"/>
                <a:gridCol w="5829300"/>
              </a:tblGrid>
              <a:tr h="670560">
                <a:tc>
                  <a:txBody>
                    <a:bodyPr lIns="133350" tIns="85725" rIns="133350" bIns="85725">
                      <a:noAutofit/>
                    </a:bodyPr>
                    <a:lstStyle/>
                    <a:p>
                      <a:r>
                        <a:rPr sz="1725" b="1">
                          <a:solidFill>
                            <a:srgbClr val="F7F6F0"/>
                          </a:solidFill>
                          <a:latin typeface="Helvetica Neue"/>
                          <a:ea typeface="Helvetica Neue"/>
                          <a:cs typeface="Helvetica Neue"/>
                        </a:rPr>
                        <a:t>Check</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Recorded result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it means</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Python automated tests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53 passed</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Checks on defined behaviours passed.</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Precision at 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0.657</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About 66% of the top five results were labelled relevant.</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Recall at 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0.833</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top five found about 83% of labelled relevant courses.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MRR</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1.000</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The first relevant result ranked first for every test query.</a:t>
                      </a:r>
                    </a:p>
                  </a:txBody>
                  <a:tcPr marL="91440" marR="91440" marT="45720" marB="45720" anchor="ctr">
                    <a:solidFill>
                      <a:srgbClr val="ECF0E8"/>
                    </a:solidFill>
                  </a:tcPr>
                </a:tc>
              </a:tr>
            </a:tbl>
          </a:graphicData>
        </a:graphic>
      </p:graphicFrame>
      <p:sp>
        <p:nvSpPr>
          <p:cNvPr id="4" name="These are development results from 7 labelled queries and 32">
            <a:extLst xmlns:a="http://schemas.openxmlformats.org/drawingml/2006/main">
              <a:ext uri="{FF2B5EF4-FFF2-40B4-BE49-F238E27FC236}">
                <a16:creationId xmlns:a16="http://schemas.microsoft.com/office/drawing/2014/main" id="{56B1D573-4EA4-4B93-916A-EE02C825C59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These are development results from 7 labelled queries and 32 courses. They do not mean the whole system is 100% accurate.</a:t>
            </a:r>
          </a:p>
        </p:txBody>
      </p:sp>
      <p:sp>
        <p:nvSpPr>
          <p:cNvPr id="5" name="17">
            <a:extLst xmlns:a="http://schemas.openxmlformats.org/drawingml/2006/main">
              <a:ext uri="{FF2B5EF4-FFF2-40B4-BE49-F238E27FC236}">
                <a16:creationId xmlns:a16="http://schemas.microsoft.com/office/drawing/2014/main" id="{97208E82-552C-41D0-8ABF-95560FEEC81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17</a:t>
            </a:r>
          </a:p>
        </p:txBody>
      </p:sp>
    </p:spTree>
    <p:extLst>
      <p:ext uri="{BB962C8B-B14F-4D97-AF65-F5344CB8AC3E}">
        <p14:creationId xmlns:p14="http://schemas.microsoft.com/office/powerpoint/2010/main" val="1859529177"/>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D70E5E41-B0F3-4A04-91B3-EE9052EB399D}"/>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Limitations and future improvements">
            <a:extLst xmlns:a="http://schemas.openxmlformats.org/drawingml/2006/main">
              <a:ext uri="{FF2B5EF4-FFF2-40B4-BE49-F238E27FC236}">
                <a16:creationId xmlns:a16="http://schemas.microsoft.com/office/drawing/2014/main" id="{2AA628CB-3661-48FF-A70C-BA1619666A9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Limitations and future improvements</a:t>
            </a:r>
          </a:p>
        </p:txBody>
      </p:sp>
      <p:sp>
        <p:nvSpPr>
          <p:cNvPr id="3" name="Current limits">
            <a:extLst xmlns:a="http://schemas.openxmlformats.org/drawingml/2006/main">
              <a:ext uri="{FF2B5EF4-FFF2-40B4-BE49-F238E27FC236}">
                <a16:creationId xmlns:a16="http://schemas.microsoft.com/office/drawing/2014/main" id="{1C14E2F6-A9B3-4777-BB06-8E9796F2A899}"/>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Current limits</a:t>
            </a:r>
          </a:p>
        </p:txBody>
      </p:sp>
      <p:sp>
        <p:nvSpPr>
          <p:cNvPr id="4" name="A small course catalogue and synthetic posts.&#10;&#10;Fixed role an">
            <a:extLst xmlns:a="http://schemas.openxmlformats.org/drawingml/2006/main">
              <a:ext uri="{FF2B5EF4-FFF2-40B4-BE49-F238E27FC236}">
                <a16:creationId xmlns:a16="http://schemas.microsoft.com/office/drawing/2014/main" id="{E68F9A8D-BF85-49FA-BF3B-DC4B0E84BE6E}"/>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 small course catalogue and synthetic posts.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Fixed role and skill coverage.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Sample prices and discounts.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No evidence yet of better learning outcomes.</a:t>
            </a:r>
          </a:p>
        </p:txBody>
      </p:sp>
      <p:sp>
        <p:nvSpPr>
          <p:cNvPr id="5" name="Possible improvements">
            <a:extLst xmlns:a="http://schemas.openxmlformats.org/drawingml/2006/main">
              <a:ext uri="{FF2B5EF4-FFF2-40B4-BE49-F238E27FC236}">
                <a16:creationId xmlns:a16="http://schemas.microsoft.com/office/drawing/2014/main" id="{A4B79D80-E16E-49AC-B876-AB387A08C89F}"/>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Possible improvements</a:t>
            </a:r>
          </a:p>
        </p:txBody>
      </p:sp>
      <p:sp>
        <p:nvSpPr>
          <p:cNvPr id="6" name="Use permitted, maintained data feeds.&#10;&#10;Review and expand the">
            <a:extLst xmlns:a="http://schemas.openxmlformats.org/drawingml/2006/main">
              <a:ext uri="{FF2B5EF4-FFF2-40B4-BE49-F238E27FC236}">
                <a16:creationId xmlns:a16="http://schemas.microsoft.com/office/drawing/2014/main" id="{85C25A52-076B-45A3-9B91-FC83F5E83B88}"/>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permitted, maintained data feeds.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Review and expand the skill dictionary.</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Evaluate with real employees.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Add production security and HR/LMS connections.</a:t>
            </a:r>
          </a:p>
        </p:txBody>
      </p:sp>
      <p:sp>
        <p:nvSpPr>
          <p:cNvPr id="7" name="LMS means Learning Management System: software used to manag">
            <a:extLst xmlns:a="http://schemas.openxmlformats.org/drawingml/2006/main">
              <a:ext uri="{FF2B5EF4-FFF2-40B4-BE49-F238E27FC236}">
                <a16:creationId xmlns:a16="http://schemas.microsoft.com/office/drawing/2014/main" id="{C77B1218-9AAF-4926-9326-5833D94FABCC}"/>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LMS means Learning Management System: software used to manage courses and training.</a:t>
            </a:r>
          </a:p>
        </p:txBody>
      </p:sp>
      <p:sp>
        <p:nvSpPr>
          <p:cNvPr id="8" name="18">
            <a:extLst xmlns:a="http://schemas.openxmlformats.org/drawingml/2006/main">
              <a:ext uri="{FF2B5EF4-FFF2-40B4-BE49-F238E27FC236}">
                <a16:creationId xmlns:a16="http://schemas.microsoft.com/office/drawing/2014/main" id="{5331F77A-58BC-4830-9D23-FB9CB7557CEB}"/>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18</a:t>
            </a:r>
          </a:p>
        </p:txBody>
      </p:sp>
    </p:spTree>
    <p:extLst>
      <p:ext uri="{BB962C8B-B14F-4D97-AF65-F5344CB8AC3E}">
        <p14:creationId xmlns:p14="http://schemas.microsoft.com/office/powerpoint/2010/main" val="1711274076"/>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0D2EA5F8-D093-4FEE-83F8-F35B278AE16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Possible organizational use">
            <a:extLst xmlns:a="http://schemas.openxmlformats.org/drawingml/2006/main">
              <a:ext uri="{FF2B5EF4-FFF2-40B4-BE49-F238E27FC236}">
                <a16:creationId xmlns:a16="http://schemas.microsoft.com/office/drawing/2014/main" id="{714A94A4-10C9-430E-B819-8EF92330AD8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Possible organizational use</a:t>
            </a:r>
          </a:p>
        </p:txBody>
      </p:sp>
      <p:sp>
        <p:nvSpPr>
          <p:cNvPr id="3" name="Who would use it?">
            <a:extLst xmlns:a="http://schemas.openxmlformats.org/drawingml/2006/main">
              <a:ext uri="{FF2B5EF4-FFF2-40B4-BE49-F238E27FC236}">
                <a16:creationId xmlns:a16="http://schemas.microsoft.com/office/drawing/2014/main" id="{E8EDB980-880F-4C5B-80A7-ADF91FA32B5E}"/>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Who would use it?</a:t>
            </a:r>
          </a:p>
        </p:txBody>
      </p:sp>
      <p:sp>
        <p:nvSpPr>
          <p:cNvPr id="4" name="Employees use the recommendations.&#10;&#10;An organization’s HR or ">
            <a:extLst xmlns:a="http://schemas.openxmlformats.org/drawingml/2006/main">
              <a:ext uri="{FF2B5EF4-FFF2-40B4-BE49-F238E27FC236}">
                <a16:creationId xmlns:a16="http://schemas.microsoft.com/office/drawing/2014/main" id="{F7C7639F-2929-4C78-851A-B74E937A24B4}"/>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Employees use the recommendations.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An organization’s HR or Learning &amp; Development team could pay for and manage the service.</a:t>
            </a:r>
          </a:p>
        </p:txBody>
      </p:sp>
      <p:sp>
        <p:nvSpPr>
          <p:cNvPr id="5" name="How it could be funded">
            <a:extLst xmlns:a="http://schemas.openxmlformats.org/drawingml/2006/main">
              <a:ext uri="{FF2B5EF4-FFF2-40B4-BE49-F238E27FC236}">
                <a16:creationId xmlns:a16="http://schemas.microsoft.com/office/drawing/2014/main" id="{962F33DC-CEFD-4456-893A-D54557BBEEF7}"/>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How it could be funded</a:t>
            </a:r>
          </a:p>
        </p:txBody>
      </p:sp>
      <p:sp>
        <p:nvSpPr>
          <p:cNvPr id="6" name="A proposed subscription per active employee.&#10;&#10;LKR 300–800 pe">
            <a:extLst xmlns:a="http://schemas.openxmlformats.org/drawingml/2006/main">
              <a:ext uri="{FF2B5EF4-FFF2-40B4-BE49-F238E27FC236}">
                <a16:creationId xmlns:a16="http://schemas.microsoft.com/office/drawing/2014/main" id="{EC1FCE1E-1664-41EF-A2BD-95B0E06C954C}"/>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 proposed subscription per active employee.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LKR 300–800 per month is a starting assumption, to be tested against costs and customer feedback.</a:t>
            </a:r>
          </a:p>
        </p:txBody>
      </p:sp>
      <p:sp>
        <p:nvSpPr>
          <p:cNvPr id="7" name="B2B SaaS means software supplied to other businesses as a se">
            <a:extLst xmlns:a="http://schemas.openxmlformats.org/drawingml/2006/main">
              <a:ext uri="{FF2B5EF4-FFF2-40B4-BE49-F238E27FC236}">
                <a16:creationId xmlns:a16="http://schemas.microsoft.com/office/drawing/2014/main" id="{14D2A6D2-750C-4B09-8D9E-CD00DE442F7F}"/>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B2B SaaS means software supplied to other businesses as a service. This is a proposal, not a validated business model.</a:t>
            </a:r>
          </a:p>
        </p:txBody>
      </p:sp>
      <p:sp>
        <p:nvSpPr>
          <p:cNvPr id="8" name="19">
            <a:extLst xmlns:a="http://schemas.openxmlformats.org/drawingml/2006/main">
              <a:ext uri="{FF2B5EF4-FFF2-40B4-BE49-F238E27FC236}">
                <a16:creationId xmlns:a16="http://schemas.microsoft.com/office/drawing/2014/main" id="{25FF05B3-57D4-4870-95EF-AFFD171B9D1B}"/>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19</a:t>
            </a:r>
          </a:p>
        </p:txBody>
      </p:sp>
    </p:spTree>
    <p:extLst>
      <p:ext uri="{BB962C8B-B14F-4D97-AF65-F5344CB8AC3E}">
        <p14:creationId xmlns:p14="http://schemas.microsoft.com/office/powerpoint/2010/main" val="2125874922"/>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6C3141AD-1154-4B74-A8DA-197F4B70CA4D}"/>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at we implemented">
            <a:extLst xmlns:a="http://schemas.openxmlformats.org/drawingml/2006/main">
              <a:ext uri="{FF2B5EF4-FFF2-40B4-BE49-F238E27FC236}">
                <a16:creationId xmlns:a16="http://schemas.microsoft.com/office/drawing/2014/main" id="{D8593871-AFE4-4CCA-B5E6-8E8F15056CF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What we implemented</a:t>
            </a:r>
          </a:p>
        </p:txBody>
      </p:sp>
      <p:sp>
        <p:nvSpPr>
          <p:cNvPr id="3" name="01">
            <a:extLst xmlns:a="http://schemas.openxmlformats.org/drawingml/2006/main">
              <a:ext uri="{FF2B5EF4-FFF2-40B4-BE49-F238E27FC236}">
                <a16:creationId xmlns:a16="http://schemas.microsoft.com/office/drawing/2014/main" id="{F0EFE87A-A529-47E0-B02B-42AE50E237E5}"/>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A local employee portal with profiles and a saved learning p">
            <a:extLst xmlns:a="http://schemas.openxmlformats.org/drawingml/2006/main">
              <a:ext uri="{FF2B5EF4-FFF2-40B4-BE49-F238E27FC236}">
                <a16:creationId xmlns:a16="http://schemas.microsoft.com/office/drawing/2014/main" id="{4DA9B42D-1F86-4967-A072-1EAA8D18D8F5}"/>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A local employee portal with profiles and a saved learning plan.</a:t>
            </a:r>
          </a:p>
        </p:txBody>
      </p:sp>
      <p:sp>
        <p:nvSpPr>
          <p:cNvPr id="5" name="02">
            <a:extLst xmlns:a="http://schemas.openxmlformats.org/drawingml/2006/main">
              <a:ext uri="{FF2B5EF4-FFF2-40B4-BE49-F238E27FC236}">
                <a16:creationId xmlns:a16="http://schemas.microsoft.com/office/drawing/2014/main" id="{A5366C97-6347-4D39-B78A-9BC45A21FC54}"/>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Four services that identify needs, find trends, retrieve and">
            <a:extLst xmlns:a="http://schemas.openxmlformats.org/drawingml/2006/main">
              <a:ext uri="{FF2B5EF4-FFF2-40B4-BE49-F238E27FC236}">
                <a16:creationId xmlns:a16="http://schemas.microsoft.com/office/drawing/2014/main" id="{4E85484A-6607-4816-B357-8B8A72C571B1}"/>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Four services that identify needs, find trends, retrieve and rank courses.</a:t>
            </a:r>
          </a:p>
        </p:txBody>
      </p:sp>
      <p:sp>
        <p:nvSpPr>
          <p:cNvPr id="7" name="03">
            <a:extLst xmlns:a="http://schemas.openxmlformats.org/drawingml/2006/main">
              <a:ext uri="{FF2B5EF4-FFF2-40B4-BE49-F238E27FC236}">
                <a16:creationId xmlns:a16="http://schemas.microsoft.com/office/drawing/2014/main" id="{82759640-2BC6-4C69-AA72-5769F229B152}"/>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Optional local-model help, with checked inputs and outputs.">
            <a:extLst xmlns:a="http://schemas.openxmlformats.org/drawingml/2006/main">
              <a:ext uri="{FF2B5EF4-FFF2-40B4-BE49-F238E27FC236}">
                <a16:creationId xmlns:a16="http://schemas.microsoft.com/office/drawing/2014/main" id="{DFA633BC-846B-4363-BD5D-233FC63B4A9A}"/>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Optional local-model help, with checked inputs and outputs.</a:t>
            </a:r>
          </a:p>
        </p:txBody>
      </p:sp>
      <p:sp>
        <p:nvSpPr>
          <p:cNvPr id="9" name="04">
            <a:extLst xmlns:a="http://schemas.openxmlformats.org/drawingml/2006/main">
              <a:ext uri="{FF2B5EF4-FFF2-40B4-BE49-F238E27FC236}">
                <a16:creationId xmlns:a16="http://schemas.microsoft.com/office/drawing/2014/main" id="{114AE6C0-1E5B-4142-B2E5-1848AE527F15}"/>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Reasons, activity records and user controls for the recommen">
            <a:extLst xmlns:a="http://schemas.openxmlformats.org/drawingml/2006/main">
              <a:ext uri="{FF2B5EF4-FFF2-40B4-BE49-F238E27FC236}">
                <a16:creationId xmlns:a16="http://schemas.microsoft.com/office/drawing/2014/main" id="{BE4B0A64-50CE-4E57-AE4D-016334D96AB4}"/>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Reasons, activity records and user controls for the recommendations.</a:t>
            </a:r>
          </a:p>
        </p:txBody>
      </p:sp>
      <p:sp>
        <p:nvSpPr>
          <p:cNvPr id="11" name="The technical discussion can now follow the code: profile → ">
            <a:extLst xmlns:a="http://schemas.openxmlformats.org/drawingml/2006/main">
              <a:ext uri="{FF2B5EF4-FFF2-40B4-BE49-F238E27FC236}">
                <a16:creationId xmlns:a16="http://schemas.microsoft.com/office/drawing/2014/main" id="{42955AF1-CBDE-42D0-BB96-825516551AD2}"/>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technical discussion can now follow the code: profile → trends → retrieval → recommendation.</a:t>
            </a:r>
          </a:p>
        </p:txBody>
      </p:sp>
      <p:sp>
        <p:nvSpPr>
          <p:cNvPr id="12" name="20">
            <a:extLst xmlns:a="http://schemas.openxmlformats.org/drawingml/2006/main">
              <a:ext uri="{FF2B5EF4-FFF2-40B4-BE49-F238E27FC236}">
                <a16:creationId xmlns:a16="http://schemas.microsoft.com/office/drawing/2014/main" id="{70AEE66A-2C31-4954-A71C-B62F1D373591}"/>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20</a:t>
            </a:r>
          </a:p>
        </p:txBody>
      </p:sp>
    </p:spTree>
    <p:extLst>
      <p:ext uri="{BB962C8B-B14F-4D97-AF65-F5344CB8AC3E}">
        <p14:creationId xmlns:p14="http://schemas.microsoft.com/office/powerpoint/2010/main" val="819201878"/>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BACKUP · CODE WALKTHROUGH">
            <a:extLst xmlns:a="http://schemas.openxmlformats.org/drawingml/2006/main">
              <a:ext uri="{FF2B5EF4-FFF2-40B4-BE49-F238E27FC236}">
                <a16:creationId xmlns:a16="http://schemas.microsoft.com/office/drawing/2014/main" id="{BC9D1552-E2ED-46E7-B7DE-0CD25E23B1D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CODE WALKTHROUGH</a:t>
            </a:r>
          </a:p>
        </p:txBody>
      </p:sp>
      <p:sp>
        <p:nvSpPr>
          <p:cNvPr id="2" name="Code locations for the four agents">
            <a:extLst xmlns:a="http://schemas.openxmlformats.org/drawingml/2006/main">
              <a:ext uri="{FF2B5EF4-FFF2-40B4-BE49-F238E27FC236}">
                <a16:creationId xmlns:a16="http://schemas.microsoft.com/office/drawing/2014/main" id="{74C2ED85-3C51-4548-8265-61A5247CF2F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Code locations for the four agents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File or function</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to explain</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analyze_profile()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Build target skills, calculate gaps and choose priorities.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discover_trends()</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Extract known terms and compare mention counts.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retrieve_courses() + HybridIndex</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Search course text using BM25 and TF-IDF.</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recommend()</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Apply score factors and return ranked courses.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worker.py / api.py</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Worker dispatch and the gateway’s sequence of HTTP calls.</a:t>
                      </a:r>
                    </a:p>
                  </a:txBody>
                  <a:tcPr marL="91440" marR="91440" marT="45720" marB="45720" anchor="ctr">
                    <a:solidFill>
                      <a:srgbClr val="F7F6F0"/>
                    </a:solidFill>
                  </a:tcPr>
                </a:tc>
              </a:tr>
            </a:tbl>
          </a:graphicData>
        </a:graphic>
      </p:graphicFrame>
      <p:sp>
        <p:nvSpPr>
          <p:cNvPr id="4" name="The four main algorithms are in backend/ai/engine.py. The se">
            <a:extLst xmlns:a="http://schemas.openxmlformats.org/drawingml/2006/main">
              <a:ext uri="{FF2B5EF4-FFF2-40B4-BE49-F238E27FC236}">
                <a16:creationId xmlns:a16="http://schemas.microsoft.com/office/drawing/2014/main" id="{8ACC6466-1D50-46CE-9233-BD38071B8B1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four main algorithms are in backend/ai/engine.py. The services share code but run with different AGENT_KIND values.</a:t>
            </a:r>
          </a:p>
        </p:txBody>
      </p:sp>
      <p:sp>
        <p:nvSpPr>
          <p:cNvPr id="5" name="21">
            <a:extLst xmlns:a="http://schemas.openxmlformats.org/drawingml/2006/main">
              <a:ext uri="{FF2B5EF4-FFF2-40B4-BE49-F238E27FC236}">
                <a16:creationId xmlns:a16="http://schemas.microsoft.com/office/drawing/2014/main" id="{C5BE2B26-98B7-4674-A79D-B24C3C03B642}"/>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21</a:t>
            </a:r>
          </a:p>
        </p:txBody>
      </p:sp>
    </p:spTree>
    <p:extLst>
      <p:ext uri="{BB962C8B-B14F-4D97-AF65-F5344CB8AC3E}">
        <p14:creationId xmlns:p14="http://schemas.microsoft.com/office/powerpoint/2010/main" val="106479760"/>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BACKUP · COMMUNICATION">
            <a:extLst xmlns:a="http://schemas.openxmlformats.org/drawingml/2006/main">
              <a:ext uri="{FF2B5EF4-FFF2-40B4-BE49-F238E27FC236}">
                <a16:creationId xmlns:a16="http://schemas.microsoft.com/office/drawing/2014/main" id="{73643DA1-8F4F-460B-9144-AE25453C14D3}"/>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COMMUNICATION</a:t>
            </a:r>
          </a:p>
        </p:txBody>
      </p:sp>
      <p:sp>
        <p:nvSpPr>
          <p:cNvPr id="2" name="How the agents communicate">
            <a:extLst xmlns:a="http://schemas.openxmlformats.org/drawingml/2006/main">
              <a:ext uri="{FF2B5EF4-FFF2-40B4-BE49-F238E27FC236}">
                <a16:creationId xmlns:a16="http://schemas.microsoft.com/office/drawing/2014/main" id="{7B3AF579-1AC0-4D7A-A71E-9CF9FA0FE505}"/>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the agents communicate</a:t>
            </a:r>
          </a:p>
        </p:txBody>
      </p:sp>
      <p:sp>
        <p:nvSpPr>
          <p:cNvPr id="3" name="01">
            <a:extLst xmlns:a="http://schemas.openxmlformats.org/drawingml/2006/main">
              <a:ext uri="{FF2B5EF4-FFF2-40B4-BE49-F238E27FC236}">
                <a16:creationId xmlns:a16="http://schemas.microsoft.com/office/drawing/2014/main" id="{81754581-4322-478B-833A-0689BE050DAE}"/>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The gateway sends an HTTP request to POST /execute on a work">
            <a:extLst xmlns:a="http://schemas.openxmlformats.org/drawingml/2006/main">
              <a:ext uri="{FF2B5EF4-FFF2-40B4-BE49-F238E27FC236}">
                <a16:creationId xmlns:a16="http://schemas.microsoft.com/office/drawing/2014/main" id="{F06F692C-5860-4472-AB47-1DC883C4DA6C}"/>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gateway sends an HTTP request to POST /execute on a worker.</a:t>
            </a:r>
          </a:p>
        </p:txBody>
      </p:sp>
      <p:sp>
        <p:nvSpPr>
          <p:cNvPr id="5" name="02">
            <a:extLst xmlns:a="http://schemas.openxmlformats.org/drawingml/2006/main">
              <a:ext uri="{FF2B5EF4-FFF2-40B4-BE49-F238E27FC236}">
                <a16:creationId xmlns:a16="http://schemas.microsoft.com/office/drawing/2014/main" id="{CFBAC773-A242-433A-B6D3-3F0A1606EEA1}"/>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The JSON body contains run_id, user_id and the task payload.">
            <a:extLst xmlns:a="http://schemas.openxmlformats.org/drawingml/2006/main">
              <a:ext uri="{FF2B5EF4-FFF2-40B4-BE49-F238E27FC236}">
                <a16:creationId xmlns:a16="http://schemas.microsoft.com/office/drawing/2014/main" id="{6186A994-7B2B-43D7-94D5-CE357C12EEAA}"/>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JSON body contains run_id, user_id and the task payload.</a:t>
            </a:r>
          </a:p>
        </p:txBody>
      </p:sp>
      <p:sp>
        <p:nvSpPr>
          <p:cNvPr id="7" name="03">
            <a:extLst xmlns:a="http://schemas.openxmlformats.org/drawingml/2006/main">
              <a:ext uri="{FF2B5EF4-FFF2-40B4-BE49-F238E27FC236}">
                <a16:creationId xmlns:a16="http://schemas.microsoft.com/office/drawing/2014/main" id="{7125C735-6492-436D-891A-76343273CA15}"/>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The worker checks X-Agent-Key, runs its task and returns JSO">
            <a:extLst xmlns:a="http://schemas.openxmlformats.org/drawingml/2006/main">
              <a:ext uri="{FF2B5EF4-FFF2-40B4-BE49-F238E27FC236}">
                <a16:creationId xmlns:a16="http://schemas.microsoft.com/office/drawing/2014/main" id="{4DFC4A57-5485-4CD9-992E-7A1A1CEA4621}"/>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worker checks X-Agent-Key, runs its task and returns JSON.</a:t>
            </a:r>
          </a:p>
        </p:txBody>
      </p:sp>
      <p:sp>
        <p:nvSpPr>
          <p:cNvPr id="9" name="04">
            <a:extLst xmlns:a="http://schemas.openxmlformats.org/drawingml/2006/main">
              <a:ext uri="{FF2B5EF4-FFF2-40B4-BE49-F238E27FC236}">
                <a16:creationId xmlns:a16="http://schemas.microsoft.com/office/drawing/2014/main" id="{CEE6BF22-5991-412E-9861-855C955C8C58}"/>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The gateway records the result and calls the next worker.">
            <a:extLst xmlns:a="http://schemas.openxmlformats.org/drawingml/2006/main">
              <a:ext uri="{FF2B5EF4-FFF2-40B4-BE49-F238E27FC236}">
                <a16:creationId xmlns:a16="http://schemas.microsoft.com/office/drawing/2014/main" id="{BFAFA2AF-71A3-4D40-AA40-8CBABD1D401D}"/>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gateway records the result and calls the next worker.</a:t>
            </a:r>
          </a:p>
        </p:txBody>
      </p:sp>
      <p:sp>
        <p:nvSpPr>
          <p:cNvPr id="11" name="API = an agreed way for programs to exchange data. HTTP = th">
            <a:extLst xmlns:a="http://schemas.openxmlformats.org/drawingml/2006/main">
              <a:ext uri="{FF2B5EF4-FFF2-40B4-BE49-F238E27FC236}">
                <a16:creationId xmlns:a16="http://schemas.microsoft.com/office/drawing/2014/main" id="{CFFEFB43-7AC2-4DCD-A48E-FF70065AB0D3}"/>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API = an agreed way for programs to exchange data. HTTP = the request/response method. JSON = a structured text format.</a:t>
            </a:r>
          </a:p>
        </p:txBody>
      </p:sp>
      <p:sp>
        <p:nvSpPr>
          <p:cNvPr id="12" name="22">
            <a:extLst xmlns:a="http://schemas.openxmlformats.org/drawingml/2006/main">
              <a:ext uri="{FF2B5EF4-FFF2-40B4-BE49-F238E27FC236}">
                <a16:creationId xmlns:a16="http://schemas.microsoft.com/office/drawing/2014/main" id="{9DBEFB33-3692-42B6-9006-7431BFA6B99B}"/>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22</a:t>
            </a:r>
          </a:p>
        </p:txBody>
      </p:sp>
    </p:spTree>
    <p:extLst>
      <p:ext uri="{BB962C8B-B14F-4D97-AF65-F5344CB8AC3E}">
        <p14:creationId xmlns:p14="http://schemas.microsoft.com/office/powerpoint/2010/main" val="1284757235"/>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BACKUP · SCORING">
            <a:extLst xmlns:a="http://schemas.openxmlformats.org/drawingml/2006/main">
              <a:ext uri="{FF2B5EF4-FFF2-40B4-BE49-F238E27FC236}">
                <a16:creationId xmlns:a16="http://schemas.microsoft.com/office/drawing/2014/main" id="{8CD00CC3-05BA-4D60-B165-E2F62145EF5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SCORING</a:t>
            </a:r>
          </a:p>
        </p:txBody>
      </p:sp>
      <p:sp>
        <p:nvSpPr>
          <p:cNvPr id="2" name="The two scoring stages">
            <a:extLst xmlns:a="http://schemas.openxmlformats.org/drawingml/2006/main">
              <a:ext uri="{FF2B5EF4-FFF2-40B4-BE49-F238E27FC236}">
                <a16:creationId xmlns:a16="http://schemas.microsoft.com/office/drawing/2014/main" id="{4603FC8C-91AA-49F8-8074-48732C85111C}"/>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two scoring stages</a:t>
            </a:r>
          </a:p>
        </p:txBody>
      </p:sp>
      <p:sp>
        <p:nvSpPr>
          <p:cNvPr id="3" name="Retrieval: find course candidates">
            <a:extLst xmlns:a="http://schemas.openxmlformats.org/drawingml/2006/main">
              <a:ext uri="{FF2B5EF4-FFF2-40B4-BE49-F238E27FC236}">
                <a16:creationId xmlns:a16="http://schemas.microsoft.com/office/drawing/2014/main" id="{B8B118C8-1DB2-433D-8935-15059E4B1F5C}"/>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Retrieval: find course candidates</a:t>
            </a:r>
          </a:p>
        </p:txBody>
      </p:sp>
      <p:sp>
        <p:nvSpPr>
          <p:cNvPr id="4" name="Hybrid text score =&#10;62% BM25 + 38% TF-IDF cosine.&#10;&#10;Retrieval">
            <a:extLst xmlns:a="http://schemas.openxmlformats.org/drawingml/2006/main">
              <a:ext uri="{FF2B5EF4-FFF2-40B4-BE49-F238E27FC236}">
                <a16:creationId xmlns:a16="http://schemas.microsoft.com/office/drawing/2014/main" id="{A41E921C-EC34-4E92-AC08-7E0793793EC5}"/>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Hybrid text score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62% BM25 + 38% TF-IDF cosine.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Retrieval score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88% hybrid + 12% skill coverage.</a:t>
            </a:r>
          </a:p>
        </p:txBody>
      </p:sp>
      <p:sp>
        <p:nvSpPr>
          <p:cNvPr id="5" name="Recommendation: order the candidates">
            <a:extLst xmlns:a="http://schemas.openxmlformats.org/drawingml/2006/main">
              <a:ext uri="{FF2B5EF4-FFF2-40B4-BE49-F238E27FC236}">
                <a16:creationId xmlns:a16="http://schemas.microsoft.com/office/drawing/2014/main" id="{68E394DB-14F1-4FBB-B436-A87995E4A260}"/>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Recommendation: order the candidates</a:t>
            </a:r>
          </a:p>
        </p:txBody>
      </p:sp>
      <p:sp>
        <p:nvSpPr>
          <p:cNvPr id="6" name="25% profile + 25% career +&#10;30% gaps + 15% trends +&#10;5% discou">
            <a:extLst xmlns:a="http://schemas.openxmlformats.org/drawingml/2006/main">
              <a:ext uri="{FF2B5EF4-FFF2-40B4-BE49-F238E27FC236}">
                <a16:creationId xmlns:a16="http://schemas.microsoft.com/office/drawing/2014/main" id="{E9A04AF2-DF0E-47E2-9FC5-7F66771C6183}"/>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25% profile + 25% career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30% gaps + 15% trends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5% discount.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High priority starts at 78/100.</a:t>
            </a:r>
          </a:p>
        </p:txBody>
      </p:sp>
      <p:sp>
        <p:nvSpPr>
          <p:cNvPr id="7" name="Skill coverage measures how many requested skills a course c">
            <a:extLst xmlns:a="http://schemas.openxmlformats.org/drawingml/2006/main">
              <a:ext uri="{FF2B5EF4-FFF2-40B4-BE49-F238E27FC236}">
                <a16:creationId xmlns:a16="http://schemas.microsoft.com/office/drawing/2014/main" id="{DD98426D-B737-4523-969B-A3FA5AE8F28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Skill coverage measures how many requested skills a course covers. These weights are project design choices.</a:t>
            </a:r>
          </a:p>
        </p:txBody>
      </p:sp>
      <p:sp>
        <p:nvSpPr>
          <p:cNvPr id="8" name="23">
            <a:extLst xmlns:a="http://schemas.openxmlformats.org/drawingml/2006/main">
              <a:ext uri="{FF2B5EF4-FFF2-40B4-BE49-F238E27FC236}">
                <a16:creationId xmlns:a16="http://schemas.microsoft.com/office/drawing/2014/main" id="{AEA9CBE2-42F6-4C20-A347-6EA2B26278D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23</a:t>
            </a:r>
          </a:p>
        </p:txBody>
      </p:sp>
    </p:spTree>
    <p:extLst>
      <p:ext uri="{BB962C8B-B14F-4D97-AF65-F5344CB8AC3E}">
        <p14:creationId xmlns:p14="http://schemas.microsoft.com/office/powerpoint/2010/main" val="1086898451"/>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BACKUP · QUESTIONS">
            <a:extLst xmlns:a="http://schemas.openxmlformats.org/drawingml/2006/main">
              <a:ext uri="{FF2B5EF4-FFF2-40B4-BE49-F238E27FC236}">
                <a16:creationId xmlns:a16="http://schemas.microsoft.com/office/drawing/2014/main" id="{8F268AD7-A186-4578-8DC6-527561B2033F}"/>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QUESTIONS</a:t>
            </a:r>
          </a:p>
        </p:txBody>
      </p:sp>
      <p:sp>
        <p:nvSpPr>
          <p:cNvPr id="2" name="Common viva questions">
            <a:extLst xmlns:a="http://schemas.openxmlformats.org/drawingml/2006/main">
              <a:ext uri="{FF2B5EF4-FFF2-40B4-BE49-F238E27FC236}">
                <a16:creationId xmlns:a16="http://schemas.microsoft.com/office/drawing/2014/main" id="{84681AF1-CC15-4971-8680-0B42D004C69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Common viva questions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Question</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Plain answer</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Why use four agents?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Each has one clear task and an inspectable output. Separate services add overhead.</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Is every agent an LLM?</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No. The workflow combines rules, text processing, search and limited model help.</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Where do the courses come from?</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stored sample catalogue, not a live search of course websites.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What if Ollama stops?</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The core workflow uses fallback rules; the interface reports the operating mode.</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What did each member contribute?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Explain real work with files, commits and tests. Do not invent a division of work.</a:t>
                      </a:r>
                    </a:p>
                  </a:txBody>
                  <a:tcPr marL="91440" marR="91440" marT="45720" marB="45720" anchor="ctr">
                    <a:solidFill>
                      <a:srgbClr val="F7F6F0"/>
                    </a:solidFill>
                  </a:tcPr>
                </a:tc>
              </a:tr>
            </a:tbl>
          </a:graphicData>
        </a:graphic>
      </p:graphicFrame>
      <p:sp>
        <p:nvSpPr>
          <p:cNvPr id="4" name="To start locally from the project folder: python3 scripts/de">
            <a:extLst xmlns:a="http://schemas.openxmlformats.org/drawingml/2006/main">
              <a:ext uri="{FF2B5EF4-FFF2-40B4-BE49-F238E27FC236}">
                <a16:creationId xmlns:a16="http://schemas.microsoft.com/office/drawing/2014/main" id="{9C2BE2CB-3038-446C-A93F-47B6121FB80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To start locally from the project folder: python3 scripts/dev.py · Then open http://127.0.0.1:5173</a:t>
            </a:r>
          </a:p>
        </p:txBody>
      </p:sp>
      <p:sp>
        <p:nvSpPr>
          <p:cNvPr id="5" name="24">
            <a:extLst xmlns:a="http://schemas.openxmlformats.org/drawingml/2006/main">
              <a:ext uri="{FF2B5EF4-FFF2-40B4-BE49-F238E27FC236}">
                <a16:creationId xmlns:a16="http://schemas.microsoft.com/office/drawing/2014/main" id="{2E657A7E-625A-4EAB-9DE9-68F868B9996A}"/>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24</a:t>
            </a:r>
          </a:p>
        </p:txBody>
      </p:sp>
    </p:spTree>
    <p:extLst>
      <p:ext uri="{BB962C8B-B14F-4D97-AF65-F5344CB8AC3E}">
        <p14:creationId xmlns:p14="http://schemas.microsoft.com/office/powerpoint/2010/main" val="2055464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2026-09-21T09:06:50.5140000Z</dcterms:created>
  <dcterms:modified xsi:type="dcterms:W3CDTF">2026-09-21T09:06:50.5140000Z</dcterms:modified>
</coreProperties>
</file>
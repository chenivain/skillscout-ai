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ebc2903b9e04555" /><Relationship Type="http://schemas.openxmlformats.org/officeDocument/2006/relationships/extended-properties" Target="/docProps/app.xml" Id="R2256f345406a4b41" /><Relationship Type="http://schemas.openxmlformats.org/officeDocument/2006/relationships/officeDocument" Target="/ppt/presentation.xml" Id="R45f19eca48774be2" /></Relationships>
</file>

<file path=ppt/presentation.xml><?xml version="1.0" encoding="utf-8"?>
<p:presentation xmlns:p="http://schemas.openxmlformats.org/presentationml/2006/main">
  <p:sldMasterIdLst>
    <p:sldMasterId xmlns:r="http://schemas.openxmlformats.org/officeDocument/2006/relationships" id="2147483648" r:id="R799542031828418c"/>
  </p:sldMasterIdLst>
  <p:notesMasterIdLst>
    <p:notesMasterId xmlns:r="http://schemas.openxmlformats.org/officeDocument/2006/relationships" r:id="Rb767d2a8cee9470e"/>
  </p:notesMasterIdLst>
  <p:sldIdLst>
    <p:sldId xmlns:r="http://schemas.openxmlformats.org/officeDocument/2006/relationships" id="256" r:id="R29dd5546ab064167"/>
    <p:sldId xmlns:r="http://schemas.openxmlformats.org/officeDocument/2006/relationships" id="257" r:id="R323f8183e68f4388"/>
    <p:sldId xmlns:r="http://schemas.openxmlformats.org/officeDocument/2006/relationships" id="258" r:id="Rbcc65f75fce14901"/>
    <p:sldId xmlns:r="http://schemas.openxmlformats.org/officeDocument/2006/relationships" id="259" r:id="Rd0c6ff8a927a4763"/>
    <p:sldId xmlns:r="http://schemas.openxmlformats.org/officeDocument/2006/relationships" id="260" r:id="R5b8776766e574917"/>
    <p:sldId xmlns:r="http://schemas.openxmlformats.org/officeDocument/2006/relationships" id="261" r:id="R04be04481bdf4648"/>
    <p:sldId xmlns:r="http://schemas.openxmlformats.org/officeDocument/2006/relationships" id="262" r:id="R2c2d3f4525064a9d"/>
    <p:sldId xmlns:r="http://schemas.openxmlformats.org/officeDocument/2006/relationships" id="263" r:id="Re31b8c11f7504a5b"/>
    <p:sldId xmlns:r="http://schemas.openxmlformats.org/officeDocument/2006/relationships" id="264" r:id="Rb886eaeece0e4739"/>
    <p:sldId xmlns:r="http://schemas.openxmlformats.org/officeDocument/2006/relationships" id="265" r:id="Rfbba48a686554ef1"/>
    <p:sldId xmlns:r="http://schemas.openxmlformats.org/officeDocument/2006/relationships" id="266" r:id="Rb3fe4d0bd5424c05"/>
    <p:sldId xmlns:r="http://schemas.openxmlformats.org/officeDocument/2006/relationships" id="267" r:id="R54eb2a417f09401f"/>
    <p:sldId xmlns:r="http://schemas.openxmlformats.org/officeDocument/2006/relationships" id="268" r:id="R98836c7349bc494a"/>
    <p:sldId xmlns:r="http://schemas.openxmlformats.org/officeDocument/2006/relationships" id="269" r:id="R63f978921f1d48c9"/>
    <p:sldId xmlns:r="http://schemas.openxmlformats.org/officeDocument/2006/relationships" id="270" r:id="Re72aa1d8aad3456b"/>
    <p:sldId xmlns:r="http://schemas.openxmlformats.org/officeDocument/2006/relationships" id="271" r:id="R320110da59e649a0"/>
    <p:sldId xmlns:r="http://schemas.openxmlformats.org/officeDocument/2006/relationships" id="272" r:id="R215d484f81c04eb8"/>
    <p:sldId xmlns:r="http://schemas.openxmlformats.org/officeDocument/2006/relationships" id="273" r:id="Rbaf170bee64d416b"/>
    <p:sldId xmlns:r="http://schemas.openxmlformats.org/officeDocument/2006/relationships" id="274" r:id="R3b977225a8074d7f"/>
    <p:sldId xmlns:r="http://schemas.openxmlformats.org/officeDocument/2006/relationships" id="275" r:id="R91f0ddbf28924de5"/>
    <p:sldId xmlns:r="http://schemas.openxmlformats.org/officeDocument/2006/relationships" id="276" r:id="Rf52479e9b64e4329"/>
    <p:sldId xmlns:r="http://schemas.openxmlformats.org/officeDocument/2006/relationships" id="277" r:id="Ra6ceb636fe66457e"/>
    <p:sldId xmlns:r="http://schemas.openxmlformats.org/officeDocument/2006/relationships" id="278" r:id="R4bb83f005cd74c93"/>
    <p:sldId xmlns:r="http://schemas.openxmlformats.org/officeDocument/2006/relationships" id="279" r:id="R52988d9087624dac"/>
    <p:sldId xmlns:r="http://schemas.openxmlformats.org/officeDocument/2006/relationships" id="280" r:id="R3b6c5915116546fc"/>
    <p:sldId xmlns:r="http://schemas.openxmlformats.org/officeDocument/2006/relationships" id="281" r:id="R9f70b237b01942d0"/>
    <p:sldId xmlns:r="http://schemas.openxmlformats.org/officeDocument/2006/relationships" id="282" r:id="R0d8e665d9b3043c9"/>
    <p:sldId xmlns:r="http://schemas.openxmlformats.org/officeDocument/2006/relationships" id="283" r:id="R1660a456b35c4e83"/>
    <p:sldId xmlns:r="http://schemas.openxmlformats.org/officeDocument/2006/relationships" id="284" r:id="R62b9a7e76c8d453f"/>
    <p:sldId xmlns:r="http://schemas.openxmlformats.org/officeDocument/2006/relationships" id="285" r:id="Rdbeefd1839074f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1ad08ee9bf4f55" /><Relationship Type="http://schemas.openxmlformats.org/officeDocument/2006/relationships/slideMaster" Target="/ppt/slideMasters/slideMaster1.xml" Id="R799542031828418c" /><Relationship Type="http://schemas.openxmlformats.org/officeDocument/2006/relationships/notesMaster" Target="/ppt/notesMasters/notesMaster1.xml" Id="Rb767d2a8cee9470e" /><Relationship Type="http://schemas.openxmlformats.org/officeDocument/2006/relationships/presProps" Target="/ppt/presProps.xml" Id="R4fe4374e80e34882" /><Relationship Type="http://schemas.openxmlformats.org/officeDocument/2006/relationships/tableStyles" Target="/ppt/tableStyles.xml" Id="R12667c7c0fc2425d" /><Relationship Type="http://schemas.openxmlformats.org/officeDocument/2006/relationships/slide" Target="/ppt/slides/slide1.xml" Id="R29dd5546ab064167" /><Relationship Type="http://schemas.openxmlformats.org/officeDocument/2006/relationships/slide" Target="/ppt/slides/slide2.xml" Id="R323f8183e68f4388" /><Relationship Type="http://schemas.openxmlformats.org/officeDocument/2006/relationships/slide" Target="/ppt/slides/slide3.xml" Id="Rbcc65f75fce14901" /><Relationship Type="http://schemas.openxmlformats.org/officeDocument/2006/relationships/slide" Target="/ppt/slides/slide4.xml" Id="Rd0c6ff8a927a4763" /><Relationship Type="http://schemas.openxmlformats.org/officeDocument/2006/relationships/slide" Target="/ppt/slides/slide5.xml" Id="R5b8776766e574917" /><Relationship Type="http://schemas.openxmlformats.org/officeDocument/2006/relationships/slide" Target="/ppt/slides/slide6.xml" Id="R04be04481bdf4648" /><Relationship Type="http://schemas.openxmlformats.org/officeDocument/2006/relationships/slide" Target="/ppt/slides/slide7.xml" Id="R2c2d3f4525064a9d" /><Relationship Type="http://schemas.openxmlformats.org/officeDocument/2006/relationships/slide" Target="/ppt/slides/slide8.xml" Id="Re31b8c11f7504a5b" /><Relationship Type="http://schemas.openxmlformats.org/officeDocument/2006/relationships/slide" Target="/ppt/slides/slide9.xml" Id="Rb886eaeece0e4739" /><Relationship Type="http://schemas.openxmlformats.org/officeDocument/2006/relationships/slide" Target="/ppt/slides/slide10.xml" Id="Rfbba48a686554ef1" /><Relationship Type="http://schemas.openxmlformats.org/officeDocument/2006/relationships/slide" Target="/ppt/slides/slide11.xml" Id="Rb3fe4d0bd5424c05" /><Relationship Type="http://schemas.openxmlformats.org/officeDocument/2006/relationships/slide" Target="/ppt/slides/slide12.xml" Id="R54eb2a417f09401f" /><Relationship Type="http://schemas.openxmlformats.org/officeDocument/2006/relationships/slide" Target="/ppt/slides/slide13.xml" Id="R98836c7349bc494a" /><Relationship Type="http://schemas.openxmlformats.org/officeDocument/2006/relationships/slide" Target="/ppt/slides/slide14.xml" Id="R63f978921f1d48c9" /><Relationship Type="http://schemas.openxmlformats.org/officeDocument/2006/relationships/slide" Target="/ppt/slides/slide15.xml" Id="Re72aa1d8aad3456b" /><Relationship Type="http://schemas.openxmlformats.org/officeDocument/2006/relationships/slide" Target="/ppt/slides/slide16.xml" Id="R320110da59e649a0" /><Relationship Type="http://schemas.openxmlformats.org/officeDocument/2006/relationships/slide" Target="/ppt/slides/slide17.xml" Id="R215d484f81c04eb8" /><Relationship Type="http://schemas.openxmlformats.org/officeDocument/2006/relationships/slide" Target="/ppt/slides/slide18.xml" Id="Rbaf170bee64d416b" /><Relationship Type="http://schemas.openxmlformats.org/officeDocument/2006/relationships/slide" Target="/ppt/slides/slide19.xml" Id="R3b977225a8074d7f" /><Relationship Type="http://schemas.openxmlformats.org/officeDocument/2006/relationships/slide" Target="/ppt/slides/slide20.xml" Id="R91f0ddbf28924de5" /><Relationship Type="http://schemas.openxmlformats.org/officeDocument/2006/relationships/slide" Target="/ppt/slides/slide21.xml" Id="Rf52479e9b64e4329" /><Relationship Type="http://schemas.openxmlformats.org/officeDocument/2006/relationships/slide" Target="/ppt/slides/slide22.xml" Id="Ra6ceb636fe66457e" /><Relationship Type="http://schemas.openxmlformats.org/officeDocument/2006/relationships/slide" Target="/ppt/slides/slide23.xml" Id="R4bb83f005cd74c93" /><Relationship Type="http://schemas.openxmlformats.org/officeDocument/2006/relationships/slide" Target="/ppt/slides/slide24.xml" Id="R52988d9087624dac" /><Relationship Type="http://schemas.openxmlformats.org/officeDocument/2006/relationships/slide" Target="/ppt/slides/slide25.xml" Id="R3b6c5915116546fc" /><Relationship Type="http://schemas.openxmlformats.org/officeDocument/2006/relationships/slide" Target="/ppt/slides/slide26.xml" Id="R9f70b237b01942d0" /><Relationship Type="http://schemas.openxmlformats.org/officeDocument/2006/relationships/slide" Target="/ppt/slides/slide27.xml" Id="R0d8e665d9b3043c9" /><Relationship Type="http://schemas.openxmlformats.org/officeDocument/2006/relationships/slide" Target="/ppt/slides/slide28.xml" Id="R1660a456b35c4e83" /><Relationship Type="http://schemas.openxmlformats.org/officeDocument/2006/relationships/slide" Target="/ppt/slides/slide29.xml" Id="R62b9a7e76c8d453f" /><Relationship Type="http://schemas.openxmlformats.org/officeDocument/2006/relationships/slide" Target="/ppt/slides/slide30.xml" Id="Rdbeefd1839074f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77787e69fe48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f9c8f70e8f4bb0" /><Relationship Type="http://schemas.openxmlformats.org/officeDocument/2006/relationships/notesMaster" Target="/ppt/notesMasters/notesMaster1.xml" Id="Rcb8b84dc553e40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4e7776ae214c3b" /><Relationship Type="http://schemas.openxmlformats.org/officeDocument/2006/relationships/notesMaster" Target="/ppt/notesMasters/notesMaster1.xml" Id="R57a023977f3a45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839b8795b44c04" /><Relationship Type="http://schemas.openxmlformats.org/officeDocument/2006/relationships/notesMaster" Target="/ppt/notesMasters/notesMaster1.xml" Id="Re2e9fb37f1534b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7835245d294a0e" /><Relationship Type="http://schemas.openxmlformats.org/officeDocument/2006/relationships/notesMaster" Target="/ppt/notesMasters/notesMaster1.xml" Id="Rdb72609e0de84c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c0d56cca0a4579" /><Relationship Type="http://schemas.openxmlformats.org/officeDocument/2006/relationships/notesMaster" Target="/ppt/notesMasters/notesMaster1.xml" Id="Rf2033804d5414d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b4142059d34d3b" /><Relationship Type="http://schemas.openxmlformats.org/officeDocument/2006/relationships/notesMaster" Target="/ppt/notesMasters/notesMaster1.xml" Id="R59b1c7aa7e6148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ab5e3db1e34a70" /><Relationship Type="http://schemas.openxmlformats.org/officeDocument/2006/relationships/notesMaster" Target="/ppt/notesMasters/notesMaster1.xml" Id="R64e7562a70024f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227788b303419a" /><Relationship Type="http://schemas.openxmlformats.org/officeDocument/2006/relationships/notesMaster" Target="/ppt/notesMasters/notesMaster1.xml" Id="R683ee236015441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654632913d64022" /><Relationship Type="http://schemas.openxmlformats.org/officeDocument/2006/relationships/notesMaster" Target="/ppt/notesMasters/notesMaster1.xml" Id="R3dc70b5b1976459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8c180a513b4c34" /><Relationship Type="http://schemas.openxmlformats.org/officeDocument/2006/relationships/notesMaster" Target="/ppt/notesMasters/notesMaster1.xml" Id="Rea998638c0ff4f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4d1906fd9a49fa" /><Relationship Type="http://schemas.openxmlformats.org/officeDocument/2006/relationships/notesMaster" Target="/ppt/notesMasters/notesMaster1.xml" Id="Rb598fafe1e274f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fd011d15aee4525" /><Relationship Type="http://schemas.openxmlformats.org/officeDocument/2006/relationships/notesMaster" Target="/ppt/notesMasters/notesMaster1.xml" Id="R4c417a9e4ed74b6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38ec67d13b4608" /><Relationship Type="http://schemas.openxmlformats.org/officeDocument/2006/relationships/notesMaster" Target="/ppt/notesMasters/notesMaster1.xml" Id="Rd2aec11f14864d2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e634d109e54658" /><Relationship Type="http://schemas.openxmlformats.org/officeDocument/2006/relationships/notesMaster" Target="/ppt/notesMasters/notesMaster1.xml" Id="R2c547ce7c2304a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e6611e2bbe40f5" /><Relationship Type="http://schemas.openxmlformats.org/officeDocument/2006/relationships/notesMaster" Target="/ppt/notesMasters/notesMaster1.xml" Id="R0f0775e14636466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8371d07d7043c1" /><Relationship Type="http://schemas.openxmlformats.org/officeDocument/2006/relationships/notesMaster" Target="/ppt/notesMasters/notesMaster1.xml" Id="Rabfac507654b42a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1b4cc576f114103" /><Relationship Type="http://schemas.openxmlformats.org/officeDocument/2006/relationships/notesMaster" Target="/ppt/notesMasters/notesMaster1.xml" Id="Rfa5e51f3193d42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3d9e01a3f7447c0" /><Relationship Type="http://schemas.openxmlformats.org/officeDocument/2006/relationships/notesMaster" Target="/ppt/notesMasters/notesMaster1.xml" Id="Rf6debecb9c554de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6d252a3ca734218" /><Relationship Type="http://schemas.openxmlformats.org/officeDocument/2006/relationships/notesMaster" Target="/ppt/notesMasters/notesMaster1.xml" Id="R0616f7bfccec46d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c49a37afc6f415a" /><Relationship Type="http://schemas.openxmlformats.org/officeDocument/2006/relationships/notesMaster" Target="/ppt/notesMasters/notesMaster1.xml" Id="R756f3ae0f0b143e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60ab90e8d8f493c" /><Relationship Type="http://schemas.openxmlformats.org/officeDocument/2006/relationships/notesMaster" Target="/ppt/notesMasters/notesMaster1.xml" Id="Rdfbe26acf12e46e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178ec4d64154157" /><Relationship Type="http://schemas.openxmlformats.org/officeDocument/2006/relationships/notesMaster" Target="/ppt/notesMasters/notesMaster1.xml" Id="Ra1d03f3b68354d9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1f80649bcb04abb" /><Relationship Type="http://schemas.openxmlformats.org/officeDocument/2006/relationships/notesMaster" Target="/ppt/notesMasters/notesMaster1.xml" Id="R4e50e3dd54f340b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50713aa5c6d40aa" /><Relationship Type="http://schemas.openxmlformats.org/officeDocument/2006/relationships/notesMaster" Target="/ppt/notesMasters/notesMaster1.xml" Id="R16721beea498466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2d6c494fb7d4e5d" /><Relationship Type="http://schemas.openxmlformats.org/officeDocument/2006/relationships/notesMaster" Target="/ppt/notesMasters/notesMaster1.xml" Id="R8897a7a1a8814dd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11b1779218f48e0" /><Relationship Type="http://schemas.openxmlformats.org/officeDocument/2006/relationships/notesMaster" Target="/ppt/notesMasters/notesMaster1.xml" Id="R9d3b46fdad87466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df44cfc1c3e4bfb" /><Relationship Type="http://schemas.openxmlformats.org/officeDocument/2006/relationships/notesMaster" Target="/ppt/notesMasters/notesMaster1.xml" Id="R4e3ab60623794b1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eab6cfea77646e9" /><Relationship Type="http://schemas.openxmlformats.org/officeDocument/2006/relationships/notesMaster" Target="/ppt/notesMasters/notesMaster1.xml" Id="Rdd2e818ad54f470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81b18ef4a7142da" /><Relationship Type="http://schemas.openxmlformats.org/officeDocument/2006/relationships/notesMaster" Target="/ppt/notesMasters/notesMaster1.xml" Id="Rd3768a0aecfe4ad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41589ab6f604078" /><Relationship Type="http://schemas.openxmlformats.org/officeDocument/2006/relationships/notesMaster" Target="/ppt/notesMasters/notesMaster1.xml" Id="R33f9a18ee17a44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25 seconds</a:t>
            </a:r>
          </a:p>
          <a:p xmlns:a="http://schemas.openxmlformats.org/drawingml/2006/main">
            <a:r>
              <a:t>Good morning. We are presenting SkillScout AI, a local employee learning assistant. It helps an employee identify what to learn next and find relevant training opportunities. Our implementation combines four specialized agent services, local language-model assistance, NLP, information retrieval and security. We will explain the workflow and then demonstrate how an employee uses it.</a:t>
            </a:r>
          </a:p>
          <a:p xmlns:a="http://schemas.openxmlformats.org/drawingml/2006/main">
            <a:r>
              <a:t/>
            </a:r>
          </a:p>
          <a:p xmlns:a="http://schemas.openxmlformats.org/drawingml/2006/main">
            <a:r>
              <a:t>The names identify the presenters. They do not assign authorship of individual components. Each member should explain their actual contribution when asked.</a:t>
            </a:r>
          </a:p>
          <a:p xmlns:a="http://schemas.openxmlformats.org/drawingml/2006/main">
            <a:r>
              <a:t/>
            </a:r>
          </a:p>
          <a:p xmlns:a="http://schemas.openxmlformats.org/drawingml/2006/main">
            <a:r>
              <a:t>Sources: Group Assignment Brief.pdf, pp. 1–4; README.md; user-supplied presenter names. Cover: AI-generated conceptual artwork, built-in image tool. Prompt: four translucent green glass volumes on ascending stone steps connected by a ribbon, ivory background, clean left space, no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about 30 seconds</a:t>
            </a:r>
          </a:p>
          <a:p xmlns:a="http://schemas.openxmlformats.org/drawingml/2006/main">
            <a:r>
              <a:t>Imagine an employee who already knows SQL and Excel but wants to become a data scientist. There are many courses, but the employee has to decide which skills are missing and which course is worth their time. They may browse LinkedIn and then search several course platforms. Our problem is personalized discovery. We do not claim that our prototype has measured time savings yet. The problem statement comes from our project proposal.</a:t>
            </a:r>
          </a:p>
          <a:p xmlns:a="http://schemas.openxmlformats.org/drawingml/2006/main">
            <a:r>
              <a:t/>
            </a:r>
          </a:p>
          <a:p xmlns:a="http://schemas.openxmlformats.org/drawingml/2006/main">
            <a:r>
              <a:t>Sources: User-supplied domain and problem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about 30 seconds</a:t>
            </a:r>
          </a:p>
          <a:p xmlns:a="http://schemas.openxmlformats.org/drawingml/2006/main">
            <a:r>
              <a:t>The employee gives the system a professional profile and career goal. Four services then identify needs, extract trends, retrieve course candidates and rank them. The bundled dataset contains 32 course records and 42 synthetic learning posts. These are a controlled demonstration dataset. The prototype does not scrape LinkedIn or retrieve live discounts from course websites. Prices, ratings and durations should be checked at the provider before a real decision.</a:t>
            </a:r>
          </a:p>
          <a:p xmlns:a="http://schemas.openxmlformats.org/drawingml/2006/main">
            <a:r>
              <a:t/>
            </a:r>
          </a:p>
          <a:p xmlns:a="http://schemas.openxmlformats.org/drawingml/2006/main">
            <a:r>
              <a:t>Sources: backend/config.py:14; backend/data/seed.py; README.md, Model and data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about 35 seconds</a:t>
            </a:r>
          </a:p>
          <a:p xmlns:a="http://schemas.openxmlformats.org/drawingml/2006/main">
            <a:r>
              <a:t>For our example, the employee is a data analyst with SQL, Excel and Power BI. The goal is data scientist. In the current taxonomy, that exact combination produces five gaps: Python, Statistics, Machine Learning, Pandas and Data Visualization. The role and goal produce target skills, and skills already present are removed. Time and budget influence later ranking. These values are a demonstration scenario. The actual user account may have different profile details, so set them before the viva if this is the example you choose. Leave extra interests and biography empty if you want this exact gap set.</a:t>
            </a:r>
          </a:p>
          <a:p xmlns:a="http://schemas.openxmlformats.org/drawingml/2006/main">
            <a:r>
              <a:t/>
            </a:r>
          </a:p>
          <a:p xmlns:a="http://schemas.openxmlformats.org/drawingml/2006/main">
            <a:r>
              <a:t>Sources: backend/ai/engine.py:281; backend/ai/taxonomy.py:47.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about 50 seconds</a:t>
            </a:r>
          </a:p>
          <a:p xmlns:a="http://schemas.openxmlformats.org/drawingml/2006/main">
            <a:r>
              <a:t>The React frontend is the interface. It sends API requests through the FastAPI gateway on port 8000. The gateway reads SQLite and coordinates the four independent worker processes on ports 8101 to 8104. All four share reusable engine code but run a different handler according to AGENT_KIND. The profile worker and the grounded chat feature can call Ollama on port 11434. Workers communicate with the gateway using HTTP and JSON, authenticated by X-Agent-Key. The diagram is a logical overview. The gateway orchestrates a fixed sequence, so describe this as a bounded agent workflow.</a:t>
            </a:r>
          </a:p>
          <a:p xmlns:a="http://schemas.openxmlformats.org/drawingml/2006/main">
            <a:r>
              <a:t/>
            </a:r>
          </a:p>
          <a:p xmlns:a="http://schemas.openxmlformats.org/drawingml/2006/main">
            <a:r>
              <a:t>Sources: scripts/dev.py; backend/api.py, _execute_pipeline; backend/config.py:14; backend/worker.py:87. Diagram: AI-generated explanatory image, checked against these code paths.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about 35 seconds</a:t>
            </a:r>
          </a:p>
          <a:p xmlns:a="http://schemas.openxmlformats.org/drawingml/2006/main">
            <a:r>
              <a:t>Each agent has a narrow responsibility and a defined input and output. The gateway keeps the shared context. It first sends the employee profile to agent one, then sends its training needs along with posts to agent two. Agent three receives those needs, trends and the course catalogue. Agent four combines everything and ranks courses. The gateway saves the analysis and delivers eligible in-app notifications. A run ID lets us associate responses with the correct execution. The trace stores useful summaries, not every full raw payload.</a:t>
            </a:r>
          </a:p>
          <a:p xmlns:a="http://schemas.openxmlformats.org/drawingml/2006/main">
            <a:r>
              <a:t/>
            </a:r>
          </a:p>
          <a:p xmlns:a="http://schemas.openxmlformats.org/drawingml/2006/main">
            <a:r>
              <a:t>Sources: backend/api.py, _execute_pipeline; backend/worker.py, Envelope and execute; 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about 40 seconds</a:t>
            </a:r>
          </a:p>
          <a:p xmlns:a="http://schemas.openxmlformats.org/drawingml/2006/main">
            <a:r>
              <a:t>This agent answers, what does this employee need to learn? Normalize means converting different names for the same skill into a common name. Target skills come from curated role mappings and the employee’s interests or bio. A gap is a target skill the employee does not already have. The optional model receives only the valid gap list and prerequisite information, and proposes up to five priorities as JSON. The code checks the response, rejects unknown or duplicate skills, and enforces prerequisite order. If the model is unavailable or invalid, deterministic priorities remain and llm_used is false.</a:t>
            </a:r>
          </a:p>
          <a:p xmlns:a="http://schemas.openxmlformats.org/drawingml/2006/main">
            <a:r>
              <a:t/>
            </a:r>
          </a:p>
          <a:p xmlns:a="http://schemas.openxmlformats.org/drawingml/2006/main">
            <a:r>
              <a:t>Sources: backend/ai/engine.py:281; backend/ai/taxonomy.py:47,77.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about 40 seconds</a:t>
            </a:r>
          </a:p>
          <a:p xmlns:a="http://schemas.openxmlformats.org/drawingml/2006/main">
            <a:r>
              <a:t>NLP means processing human language. Here we use dictionary-based entity extraction: find known names in text while handling aliases and word boundaries. In the example, the certification name can be recognized. The trend function counts each skill once per post, compares the last 14 days with the previous 14 days and keeps evidence snippets. It also finds skills that occur together. It returns up to ten trends. This is a transparent lightweight NLP method. It is not a trained neural NER model. The posts are synthetic, and their saved timestamps age normally.</a:t>
            </a:r>
          </a:p>
          <a:p xmlns:a="http://schemas.openxmlformats.org/drawingml/2006/main">
            <a:r>
              <a:t/>
            </a:r>
          </a:p>
          <a:p xmlns:a="http://schemas.openxmlformats.org/drawingml/2006/main">
            <a:r>
              <a:t>Sources: backend/ai/engine.py:330; backend/ai/taxonomy.py:86,112,121; backend/data/seed.py.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about 50 seconds</a:t>
            </a:r>
          </a:p>
          <a:p xmlns:a="http://schemas.openxmlformats.org/drawingml/2006/main">
            <a:r>
              <a:t>Information retrieval selects useful existing records from a collection. We construct a query from priorities, gaps, the goal and relevant trend skills. Each course becomes searchable text containing its title, description, provider and skills. BM25 scores useful keyword matches with term-frequency saturation and document-length normalization. TF-IDF cosine compares sparse vectors of weighted terms. The code normalizes each score and combines 62% BM25 with 38% cosine. It then uses 88% of that hybrid score plus 12% skill coverage. This uses lexical features, not neural embeddings or a vector database. Course facts come from the catalogue.</a:t>
            </a:r>
          </a:p>
          <a:p xmlns:a="http://schemas.openxmlformats.org/drawingml/2006/main">
            <a:r>
              <a:t/>
            </a:r>
          </a:p>
          <a:p xmlns:a="http://schemas.openxmlformats.org/drawingml/2006/main">
            <a:r>
              <a:t>Sources: backend/ai/engine.py:222,266,385.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about 45 seconds</a:t>
            </a:r>
          </a:p>
          <a:p xmlns:a="http://schemas.openxmlformats.org/drawingml/2006/main">
            <a:r>
              <a:t>This agent combines five explicit factors. Skill gap has the largest weight at 30%. Profile fit and career alignment are each 25%, trends 15% and discount value 5%. It first removes duplicates, completed courses and courses with no relevant skill match. Advanced courses with missing prerequisites are excluded. Budget, level and available study time affect fit. High priority starts at 78, medium at 58. The gateway’s notice filter requires high priority and a score of at least 75, so effective eligibility starts at 78 under current scoring. Notifications also require the user’s setting. Ratings are displayed catalogue data but are not a scoring factor.</a:t>
            </a:r>
          </a:p>
          <a:p xmlns:a="http://schemas.openxmlformats.org/drawingml/2006/main">
            <a:r>
              <a:t/>
            </a:r>
          </a:p>
          <a:p xmlns:a="http://schemas.openxmlformats.org/drawingml/2006/main">
            <a:r>
              <a:t>Sources: backend/ai/engine.py:436,440; backend/api.py, _notices_from.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about 40 seconds</a:t>
            </a:r>
          </a:p>
          <a:p xmlns:a="http://schemas.openxmlformats.org/drawingml/2006/main">
            <a:r>
              <a:t>We use a local model through Ollama. The default model name is qwen2.5:3b, but configuration can change it. The model makes bounded choices. In profile planning it proposes priorities from existing gaps. In Ask Scout it chooses valid course IDs from retrieved candidates and an allowed focus category. The application checks those choices and renders the final response using stored course details and templates. This is retrieval-grounded, constrained LLM assistance. It does not display unrestricted generated course facts. A running model server alone is not proof of inference. Show llm_used true in a successful run and chat.</a:t>
            </a:r>
          </a:p>
          <a:p xmlns:a="http://schemas.openxmlformats.org/drawingml/2006/main">
            <a:r>
              <a:t/>
            </a:r>
          </a:p>
          <a:p xmlns:a="http://schemas.openxmlformats.org/drawingml/2006/main">
            <a:r>
              <a:t>Sources: backend/ai/engine.py:178,281,515; .env.example;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about 30 seconds</a:t>
            </a:r>
          </a:p>
          <a:p xmlns:a="http://schemas.openxmlformats.org/drawingml/2006/main">
            <a:r>
              <a:t>The interface supports a learning loop. The employee completes their profile, enables analysis consent and starts discovery. They can inspect a course’s source, explanation, factors and prerequisite advice before saving it. The learning plan records saved, in-progress and completed states. Completion is self-reported. It adds the course skills to the profile and invalidates the old analysis so a new discovery can reflect the change. Saving is just a local planning action. The application does not buy courses or enroll employees.</a:t>
            </a:r>
          </a:p>
          <a:p xmlns:a="http://schemas.openxmlformats.org/drawingml/2006/main">
            <a:r>
              <a:t/>
            </a:r>
          </a:p>
          <a:p xmlns:a="http://schemas.openxmlformats.org/drawingml/2006/main">
            <a:r>
              <a:t>Sources: frontend/src/SettingsPages.tsx; Dashboard.tsx; LearningPages.tsx; components.tsx; backend/api.py, learning-plan endpoints.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about 3 minutes</a:t>
            </a:r>
          </a:p>
          <a:p xmlns:a="http://schemas.openxmlformats.org/drawingml/2006/main">
            <a:r>
              <a:t>Switch to the local application. First show Nadun’s profile and point to consent. Explain that the example role is Data Analyst and the goal is Data Scientist. Click Find opportunities and wait for completion. Open Agent activity and point to all four completed steps, timings and local-model use. Open a recommendation and read one actual skill-gap reason. Explain that the score ranks relevance and that catalogue offers are sample data. Save the course, open Learning plan and mark it in progress. Open Learning trends and show a source snippet. Finally ask Scout which beginner course supports the career goal and inspect its catalogue sources and model-use label. Do not mark a course completed unless you intend to update the profile. A rehearsal should establish actual outputs rather than memorizing a fixed score.</a:t>
            </a:r>
          </a:p>
          <a:p xmlns:a="http://schemas.openxmlformats.org/drawingml/2006/main">
            <a:r>
              <a:t/>
            </a:r>
          </a:p>
          <a:p xmlns:a="http://schemas.openxmlformats.org/drawingml/2006/main">
            <a:r>
              <a:t>Sources: docs/DEMO_AND_SUBMISSION.md; current frontend screens; user account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about 30 seconds</a:t>
            </a:r>
          </a:p>
          <a:p xmlns:a="http://schemas.openxmlformats.org/drawingml/2006/main">
            <a:r>
              <a:t>React builds the interface and TypeScript provides frontend types. Python and FastAPI implement HTTP endpoints. SQLite stores data in a file, normally data/skillscout.db, so accounts remain after restarting. The schema stores users and profile JSON, sessions, courses, posts, runs, analyses, learning plans and notifications. SQLite handles local transactions and uses write-ahead logging. This is suitable for the prototype’s scale. The database is not encrypted at rest. Git ignores the database, local environment and model files, so another teammate’s clone has its own local accounts.</a:t>
            </a:r>
          </a:p>
          <a:p xmlns:a="http://schemas.openxmlformats.org/drawingml/2006/main">
            <a:r>
              <a:t/>
            </a:r>
          </a:p>
          <a:p xmlns:a="http://schemas.openxmlformats.org/drawingml/2006/main">
            <a:r>
              <a:t>Sources: frontend/package.json; backend/db.py:35; backend/config.py:24; .gitignore.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about 40 seconds</a:t>
            </a:r>
          </a:p>
          <a:p xmlns:a="http://schemas.openxmlformats.org/drawingml/2006/main">
            <a:r>
              <a:t>Authentication asks who the user is. Authorization asks what they can access. Passwords use salted PBKDF2-HMAC-SHA256 hashing with 310,000 iterations. Session tokens are random and stored as hashes, and the browser receives an HttpOnly cookie. CSRF and origin checks protect authenticated writes. Role checks and user IDs restrict personal data. HR gets aggregate organization information and only administrators can ingest posts or courses. Agent services use an internal key. The current database contains an employee account only, so the main demo does not rely on old HR or admin credentials. Loopback binding supports local use. Do not claim enterprise deployment security.</a:t>
            </a:r>
          </a:p>
          <a:p xmlns:a="http://schemas.openxmlformats.org/drawingml/2006/main">
            <a:r>
              <a:t/>
            </a:r>
          </a:p>
          <a:p xmlns:a="http://schemas.openxmlformats.org/drawingml/2006/main">
            <a:r>
              <a:t>Sources: backend/security.py; backend/api.py; backend/worker.py; docs/RESPONSIBLE_AI.md.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about 40 seconds</a:t>
            </a:r>
          </a:p>
          <a:p xmlns:a="http://schemas.openxmlformats.org/drawingml/2006/main">
            <a:r>
              <a:t>Responsible AI is visible in the workflow. The employee must consent before analysis. Recommendations explain professional relevance and show their sources. The app labels synthetic posts and demonstration course metadata. Excluding protected attributes is useful, but it does not prove fairness because catalogue coverage, language and role mappings can still be biased. The user can export data or delete their account after password confirmation. Consent withdrawal clears current analysis and notifications, while historical private run records remain until account deletion. External database backups are outside that deletion. The system supports learning and does not make promotion, hiring or termination decisions.</a:t>
            </a:r>
          </a:p>
          <a:p xmlns:a="http://schemas.openxmlformats.org/drawingml/2006/main">
            <a:r>
              <a:t/>
            </a:r>
          </a:p>
          <a:p xmlns:a="http://schemas.openxmlformats.org/drawingml/2006/main">
            <a:r>
              <a:t>Sources: backend/api.py, consent/export/deletion endpoints; docs/RESPONSIBLE_AI.md; user-provided responsible-AI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about 45 seconds</a:t>
            </a:r>
          </a:p>
          <a:p xmlns:a="http://schemas.openxmlformats.org/drawingml/2006/main">
            <a:r>
              <a:t>We reran the current Python suite and all 53 tests passed, with two third-party deprecation warnings. Retrieval evaluation uses seven author-labelled development queries and 32 demonstration courses. Precision at five measures the share of the five requested slots that contain relevant results, averaged over queries. Recall at five measures how many labelled relevant items appear in those results. MRR measures how early the first relevant item appears. NDCG rewards placing relevant items higher. MRR 1 means the first result was relevant for every query in this small set. It is not 100% real-world accuracy. The separate pre-viva checklist records a current frontend build error and the need to recheck live LLM inference.</a:t>
            </a:r>
          </a:p>
          <a:p xmlns:a="http://schemas.openxmlformats.org/drawingml/2006/main">
            <a:r>
              <a:t/>
            </a:r>
          </a:p>
          <a:p xmlns:a="http://schemas.openxmlformats.org/drawingml/2006/main">
            <a:r>
              <a:t>Sources: Current outputs: .venv/bin/python -m pytest -q; .venv/bin/python -m backend.evaluation. backend/evaluation.py; tests/test_ai.py; tests/test_api.py.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about 40 seconds</a:t>
            </a:r>
          </a:p>
          <a:p xmlns:a="http://schemas.openxmlformats.org/drawingml/2006/main">
            <a:r>
              <a:t>The buyer would usually be an organization’s HR or learning and development department, while employees are the end users. The proposed pricing is per active employee per month. Starter is an assumption of LKR 300, Professional LKR 550, and Enterprise from LKR 800 with negotiated needs. These figures are hypotheses, not validated market prices. The original proposal suggests LKR 300 to 800 and negotiated enterprise pricing. Customer interviews, costs and willingness-to-pay tests would be needed before launching. Potential value includes more relevant learning discovery and less manual curation. The local prototype does not implement billing or tenant isolation.</a:t>
            </a:r>
          </a:p>
          <a:p xmlns:a="http://schemas.openxmlformats.org/drawingml/2006/main">
            <a:r>
              <a:t/>
            </a:r>
          </a:p>
          <a:p xmlns:a="http://schemas.openxmlformats.org/drawingml/2006/main">
            <a:r>
              <a:t>Sources: User-supplied commercialization plan; frontend/src/SettingsPages.tsx, proposed plan copy; README.md, future commercialization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about 35 seconds</a:t>
            </a:r>
          </a:p>
          <a:p xmlns:a="http://schemas.openxmlformats.org/drawingml/2006/main">
            <a:r>
              <a:t>The prototype already supports the personal learning workflow, grounded model assistance, in-app notifications and opt-in periodic analysis. By default the scheduler checks every 60 minutes while the gateway is running, and only for eligible consenting employees who enabled notifications. It searches stored data. It does not discover new web content by itself. The main limitations are the small synthetic corpus, curated role taxonomy, heuristic weights and development-only evaluation. Future work should begin with verified ingestion and independent evaluation, followed by enterprise integration and deployment controls.</a:t>
            </a:r>
          </a:p>
          <a:p xmlns:a="http://schemas.openxmlformats.org/drawingml/2006/main">
            <a:r>
              <a:t/>
            </a:r>
          </a:p>
          <a:p xmlns:a="http://schemas.openxmlformats.org/drawingml/2006/main">
            <a:r>
              <a:t>Sources: backend/api.py, scheduler_tick; backend/config.py:36; README.md;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about 20 seconds</a:t>
            </a:r>
          </a:p>
          <a:p xmlns:a="http://schemas.openxmlformats.org/drawingml/2006/main">
            <a:r>
              <a:t>SkillScout demonstrates how specialized services can turn an employee’s profile into explained training recommendations. The profile agent identifies needs, the trend agent supplies evidence, the retrieval agent finds candidates and the recommendation agent ranks them. The employee keeps the final choice. We are ready to demonstrate the code or discuss the design decisions.</a:t>
            </a:r>
          </a:p>
          <a:p xmlns:a="http://schemas.openxmlformats.org/drawingml/2006/main">
            <a:r>
              <a:t/>
            </a:r>
          </a:p>
          <a:p xmlns:a="http://schemas.openxmlformats.org/drawingml/2006/main">
            <a:r>
              <a:t>Slides 21 to 30 are backup material for questions. You do not need to present all of them during the main talk.</a:t>
            </a:r>
          </a:p>
          <a:p xmlns:a="http://schemas.openxmlformats.org/drawingml/2006/main">
            <a:r>
              <a:t/>
            </a:r>
          </a:p>
          <a:p xmlns:a="http://schemas.openxmlformats.org/drawingml/2006/main">
            <a:r>
              <a:t>Sources: Current codebase and user-confirmed GitHub repository URL.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ANSWER</a:t>
            </a:r>
          </a:p>
          <a:p xmlns:a="http://schemas.openxmlformats.org/drawingml/2006/main">
            <a:r>
              <a:t>Open backend/config.py to show AGENTS and ports. Open scripts/dev.py to show separate workers starting with different AGENT_KIND values. Open backend/worker.py to show POST /execute, authentication and the handler mapping. Then open backend/ai/engine.py at the relevant function. For retrieval, also show HybridIndex at line 222. Finally open backend/api.py and find _execute_pipeline to explain handoffs, result persistence and traces. Lines reflect the code reviewed on 21 September 2026 and can move after edits.</a:t>
            </a:r>
          </a:p>
          <a:p xmlns:a="http://schemas.openxmlformats.org/drawingml/2006/main">
            <a:r>
              <a:t/>
            </a:r>
          </a:p>
          <a:p xmlns:a="http://schemas.openxmlformats.org/drawingml/2006/main">
            <a:r>
              <a:t>A good explanation is: here is the input, here is the decision, and here is the output. Avoid reading every line aloud.</a:t>
            </a:r>
          </a:p>
          <a:p xmlns:a="http://schemas.openxmlformats.org/drawingml/2006/main">
            <a:r>
              <a:t/>
            </a:r>
          </a:p>
          <a:p xmlns:a="http://schemas.openxmlformats.org/drawingml/2006/main">
            <a:r>
              <a:t>Sources: backend/config.py:14; scripts/dev.py; backend/worker.py:87; backend/ai/engine.py:222,281,330,385,440; backend/api.py.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ANSWER</a:t>
            </a:r>
          </a:p>
          <a:p xmlns:a="http://schemas.openxmlformats.org/drawingml/2006/main">
            <a:r>
              <a:t>A taxonomy is an organized vocabulary. For example, a role alias helps treat software developer and software engineer consistently. These mappings support repeatable, explainable gap extraction and give the language model a bounded list. The taxonomy does not contain all real-world skills or roles, and it is not automatically up to date. That is a limitation to acknowledge. The course catalogue is separate in backend/data/seed.py and SQLite. A production version could maintain role mappings in a curated database with provenance and review, while adding broader extraction models and coverage tests. Unknown roles may get weaker personalization under the current fallback.</a:t>
            </a:r>
          </a:p>
          <a:p xmlns:a="http://schemas.openxmlformats.org/drawingml/2006/main">
            <a:r>
              <a:t/>
            </a:r>
          </a:p>
          <a:p xmlns:a="http://schemas.openxmlformats.org/drawingml/2006/main">
            <a:r>
              <a:t>Sources: backend/ai/taxonomy.py, SKILL_ALIASES, ROLE_SKILLS, ROLE_ALIASES, PREREQUISITES; backend/ai/engine.py:281.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ANSWER</a:t>
            </a:r>
          </a:p>
          <a:p xmlns:a="http://schemas.openxmlformats.org/drawingml/2006/main">
            <a:r>
              <a:t>The BM25 implementation uses k1=1.5 and b=0.75. k1 controls how quickly additional occurrences of the same term stop adding much value. b controls document-length normalization. TF-IDF gives more weight to terms that help distinguish documents. Cosine compares the direction of the query and document vectors. The code min-max normalizes BM25 and cosine across the catalogue before the 62/38 blend. The second stage combines 88% hybrid relevance with 12% matched-course-skill coverage. This retrieval score chooses candidates. The recommendation agent then computes a separate personalized score from five factors. The weights are design choices rather than learned optimal values.</a:t>
            </a:r>
          </a:p>
          <a:p xmlns:a="http://schemas.openxmlformats.org/drawingml/2006/main">
            <a:r>
              <a:t/>
            </a:r>
          </a:p>
          <a:p xmlns:a="http://schemas.openxmlformats.org/drawingml/2006/main">
            <a:r>
              <a:t>Sources: backend/ai/engine.py:222,242,257,266,385; constants at top of 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ANSWER</a:t>
            </a:r>
          </a:p>
          <a:p xmlns:a="http://schemas.openxmlformats.org/drawingml/2006/main">
            <a:r>
              <a:t>Multiply each factor score by its weight and add the contributions. Here that is 23 plus 23.5 plus 27 plus 13.2 plus 4.5, giving 91.2. These factor values are a teaching example, not the measured result for Nadun’s course. A high score means relatively good fit under our rules. It does not mean a 91.2% chance of completing the course or becoming a data scientist. The model does not choose these weights.</a:t>
            </a:r>
          </a:p>
          <a:p xmlns:a="http://schemas.openxmlformats.org/drawingml/2006/main">
            <a:r>
              <a:t/>
            </a:r>
          </a:p>
          <a:p xmlns:a="http://schemas.openxmlformats.org/drawingml/2006/main">
            <a:r>
              <a:t>Sources: backend/ai/engine.py:436,440. The factor inputs are illustrative values adapted from the user’s project example, not measured recommendations.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ANSWER</a:t>
            </a:r>
          </a:p>
          <a:p xmlns:a="http://schemas.openxmlformats.org/drawingml/2006/main">
            <a:r>
              <a:t>HTTP is the transport, REST-style endpoints define the operations, and JSON carries structured data. POST /execute receives an envelope containing run_id, user_id and the agent-specific payload. The worker checks the internal X-Agent-Key, validates the contract and calls its handler. The gateway verifies run identity when accepting results and records completed or failed steps. If a worker fails, the trace exposes which step failed rather than presenting an invented successful result. A model fallback is a different condition: the service may still finish successfully using deterministic logic, while disclosing llm_used false. The abbreviated JSON is explanatory and should not be pasted as a real complete request.</a:t>
            </a:r>
          </a:p>
          <a:p xmlns:a="http://schemas.openxmlformats.org/drawingml/2006/main">
            <a:r>
              <a:t/>
            </a:r>
          </a:p>
          <a:p xmlns:a="http://schemas.openxmlformats.org/drawingml/2006/main">
            <a:r>
              <a:t>Sources: backend/worker.py:87; backend/api.py, call_agent and _execute_pipeline; 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ANSWER</a:t>
            </a:r>
          </a:p>
          <a:p xmlns:a="http://schemas.openxmlformats.org/drawingml/2006/main">
            <a:r>
              <a:t>A language model might confidently invent a course, certification, price or discount. That is hallucination. SkillScout reduces this risk by retrieving catalogue entries first and restricting the model’s choices. Ask Scout asks for course IDs that must belong to the retrieved candidates. The application validates the JSON and uses templates plus stored course fields to render the answer. Invalid output falls back to deterministic selection with visible mode disclosure. This reduces the opportunity to invent facts, but source data can still be wrong, synthetic or stale. That is why the demonstration labels and provider checks remain important.</a:t>
            </a:r>
          </a:p>
          <a:p xmlns:a="http://schemas.openxmlformats.org/drawingml/2006/main">
            <a:r>
              <a:t/>
            </a:r>
          </a:p>
          <a:p xmlns:a="http://schemas.openxmlformats.org/drawingml/2006/main">
            <a:r>
              <a:t>Sources: backend/ai/engine.py:178,211,281,515; README.md,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ANSWER</a:t>
            </a:r>
          </a:p>
          <a:p xmlns:a="http://schemas.openxmlformats.org/drawingml/2006/main">
            <a:r>
              <a:t>Open the entire project folder, not just a Python file. On the already configured Mac run python3 scripts/dev.py. It starts the gateway and four workers, starts the frontend, and handles the local model server when available. Open 127.0.0.1:5173 and keep the terminal running. For a fresh checkout, run setup and the model pull first. The README specifies Python 3.12 or later and Node 22.12 or later, plus Ollama. Use python instead of python3 on Windows where appropriate. If a port is in use, stop the previous launcher with Ctrl+C rather than launching another copy. Do not confuse a port number with a process ID.</a:t>
            </a:r>
          </a:p>
          <a:p xmlns:a="http://schemas.openxmlformats.org/drawingml/2006/main">
            <a:r>
              <a:t/>
            </a:r>
          </a:p>
          <a:p xmlns:a="http://schemas.openxmlformats.org/drawingml/2006/main">
            <a:r>
              <a:t>Sources: README.md; scripts/setup.py; scripts/model.py; scripts/dev.py.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PREPARATION</a:t>
            </a:r>
          </a:p>
          <a:p xmlns:a="http://schemas.openxmlformats.org/drawingml/2006/main">
            <a:r>
              <a:t>The current npm build stops at frontend/src/main.tsx line 5 because an @ts-expect-error directive is unused. Remove that obsolete directive and its now-inaccurate explanatory comment after checking the file, then rerun npm --prefix frontend run build. This presentation task did not modify application code. The regression tests and retrieval evaluation were rerun successfully on 21 September 2026. Documentation records a successful live HTTP and local-model smoke test on 16 September, but that historical result does not establish present model availability. Before the viva, start the full stack, rehearse the employee journey and verify model use. Group members should prepare honest descriptions of what they personally built, adapted, tested and understood.</a:t>
            </a:r>
          </a:p>
          <a:p xmlns:a="http://schemas.openxmlformats.org/drawingml/2006/main">
            <a:r>
              <a:t/>
            </a:r>
          </a:p>
          <a:p xmlns:a="http://schemas.openxmlformats.org/drawingml/2006/main">
            <a:r>
              <a:t>Sources: Current build output: TS2578, frontend/src/main.tsx:5. docs/VALIDATION.md. Group Assignment Brief.pdf, individual contribution criterion.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ANSWERS</a:t>
            </a:r>
          </a:p>
          <a:p xmlns:a="http://schemas.openxmlformats.org/drawingml/2006/main">
            <a:r>
              <a:t>Four agents separate responsibilities and expose intermediate results, but the architectural trade-off is extra service and orchestration overhead. Describe them as specialized services in a bounded agent workflow, not four independent autonomous LLM planners. Our retrieval-grounded chat constrains course choices and renders validated facts, so be precise when using the term RAG. Scheduled checks add limited proactivity while the gateway runs. For personal contribution, do not memorize an invented division of work. Each presenter should point to real commits, files or tests and explain their decisions. If asked whether 100% can be guaranteed, explain that grades depend on meeting the rubric and demonstrating genuine understanding.</a:t>
            </a:r>
          </a:p>
          <a:p xmlns:a="http://schemas.openxmlformats.org/drawingml/2006/main">
            <a:r>
              <a:t/>
            </a:r>
          </a:p>
          <a:p xmlns:a="http://schemas.openxmlformats.org/drawingml/2006/main">
            <a:r>
              <a:t>Sources: backend/config.py; backend/worker.py; backend/ai/engine.py; Group Assignment Brief.pdf, viva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NOTES</a:t>
            </a:r>
          </a:p>
          <a:p xmlns:a="http://schemas.openxmlformats.org/drawingml/2006/main">
            <a:r>
              <a:t>The supplied assignment is IT3041 Information Retrieval and Web Analytics, Design and Implementation of an Agentic AI System Integrating LLMs, NLP, Security, and Information Retrieval. The brief asks for at least two interacting agents, LLM use, NLP, IR, security, defined communication, Responsible AI and commercialization. Its viva criteria cover technical depth, individual contribution, communication protocols, Responsible AI and pricing. This system uses four agent services. The deck supports the viva but does not replace the separate report, GitHub deliverable or 3–5 minute Gen AI-based video.</a:t>
            </a:r>
          </a:p>
          <a:p xmlns:a="http://schemas.openxmlformats.org/drawingml/2006/main">
            <a:r>
              <a:t/>
            </a:r>
          </a:p>
          <a:p xmlns:a="http://schemas.openxmlformats.org/drawingml/2006/main">
            <a:r>
              <a:t>Primary files: Group Assignment Brief.pdf; README.md; CONTRACT.md; backend/ai/engine.py; backend/ai/taxonomy.py; backend/config.py; backend/worker.py; backend/api.py; backend/db.py; backend/security.py; backend/evaluation.py; frontend/src; docs/ARCHITECTURE.md; docs/RESPONSIBLE_AI.md; docs/VALIDATION.md. GitHub: https://github.com/CheNivain/Skillscout-AI. No independent external market research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7609b1e8134b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81644d3a6d481a" /><Relationship Type="http://schemas.openxmlformats.org/officeDocument/2006/relationships/slideLayout" Target="/ppt/slideLayouts/slideLayout1.xml" Id="R9167b06e8c2c4b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67b06e8c2c4b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c37baac8dd41a0" /><Relationship Type="http://schemas.openxmlformats.org/officeDocument/2006/relationships/image" Target="/ppt/media/image.png" Id="Rcb05cb3e018b4e77" /><Relationship Type="http://schemas.openxmlformats.org/officeDocument/2006/relationships/notesSlide" Target="/ppt/notesSlides/notesSlide1.xml" Id="Ra2d59b641b614b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070131fdc0e4ec3" /><Relationship Type="http://schemas.openxmlformats.org/officeDocument/2006/relationships/notesSlide" Target="/ppt/notesSlides/notesSlide2.xml" Id="Re11190a3a2c744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3df66895294db5" /><Relationship Type="http://schemas.openxmlformats.org/officeDocument/2006/relationships/notesSlide" Target="/ppt/notesSlides/notesSlide3.xml" Id="R2067fb70d7a04d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f72ce3a8994e6a" /><Relationship Type="http://schemas.openxmlformats.org/officeDocument/2006/relationships/notesSlide" Target="/ppt/notesSlides/notesSlide4.xml" Id="R2a95a0795b8e42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0f13827780c496c" /><Relationship Type="http://schemas.openxmlformats.org/officeDocument/2006/relationships/image" Target="/ppt/media/image2.png" Id="R573b4e333fd942fc" /><Relationship Type="http://schemas.openxmlformats.org/officeDocument/2006/relationships/notesSlide" Target="/ppt/notesSlides/notesSlide5.xml" Id="R9540af42c2b544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e0c4b9553d04b87" /><Relationship Type="http://schemas.openxmlformats.org/officeDocument/2006/relationships/notesSlide" Target="/ppt/notesSlides/notesSlide6.xml" Id="Rc552485a8b0446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77ce42b2dc24088" /><Relationship Type="http://schemas.openxmlformats.org/officeDocument/2006/relationships/notesSlide" Target="/ppt/notesSlides/notesSlide7.xml" Id="Rdf929a5f83d242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5a5077252b4f42" /><Relationship Type="http://schemas.openxmlformats.org/officeDocument/2006/relationships/notesSlide" Target="/ppt/notesSlides/notesSlide8.xml" Id="R0cdb3e4aa6ca40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4a9f1b86ab34720" /><Relationship Type="http://schemas.openxmlformats.org/officeDocument/2006/relationships/notesSlide" Target="/ppt/notesSlides/notesSlide9.xml" Id="R0f997d2445f8402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20e0a4643a2461c" /><Relationship Type="http://schemas.openxmlformats.org/officeDocument/2006/relationships/chart" Target="/ppt/slides/charts/chart1.xml" Id="R4730a367fa07488b" /><Relationship Type="http://schemas.openxmlformats.org/officeDocument/2006/relationships/notesSlide" Target="/ppt/notesSlides/notesSlide10.xml" Id="Re8f5f8e3d43e40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36cea91b0448fb" /><Relationship Type="http://schemas.openxmlformats.org/officeDocument/2006/relationships/notesSlide" Target="/ppt/notesSlides/notesSlide11.xml" Id="Re47905b3df474e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ed70e802a8e4f0c" /><Relationship Type="http://schemas.openxmlformats.org/officeDocument/2006/relationships/notesSlide" Target="/ppt/notesSlides/notesSlide12.xml" Id="R878ea4a790b946e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db60e7aaacd43e7" /><Relationship Type="http://schemas.openxmlformats.org/officeDocument/2006/relationships/notesSlide" Target="/ppt/notesSlides/notesSlide13.xml" Id="Rd861eb0ef61f4b2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f73039ad5b248aa" /><Relationship Type="http://schemas.openxmlformats.org/officeDocument/2006/relationships/notesSlide" Target="/ppt/notesSlides/notesSlide14.xml" Id="R3ec42075b843418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290ce2e751b4f4f" /><Relationship Type="http://schemas.openxmlformats.org/officeDocument/2006/relationships/notesSlide" Target="/ppt/notesSlides/notesSlide15.xml" Id="Rb11ed7ea6799445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d3172fef3714778" /><Relationship Type="http://schemas.openxmlformats.org/officeDocument/2006/relationships/notesSlide" Target="/ppt/notesSlides/notesSlide16.xml" Id="Rad27f899856946f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de0e43ed00c49a9" /><Relationship Type="http://schemas.openxmlformats.org/officeDocument/2006/relationships/notesSlide" Target="/ppt/notesSlides/notesSlide17.xml" Id="R2e02407523524b1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84e571a8f354e79" /><Relationship Type="http://schemas.openxmlformats.org/officeDocument/2006/relationships/notesSlide" Target="/ppt/notesSlides/notesSlide18.xml" Id="Rf22f18a79c1045e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b94104724ea46d2" /><Relationship Type="http://schemas.openxmlformats.org/officeDocument/2006/relationships/notesSlide" Target="/ppt/notesSlides/notesSlide19.xml" Id="Rb9feb6fb2c304ff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0608a56ddae4224" /><Relationship Type="http://schemas.openxmlformats.org/officeDocument/2006/relationships/hyperlink" Target="https://github.com/CheNivain/Skillscout-AI" TargetMode="External" Id="Rf9bcd018cf64407c" /><Relationship Type="http://schemas.openxmlformats.org/officeDocument/2006/relationships/notesSlide" Target="/ppt/notesSlides/notesSlide20.xml" Id="R874a4891679d40c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18c8887ad134716" /><Relationship Type="http://schemas.openxmlformats.org/officeDocument/2006/relationships/notesSlide" Target="/ppt/notesSlides/notesSlide21.xml" Id="R0c62b980e31c416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83f744a7a404876" /><Relationship Type="http://schemas.openxmlformats.org/officeDocument/2006/relationships/notesSlide" Target="/ppt/notesSlides/notesSlide22.xml" Id="R1e8d75f8748d454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411072981cd4c35" /><Relationship Type="http://schemas.openxmlformats.org/officeDocument/2006/relationships/notesSlide" Target="/ppt/notesSlides/notesSlide23.xml" Id="Rd3929b9e502f4b6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bb81c9faa7d402c" /><Relationship Type="http://schemas.openxmlformats.org/officeDocument/2006/relationships/notesSlide" Target="/ppt/notesSlides/notesSlide24.xml" Id="R0ec46dd3d7f2413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8523a79942b492a" /><Relationship Type="http://schemas.openxmlformats.org/officeDocument/2006/relationships/notesSlide" Target="/ppt/notesSlides/notesSlide25.xml" Id="Ra6342611f6a14c9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8890c8f2d5a4313" /><Relationship Type="http://schemas.openxmlformats.org/officeDocument/2006/relationships/notesSlide" Target="/ppt/notesSlides/notesSlide26.xml" Id="R5e3194cedfbe4af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3cdf6226eaf4bde" /><Relationship Type="http://schemas.openxmlformats.org/officeDocument/2006/relationships/notesSlide" Target="/ppt/notesSlides/notesSlide27.xml" Id="R0b39d28723e7473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6c2f60656804302" /><Relationship Type="http://schemas.openxmlformats.org/officeDocument/2006/relationships/notesSlide" Target="/ppt/notesSlides/notesSlide28.xml" Id="R12f816684bbe437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a2b0baed917484e" /><Relationship Type="http://schemas.openxmlformats.org/officeDocument/2006/relationships/notesSlide" Target="/ppt/notesSlides/notesSlide29.xml" Id="Re89940ad02094a7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f7cecc7cbe44408" /><Relationship Type="http://schemas.openxmlformats.org/officeDocument/2006/relationships/notesSlide" Target="/ppt/notesSlides/notesSlide30.xml" Id="Ra1e12c3167ec43c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Weight (%)</c:v>
          </c:tx>
          <c:spPr>
            <a:solidFill xmlns:a="http://schemas.openxmlformats.org/drawingml/2006/main">
              <a:srgbClr val="32694F"/>
            </a:solidFill>
          </c:spPr>
          <c:cat>
            <c:strRef>
              <c:f>'Chart Data'!$A$2:$A$6</c:f>
              <c:strCache>
                <c:ptCount val="5"/>
                <c:pt idx="0">
                  <c:v>Skill gap</c:v>
                </c:pt>
                <c:pt idx="1">
                  <c:v>Profile</c:v>
                </c:pt>
                <c:pt idx="2">
                  <c:v>Career</c:v>
                </c:pt>
                <c:pt idx="3">
                  <c:v>Trends</c:v>
                </c:pt>
                <c:pt idx="4">
                  <c:v>Discount value</c:v>
                </c:pt>
              </c:strCache>
            </c:strRef>
          </c:cat>
          <c:val>
            <c:numRef>
              <c:f>'Chart Data'!$B$2:$B$6</c:f>
              <c:numCache>
                <c:formatCode>General</c:formatCode>
                <c:ptCount val="5"/>
                <c:pt idx="0">
                  <c:v>30</c:v>
                </c:pt>
                <c:pt idx="1">
                  <c:v>25</c:v>
                </c:pt>
                <c:pt idx="2">
                  <c:v>25</c:v>
                </c:pt>
                <c:pt idx="3">
                  <c:v>15</c:v>
                </c:pt>
                <c:pt idx="4">
                  <c:v>5</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93E3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Weight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3736B"/>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93E35"/>
                </a:solidFill>
                <a:latin typeface="Helvetica Neue"/>
                <a:ea typeface="Helvetica Neue"/>
                <a:cs typeface="Helvetica Neue"/>
              </a:defRPr>
            </a:pPr>
          </a:p>
        </c:txPr>
        <c:crossAx val="48650112"/>
        <c:crossBetween val="between"/>
      </c:valAx>
      <c:spPr>
        <a:solidFill xmlns:a="http://schemas.openxmlformats.org/drawingml/2006/main">
          <a:srgbClr val="F5F3EC"/>
        </a:solidFill>
        <a:ln xmlns:a="http://schemas.openxmlformats.org/drawingml/2006/main" w="0">
          <a:noFill/>
        </a:ln>
      </c:spPr>
    </c:plotArea>
    <c:plotVisOnly val="1"/>
  </c:chart>
  <c:spPr>
    <a:solidFill xmlns:a="http://schemas.openxmlformats.org/drawingml/2006/main">
      <a:srgbClr val="F5F3EC"/>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b05cb3e018b4e7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IT3041  /  INFORMATION RETRIEVAL AND WEB ANALYTI">
            <a:extLst xmlns:a="http://schemas.openxmlformats.org/drawingml/2006/main">
              <a:ext uri="{FF2B5EF4-FFF2-40B4-BE49-F238E27FC236}">
                <a16:creationId xmlns:a16="http://schemas.microsoft.com/office/drawing/2014/main" id="{29E9DBB2-66C1-4FBF-94EA-00CDAEAA21DB}"/>
              </a:ext>
            </a:extLst>
          </p:cNvPr>
          <p:cNvSpPr>
            <a:spLocks xmlns:a="http://schemas.openxmlformats.org/drawingml/2006/main" noGrp="1"/>
          </p:cNvSpPr>
          <p:nvPr/>
        </p:nvSpPr>
        <p:spPr>
          <a:xfrm xmlns:a="http://schemas.openxmlformats.org/drawingml/2006/main">
            <a:off x="628650" y="600075"/>
            <a:ext cx="771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32694F"/>
                </a:solidFill>
                <a:latin typeface="Helvetica Neue"/>
                <a:ea typeface="Helvetica Neue"/>
                <a:cs typeface="Helvetica Neue"/>
              </a:defRPr>
            </a:pPr>
            <a:r>
              <a:rPr sz="1275" b="1">
                <a:solidFill>
                  <a:srgbClr val="32694F"/>
                </a:solidFill>
                <a:latin typeface="Helvetica Neue"/>
                <a:ea typeface="Helvetica Neue"/>
                <a:cs typeface="Helvetica Neue"/>
              </a:rPr>
              <a:t>IT3041  /  INFORMATION RETRIEVAL AND WEB ANALYTICS</a:t>
            </a:r>
          </a:p>
        </p:txBody>
      </p:sp>
      <p:sp>
        <p:nvSpPr>
          <p:cNvPr id="3" name="SkillScout&#10;AI">
            <a:extLst xmlns:a="http://schemas.openxmlformats.org/drawingml/2006/main">
              <a:ext uri="{FF2B5EF4-FFF2-40B4-BE49-F238E27FC236}">
                <a16:creationId xmlns:a16="http://schemas.microsoft.com/office/drawing/2014/main" id="{6D3E1197-7777-4595-A9E7-46D29EE149E0}"/>
              </a:ext>
            </a:extLst>
          </p:cNvPr>
          <p:cNvSpPr>
            <a:spLocks xmlns:a="http://schemas.openxmlformats.org/drawingml/2006/main" noGrp="1"/>
          </p:cNvSpPr>
          <p:nvPr/>
        </p:nvSpPr>
        <p:spPr>
          <a:xfrm xmlns:a="http://schemas.openxmlformats.org/drawingml/2006/main">
            <a:off x="609600" y="1647825"/>
            <a:ext cx="6191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600" b="1">
                <a:solidFill>
                  <a:srgbClr val="193E35"/>
                </a:solidFill>
                <a:latin typeface="Helvetica Neue"/>
                <a:ea typeface="Helvetica Neue"/>
                <a:cs typeface="Helvetica Neue"/>
              </a:defRPr>
            </a:pPr>
            <a:r>
              <a:rPr sz="6600" b="1">
                <a:solidFill>
                  <a:srgbClr val="193E35"/>
                </a:solidFill>
                <a:latin typeface="Helvetica Neue"/>
                <a:ea typeface="Helvetica Neue"/>
                <a:cs typeface="Helvetica Neue"/>
              </a:rPr>
              <a:t>SkillScout</a:t>
            </a:r>
          </a:p>
          <a:p xmlns:a="http://schemas.openxmlformats.org/drawingml/2006/main">
            <a:pPr>
              <a:defRPr sz="6600" b="1">
                <a:solidFill>
                  <a:srgbClr val="193E35"/>
                </a:solidFill>
                <a:latin typeface="Helvetica Neue"/>
                <a:ea typeface="Helvetica Neue"/>
                <a:cs typeface="Helvetica Neue"/>
              </a:defRPr>
            </a:pPr>
            <a:r>
              <a:rPr sz="6600" b="1">
                <a:solidFill>
                  <a:srgbClr val="193E35"/>
                </a:solidFill>
                <a:latin typeface="Helvetica Neue"/>
                <a:ea typeface="Helvetica Neue"/>
                <a:cs typeface="Helvetica Neue"/>
              </a:rPr>
              <a:t>AI</a:t>
            </a:r>
          </a:p>
        </p:txBody>
      </p:sp>
      <p:sp>
        <p:nvSpPr>
          <p:cNvPr id="4" name="Personalized employee learning&#10;with four collabo">
            <a:extLst xmlns:a="http://schemas.openxmlformats.org/drawingml/2006/main">
              <a:ext uri="{FF2B5EF4-FFF2-40B4-BE49-F238E27FC236}">
                <a16:creationId xmlns:a16="http://schemas.microsoft.com/office/drawing/2014/main" id="{099DA1AF-FE4D-493B-9472-7058C322ED9C}"/>
              </a:ext>
            </a:extLst>
          </p:cNvPr>
          <p:cNvSpPr>
            <a:spLocks xmlns:a="http://schemas.openxmlformats.org/drawingml/2006/main" noGrp="1"/>
          </p:cNvSpPr>
          <p:nvPr/>
        </p:nvSpPr>
        <p:spPr>
          <a:xfrm xmlns:a="http://schemas.openxmlformats.org/drawingml/2006/main">
            <a:off x="647700" y="3819525"/>
            <a:ext cx="5715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93E35"/>
                </a:solidFill>
                <a:latin typeface="Helvetica Neue"/>
                <a:ea typeface="Helvetica Neue"/>
                <a:cs typeface="Helvetica Neue"/>
              </a:defRPr>
            </a:pPr>
            <a:r>
              <a:rPr sz="2325" b="0">
                <a:solidFill>
                  <a:srgbClr val="193E35"/>
                </a:solidFill>
                <a:latin typeface="Helvetica Neue"/>
                <a:ea typeface="Helvetica Neue"/>
                <a:cs typeface="Helvetica Neue"/>
              </a:rPr>
              <a:t>Personalized employee learning</a:t>
            </a:r>
          </a:p>
          <a:p xmlns:a="http://schemas.openxmlformats.org/drawingml/2006/main">
            <a:pPr>
              <a:defRPr sz="2325" b="0">
                <a:solidFill>
                  <a:srgbClr val="193E35"/>
                </a:solidFill>
                <a:latin typeface="Helvetica Neue"/>
                <a:ea typeface="Helvetica Neue"/>
                <a:cs typeface="Helvetica Neue"/>
              </a:defRPr>
            </a:pPr>
            <a:r>
              <a:rPr sz="2325" b="0">
                <a:solidFill>
                  <a:srgbClr val="193E35"/>
                </a:solidFill>
                <a:latin typeface="Helvetica Neue"/>
                <a:ea typeface="Helvetica Neue"/>
                <a:cs typeface="Helvetica Neue"/>
              </a:rPr>
              <a:t>with four collaborating agents</a:t>
            </a:r>
          </a:p>
        </p:txBody>
      </p:sp>
      <p:sp>
        <p:nvSpPr>
          <p:cNvPr id="5" name="C.N Wijesekara   IT23542006&#10;K.N. Weerakkody   IT">
            <a:extLst xmlns:a="http://schemas.openxmlformats.org/drawingml/2006/main">
              <a:ext uri="{FF2B5EF4-FFF2-40B4-BE49-F238E27FC236}">
                <a16:creationId xmlns:a16="http://schemas.microsoft.com/office/drawing/2014/main" id="{DFF98BFB-C914-4F28-8849-9F5EEF04D2A6}"/>
              </a:ext>
            </a:extLst>
          </p:cNvPr>
          <p:cNvSpPr>
            <a:spLocks xmlns:a="http://schemas.openxmlformats.org/drawingml/2006/main" noGrp="1"/>
          </p:cNvSpPr>
          <p:nvPr/>
        </p:nvSpPr>
        <p:spPr>
          <a:xfrm xmlns:a="http://schemas.openxmlformats.org/drawingml/2006/main">
            <a:off x="647700" y="5419725"/>
            <a:ext cx="504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32694F"/>
                </a:solidFill>
                <a:latin typeface="Helvetica Neue"/>
                <a:ea typeface="Helvetica Neue"/>
                <a:cs typeface="Helvetica Neue"/>
              </a:defRPr>
            </a:pPr>
            <a:r>
              <a:rPr sz="1725" b="0">
                <a:solidFill>
                  <a:srgbClr val="32694F"/>
                </a:solidFill>
                <a:latin typeface="Helvetica Neue"/>
                <a:ea typeface="Helvetica Neue"/>
                <a:cs typeface="Helvetica Neue"/>
              </a:rPr>
              <a:t>C.N Wijesekara   IT23542006</a:t>
            </a:r>
          </a:p>
          <a:p xmlns:a="http://schemas.openxmlformats.org/drawingml/2006/main">
            <a:pPr>
              <a:defRPr sz="1725" b="0">
                <a:solidFill>
                  <a:srgbClr val="32694F"/>
                </a:solidFill>
                <a:latin typeface="Helvetica Neue"/>
                <a:ea typeface="Helvetica Neue"/>
                <a:cs typeface="Helvetica Neue"/>
              </a:defRPr>
            </a:pPr>
            <a:r>
              <a:rPr sz="1725" b="0">
                <a:solidFill>
                  <a:srgbClr val="32694F"/>
                </a:solidFill>
                <a:latin typeface="Helvetica Neue"/>
                <a:ea typeface="Helvetica Neue"/>
                <a:cs typeface="Helvetica Neue"/>
              </a:rPr>
              <a:t>K.N. Weerakkody   IT23607200</a:t>
            </a:r>
          </a:p>
        </p:txBody>
      </p:sp>
    </p:spTree>
    <p:extLst>
      <p:ext uri="{BB962C8B-B14F-4D97-AF65-F5344CB8AC3E}">
        <p14:creationId xmlns:p14="http://schemas.microsoft.com/office/powerpoint/2010/main" val="722832303"/>
      </p:ext>
    </p:extLst>
  </p:cSld>
</p:sld>
</file>

<file path=ppt/slides/slide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0" name="SKILLSCOUT AI">
            <a:extLst xmlns:a="http://schemas.openxmlformats.org/drawingml/2006/main">
              <a:ext uri="{FF2B5EF4-FFF2-40B4-BE49-F238E27FC236}">
                <a16:creationId xmlns:a16="http://schemas.microsoft.com/office/drawing/2014/main" id="{757A7809-D3F4-4686-927E-33F4466BE51F}"/>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SKILLSCOUT AI</a:t>
            </a:r>
          </a:p>
        </p:txBody>
      </p:sp>
      <p:sp>
        <p:nvSpPr>
          <p:cNvPr id="2" name="The employee training problem">
            <a:extLst xmlns:a="http://schemas.openxmlformats.org/drawingml/2006/main">
              <a:ext uri="{FF2B5EF4-FFF2-40B4-BE49-F238E27FC236}">
                <a16:creationId xmlns:a16="http://schemas.microsoft.com/office/drawing/2014/main" id="{04C7E788-D025-4A48-93E3-BBB0F584C99C}"/>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The employee training problem</a:t>
            </a:r>
          </a:p>
        </p:txBody>
      </p:sp>
      <p:sp>
        <p:nvSpPr>
          <p:cNvPr id="3" name="02">
            <a:extLst xmlns:a="http://schemas.openxmlformats.org/drawingml/2006/main">
              <a:ext uri="{FF2B5EF4-FFF2-40B4-BE49-F238E27FC236}">
                <a16:creationId xmlns:a16="http://schemas.microsoft.com/office/drawing/2014/main" id="{6CDE7463-AB4E-4152-AB61-F161BECA8630}"/>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02</a:t>
            </a:r>
          </a:p>
        </p:txBody>
      </p:sp>
      <p:sp>
        <p:nvSpPr>
          <p:cNvPr id="4" name="What should I learn next?">
            <a:extLst xmlns:a="http://schemas.openxmlformats.org/drawingml/2006/main">
              <a:ext uri="{FF2B5EF4-FFF2-40B4-BE49-F238E27FC236}">
                <a16:creationId xmlns:a16="http://schemas.microsoft.com/office/drawing/2014/main" id="{FE8C4C08-1947-4FDB-8B8A-8A4816D290CB}"/>
              </a:ext>
            </a:extLst>
          </p:cNvPr>
          <p:cNvSpPr>
            <a:spLocks xmlns:a="http://schemas.openxmlformats.org/drawingml/2006/main" noGrp="1"/>
          </p:cNvSpPr>
          <p:nvPr/>
        </p:nvSpPr>
        <p:spPr>
          <a:xfrm xmlns:a="http://schemas.openxmlformats.org/drawingml/2006/main">
            <a:off x="628650" y="20288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825" b="1">
                <a:solidFill>
                  <a:srgbClr val="193E35"/>
                </a:solidFill>
                <a:latin typeface="Helvetica Neue"/>
                <a:ea typeface="Helvetica Neue"/>
                <a:cs typeface="Helvetica Neue"/>
              </a:defRPr>
            </a:pPr>
            <a:r>
              <a:rPr sz="3825" b="1">
                <a:solidFill>
                  <a:srgbClr val="193E35"/>
                </a:solidFill>
                <a:latin typeface="Helvetica Neue"/>
                <a:ea typeface="Helvetica Neue"/>
                <a:cs typeface="Helvetica Neue"/>
              </a:rPr>
              <a:t>What should I learn next?</a:t>
            </a:r>
          </a:p>
        </p:txBody>
      </p:sp>
      <p:sp>
        <p:nvSpPr>
          <p:cNvPr id="5" name="Today’s process">
            <a:extLst xmlns:a="http://schemas.openxmlformats.org/drawingml/2006/main">
              <a:ext uri="{FF2B5EF4-FFF2-40B4-BE49-F238E27FC236}">
                <a16:creationId xmlns:a16="http://schemas.microsoft.com/office/drawing/2014/main" id="{6CFCA2A0-6F2F-4EC6-9A5E-F911435EF004}"/>
              </a:ext>
            </a:extLst>
          </p:cNvPr>
          <p:cNvSpPr>
            <a:spLocks xmlns:a="http://schemas.openxmlformats.org/drawingml/2006/main" noGrp="1"/>
          </p:cNvSpPr>
          <p:nvPr/>
        </p:nvSpPr>
        <p:spPr>
          <a:xfrm xmlns:a="http://schemas.openxmlformats.org/drawingml/2006/main">
            <a:off x="628650" y="32861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Today’s process</a:t>
            </a:r>
          </a:p>
        </p:txBody>
      </p:sp>
      <p:sp>
        <p:nvSpPr>
          <p:cNvPr id="6" name="Browse professional posts. Search course platfor">
            <a:extLst xmlns:a="http://schemas.openxmlformats.org/drawingml/2006/main">
              <a:ext uri="{FF2B5EF4-FFF2-40B4-BE49-F238E27FC236}">
                <a16:creationId xmlns:a16="http://schemas.microsoft.com/office/drawing/2014/main" id="{17461719-2339-469F-84C5-F98158D86675}"/>
              </a:ext>
            </a:extLst>
          </p:cNvPr>
          <p:cNvSpPr>
            <a:spLocks xmlns:a="http://schemas.openxmlformats.org/drawingml/2006/main" noGrp="1"/>
          </p:cNvSpPr>
          <p:nvPr/>
        </p:nvSpPr>
        <p:spPr>
          <a:xfrm xmlns:a="http://schemas.openxmlformats.org/drawingml/2006/main">
            <a:off x="628650" y="382905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Browse professional posts. Search course platforms. Compare relevance, time and cost.</a:t>
            </a:r>
          </a:p>
        </p:txBody>
      </p:sp>
      <p:sp>
        <p:nvSpPr>
          <p:cNvPr id="7" name="The difficulty">
            <a:extLst xmlns:a="http://schemas.openxmlformats.org/drawingml/2006/main">
              <a:ext uri="{FF2B5EF4-FFF2-40B4-BE49-F238E27FC236}">
                <a16:creationId xmlns:a16="http://schemas.microsoft.com/office/drawing/2014/main" id="{57C0C132-9C70-4A0D-A676-6EC7C2A9693A}"/>
              </a:ext>
            </a:extLst>
          </p:cNvPr>
          <p:cNvSpPr>
            <a:spLocks xmlns:a="http://schemas.openxmlformats.org/drawingml/2006/main" noGrp="1"/>
          </p:cNvSpPr>
          <p:nvPr/>
        </p:nvSpPr>
        <p:spPr>
          <a:xfrm xmlns:a="http://schemas.openxmlformats.org/drawingml/2006/main">
            <a:off x="6438900" y="32861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The difficulty</a:t>
            </a:r>
          </a:p>
        </p:txBody>
      </p:sp>
      <p:sp>
        <p:nvSpPr>
          <p:cNvPr id="8" name="Useful opportunities mix with irrelevant content">
            <a:extLst xmlns:a="http://schemas.openxmlformats.org/drawingml/2006/main">
              <a:ext uri="{FF2B5EF4-FFF2-40B4-BE49-F238E27FC236}">
                <a16:creationId xmlns:a16="http://schemas.microsoft.com/office/drawing/2014/main" id="{87DE5874-6DD5-4BC4-B057-0D67F81AF85B}"/>
              </a:ext>
            </a:extLst>
          </p:cNvPr>
          <p:cNvSpPr>
            <a:spLocks xmlns:a="http://schemas.openxmlformats.org/drawingml/2006/main" noGrp="1"/>
          </p:cNvSpPr>
          <p:nvPr/>
        </p:nvSpPr>
        <p:spPr>
          <a:xfrm xmlns:a="http://schemas.openxmlformats.org/drawingml/2006/main">
            <a:off x="6438900" y="382905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Useful opportunities mix with irrelevant content. Employees must connect them to their own goals.</a:t>
            </a:r>
          </a:p>
        </p:txBody>
      </p:sp>
      <p:sp>
        <p:nvSpPr>
          <p:cNvPr id="9" name="Selected domain: employee training in the IT ind">
            <a:extLst xmlns:a="http://schemas.openxmlformats.org/drawingml/2006/main">
              <a:ext uri="{FF2B5EF4-FFF2-40B4-BE49-F238E27FC236}">
                <a16:creationId xmlns:a16="http://schemas.microsoft.com/office/drawing/2014/main" id="{C01968FC-83F7-4C2B-9E4E-F027FE5DBAAE}"/>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Selected domain: employee training in the IT industry</a:t>
            </a:r>
          </a:p>
        </p:txBody>
      </p:sp>
    </p:spTree>
    <p:extLst>
      <p:ext uri="{BB962C8B-B14F-4D97-AF65-F5344CB8AC3E}">
        <p14:creationId xmlns:p14="http://schemas.microsoft.com/office/powerpoint/2010/main" val="1637800211"/>
      </p:ext>
    </p:extLst>
  </p:cSld>
</p:sld>
</file>

<file path=ppt/slides/slide3.xml><?xml version="1.0" encoding="utf-8"?>
<p:sld xmlns:p="http://schemas.openxmlformats.org/presentationml/2006/main">
  <p:cSld>
    <p:bg>
      <p:bgPr>
        <a:solidFill xmlns:a="http://schemas.openxmlformats.org/drawingml/2006/main">
          <a:srgbClr val="193E35"/>
        </a:solidFill>
      </p:bgPr>
    </p:bg>
    <p:spTree>
      <p:nvGrpSpPr>
        <p:cNvPr id="1" name=""/>
        <p:cNvGrpSpPr/>
        <p:nvPr/>
      </p:nvGrpSpPr>
      <p:grpSpPr>
        <a:xfrm xmlns:a="http://schemas.openxmlformats.org/drawingml/2006/main"/>
      </p:grpSpPr>
      <p:sp>
        <p:nvSpPr>
          <p:cNvPr id="12" name="SKILLSCOUT AI">
            <a:extLst xmlns:a="http://schemas.openxmlformats.org/drawingml/2006/main">
              <a:ext uri="{FF2B5EF4-FFF2-40B4-BE49-F238E27FC236}">
                <a16:creationId xmlns:a16="http://schemas.microsoft.com/office/drawing/2014/main" id="{71930BAF-FC3D-4934-B077-7BFAED1ECD49}"/>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A9BE9A"/>
                </a:solidFill>
                <a:latin typeface="Helvetica Neue"/>
                <a:ea typeface="Helvetica Neue"/>
                <a:cs typeface="Helvetica Neue"/>
              </a:defRPr>
            </a:pPr>
            <a:r>
              <a:rPr sz="1275" b="1">
                <a:solidFill>
                  <a:srgbClr val="A9BE9A"/>
                </a:solidFill>
                <a:latin typeface="Helvetica Neue"/>
                <a:ea typeface="Helvetica Neue"/>
                <a:cs typeface="Helvetica Neue"/>
              </a:rPr>
              <a:t>SKILLSCOUT AI</a:t>
            </a:r>
          </a:p>
        </p:txBody>
      </p:sp>
      <p:sp>
        <p:nvSpPr>
          <p:cNvPr id="2" name="SkillScout at a glance">
            <a:extLst xmlns:a="http://schemas.openxmlformats.org/drawingml/2006/main">
              <a:ext uri="{FF2B5EF4-FFF2-40B4-BE49-F238E27FC236}">
                <a16:creationId xmlns:a16="http://schemas.microsoft.com/office/drawing/2014/main" id="{825F2EEB-EC51-477F-8148-F117402917C1}"/>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F5F3EC"/>
                </a:solidFill>
                <a:latin typeface="Helvetica Neue"/>
                <a:ea typeface="Helvetica Neue"/>
                <a:cs typeface="Helvetica Neue"/>
              </a:defRPr>
            </a:pPr>
            <a:r>
              <a:rPr sz="3450" b="1">
                <a:solidFill>
                  <a:srgbClr val="F5F3EC"/>
                </a:solidFill>
                <a:latin typeface="Helvetica Neue"/>
                <a:ea typeface="Helvetica Neue"/>
                <a:cs typeface="Helvetica Neue"/>
              </a:rPr>
              <a:t>SkillScout at a glance</a:t>
            </a:r>
          </a:p>
        </p:txBody>
      </p:sp>
      <p:sp>
        <p:nvSpPr>
          <p:cNvPr id="3" name="A local prototype that turns professional goals ">
            <a:extLst xmlns:a="http://schemas.openxmlformats.org/drawingml/2006/main">
              <a:ext uri="{FF2B5EF4-FFF2-40B4-BE49-F238E27FC236}">
                <a16:creationId xmlns:a16="http://schemas.microsoft.com/office/drawing/2014/main" id="{EC687DDE-8111-4392-9782-2BD347CFBEED}"/>
              </a:ext>
            </a:extLst>
          </p:cNvPr>
          <p:cNvSpPr>
            <a:spLocks xmlns:a="http://schemas.openxmlformats.org/drawingml/2006/main" noGrp="1"/>
          </p:cNvSpPr>
          <p:nvPr/>
        </p:nvSpPr>
        <p:spPr>
          <a:xfrm xmlns:a="http://schemas.openxmlformats.org/drawingml/2006/main">
            <a:off x="628650" y="1638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A9BE9A"/>
                </a:solidFill>
                <a:latin typeface="Helvetica Neue"/>
                <a:ea typeface="Helvetica Neue"/>
                <a:cs typeface="Helvetica Neue"/>
              </a:defRPr>
            </a:pPr>
            <a:r>
              <a:rPr sz="1800" b="0">
                <a:solidFill>
                  <a:srgbClr val="A9BE9A"/>
                </a:solidFill>
                <a:latin typeface="Helvetica Neue"/>
                <a:ea typeface="Helvetica Neue"/>
                <a:cs typeface="Helvetica Neue"/>
              </a:rPr>
              <a:t>A local prototype that turns professional goals into explained course recommendations</a:t>
            </a:r>
          </a:p>
        </p:txBody>
      </p:sp>
      <p:sp>
        <p:nvSpPr>
          <p:cNvPr id="4" name="03">
            <a:extLst xmlns:a="http://schemas.openxmlformats.org/drawingml/2006/main">
              <a:ext uri="{FF2B5EF4-FFF2-40B4-BE49-F238E27FC236}">
                <a16:creationId xmlns:a16="http://schemas.microsoft.com/office/drawing/2014/main" id="{83F1F6E2-A823-4B27-AA6D-ED7597B4FB23}"/>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9BE9A"/>
                </a:solidFill>
                <a:latin typeface="Helvetica Neue"/>
                <a:ea typeface="Helvetica Neue"/>
                <a:cs typeface="Helvetica Neue"/>
              </a:defRPr>
            </a:pPr>
            <a:r>
              <a:rPr sz="1275" b="0">
                <a:solidFill>
                  <a:srgbClr val="A9BE9A"/>
                </a:solidFill>
                <a:latin typeface="Helvetica Neue"/>
                <a:ea typeface="Helvetica Neue"/>
                <a:cs typeface="Helvetica Neue"/>
              </a:rPr>
              <a:t>03</a:t>
            </a:r>
          </a:p>
        </p:txBody>
      </p:sp>
      <p:sp>
        <p:nvSpPr>
          <p:cNvPr id="5" name="4">
            <a:extLst xmlns:a="http://schemas.openxmlformats.org/drawingml/2006/main">
              <a:ext uri="{FF2B5EF4-FFF2-40B4-BE49-F238E27FC236}">
                <a16:creationId xmlns:a16="http://schemas.microsoft.com/office/drawing/2014/main" id="{C864EED4-D0F4-4797-A8F6-A4BB4DE37736}"/>
              </a:ext>
            </a:extLst>
          </p:cNvPr>
          <p:cNvSpPr>
            <a:spLocks xmlns:a="http://schemas.openxmlformats.org/drawingml/2006/main" noGrp="1"/>
          </p:cNvSpPr>
          <p:nvPr/>
        </p:nvSpPr>
        <p:spPr>
          <a:xfrm xmlns:a="http://schemas.openxmlformats.org/drawingml/2006/main">
            <a:off x="609600" y="2514600"/>
            <a:ext cx="323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800" b="1">
                <a:solidFill>
                  <a:srgbClr val="F5F3EC"/>
                </a:solidFill>
                <a:latin typeface="Helvetica Neue"/>
                <a:ea typeface="Helvetica Neue"/>
                <a:cs typeface="Helvetica Neue"/>
              </a:defRPr>
            </a:pPr>
            <a:r>
              <a:rPr sz="7800" b="1">
                <a:solidFill>
                  <a:srgbClr val="F5F3EC"/>
                </a:solidFill>
                <a:latin typeface="Helvetica Neue"/>
                <a:ea typeface="Helvetica Neue"/>
                <a:cs typeface="Helvetica Neue"/>
              </a:rPr>
              <a:t>4</a:t>
            </a:r>
          </a:p>
        </p:txBody>
      </p:sp>
      <p:sp>
        <p:nvSpPr>
          <p:cNvPr id="6" name="specialized agent services">
            <a:extLst xmlns:a="http://schemas.openxmlformats.org/drawingml/2006/main">
              <a:ext uri="{FF2B5EF4-FFF2-40B4-BE49-F238E27FC236}">
                <a16:creationId xmlns:a16="http://schemas.microsoft.com/office/drawing/2014/main" id="{4800F4DF-3F12-4BD1-BFD4-EF459B6069D3}"/>
              </a:ext>
            </a:extLst>
          </p:cNvPr>
          <p:cNvSpPr>
            <a:spLocks xmlns:a="http://schemas.openxmlformats.org/drawingml/2006/main" noGrp="1"/>
          </p:cNvSpPr>
          <p:nvPr/>
        </p:nvSpPr>
        <p:spPr>
          <a:xfrm xmlns:a="http://schemas.openxmlformats.org/drawingml/2006/main">
            <a:off x="609600" y="4029075"/>
            <a:ext cx="304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A9BE9A"/>
                </a:solidFill>
                <a:latin typeface="Helvetica Neue"/>
                <a:ea typeface="Helvetica Neue"/>
                <a:cs typeface="Helvetica Neue"/>
              </a:defRPr>
            </a:pPr>
            <a:r>
              <a:rPr sz="2175" b="0">
                <a:solidFill>
                  <a:srgbClr val="A9BE9A"/>
                </a:solidFill>
                <a:latin typeface="Helvetica Neue"/>
                <a:ea typeface="Helvetica Neue"/>
                <a:cs typeface="Helvetica Neue"/>
              </a:rPr>
              <a:t>specialized agent services</a:t>
            </a:r>
          </a:p>
        </p:txBody>
      </p:sp>
      <p:sp>
        <p:nvSpPr>
          <p:cNvPr id="7" name="32">
            <a:extLst xmlns:a="http://schemas.openxmlformats.org/drawingml/2006/main">
              <a:ext uri="{FF2B5EF4-FFF2-40B4-BE49-F238E27FC236}">
                <a16:creationId xmlns:a16="http://schemas.microsoft.com/office/drawing/2014/main" id="{0F0068BB-9606-45A4-A9A9-CC03C7F72C1E}"/>
              </a:ext>
            </a:extLst>
          </p:cNvPr>
          <p:cNvSpPr>
            <a:spLocks xmlns:a="http://schemas.openxmlformats.org/drawingml/2006/main" noGrp="1"/>
          </p:cNvSpPr>
          <p:nvPr/>
        </p:nvSpPr>
        <p:spPr>
          <a:xfrm xmlns:a="http://schemas.openxmlformats.org/drawingml/2006/main">
            <a:off x="4524375" y="2514600"/>
            <a:ext cx="323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800" b="1">
                <a:solidFill>
                  <a:srgbClr val="F5F3EC"/>
                </a:solidFill>
                <a:latin typeface="Helvetica Neue"/>
                <a:ea typeface="Helvetica Neue"/>
                <a:cs typeface="Helvetica Neue"/>
              </a:defRPr>
            </a:pPr>
            <a:r>
              <a:rPr sz="7800" b="1">
                <a:solidFill>
                  <a:srgbClr val="F5F3EC"/>
                </a:solidFill>
                <a:latin typeface="Helvetica Neue"/>
                <a:ea typeface="Helvetica Neue"/>
                <a:cs typeface="Helvetica Neue"/>
              </a:rPr>
              <a:t>32</a:t>
            </a:r>
          </a:p>
        </p:txBody>
      </p:sp>
      <p:sp>
        <p:nvSpPr>
          <p:cNvPr id="8" name="demonstration course records">
            <a:extLst xmlns:a="http://schemas.openxmlformats.org/drawingml/2006/main">
              <a:ext uri="{FF2B5EF4-FFF2-40B4-BE49-F238E27FC236}">
                <a16:creationId xmlns:a16="http://schemas.microsoft.com/office/drawing/2014/main" id="{B8AB3725-888B-4570-B185-C3289C3CEE43}"/>
              </a:ext>
            </a:extLst>
          </p:cNvPr>
          <p:cNvSpPr>
            <a:spLocks xmlns:a="http://schemas.openxmlformats.org/drawingml/2006/main" noGrp="1"/>
          </p:cNvSpPr>
          <p:nvPr/>
        </p:nvSpPr>
        <p:spPr>
          <a:xfrm xmlns:a="http://schemas.openxmlformats.org/drawingml/2006/main">
            <a:off x="4524375" y="4029075"/>
            <a:ext cx="304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A9BE9A"/>
                </a:solidFill>
                <a:latin typeface="Helvetica Neue"/>
                <a:ea typeface="Helvetica Neue"/>
                <a:cs typeface="Helvetica Neue"/>
              </a:defRPr>
            </a:pPr>
            <a:r>
              <a:rPr sz="2175" b="0">
                <a:solidFill>
                  <a:srgbClr val="A9BE9A"/>
                </a:solidFill>
                <a:latin typeface="Helvetica Neue"/>
                <a:ea typeface="Helvetica Neue"/>
                <a:cs typeface="Helvetica Neue"/>
              </a:rPr>
              <a:t>demonstration course records</a:t>
            </a:r>
          </a:p>
        </p:txBody>
      </p:sp>
      <p:sp>
        <p:nvSpPr>
          <p:cNvPr id="9" name="42">
            <a:extLst xmlns:a="http://schemas.openxmlformats.org/drawingml/2006/main">
              <a:ext uri="{FF2B5EF4-FFF2-40B4-BE49-F238E27FC236}">
                <a16:creationId xmlns:a16="http://schemas.microsoft.com/office/drawing/2014/main" id="{B2CA8BFB-299B-41FC-8E3D-67C9CA735A3B}"/>
              </a:ext>
            </a:extLst>
          </p:cNvPr>
          <p:cNvSpPr>
            <a:spLocks xmlns:a="http://schemas.openxmlformats.org/drawingml/2006/main" noGrp="1"/>
          </p:cNvSpPr>
          <p:nvPr/>
        </p:nvSpPr>
        <p:spPr>
          <a:xfrm xmlns:a="http://schemas.openxmlformats.org/drawingml/2006/main">
            <a:off x="8286750" y="2514600"/>
            <a:ext cx="323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800" b="1">
                <a:solidFill>
                  <a:srgbClr val="F5F3EC"/>
                </a:solidFill>
                <a:latin typeface="Helvetica Neue"/>
                <a:ea typeface="Helvetica Neue"/>
                <a:cs typeface="Helvetica Neue"/>
              </a:defRPr>
            </a:pPr>
            <a:r>
              <a:rPr sz="7800" b="1">
                <a:solidFill>
                  <a:srgbClr val="F5F3EC"/>
                </a:solidFill>
                <a:latin typeface="Helvetica Neue"/>
                <a:ea typeface="Helvetica Neue"/>
                <a:cs typeface="Helvetica Neue"/>
              </a:rPr>
              <a:t>42</a:t>
            </a:r>
          </a:p>
        </p:txBody>
      </p:sp>
      <p:sp>
        <p:nvSpPr>
          <p:cNvPr id="10" name="synthetic learning posts">
            <a:extLst xmlns:a="http://schemas.openxmlformats.org/drawingml/2006/main">
              <a:ext uri="{FF2B5EF4-FFF2-40B4-BE49-F238E27FC236}">
                <a16:creationId xmlns:a16="http://schemas.microsoft.com/office/drawing/2014/main" id="{5A27987B-DC63-4514-B9F2-C9FDD35DF0EA}"/>
              </a:ext>
            </a:extLst>
          </p:cNvPr>
          <p:cNvSpPr>
            <a:spLocks xmlns:a="http://schemas.openxmlformats.org/drawingml/2006/main" noGrp="1"/>
          </p:cNvSpPr>
          <p:nvPr/>
        </p:nvSpPr>
        <p:spPr>
          <a:xfrm xmlns:a="http://schemas.openxmlformats.org/drawingml/2006/main">
            <a:off x="8286750" y="4029075"/>
            <a:ext cx="304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A9BE9A"/>
                </a:solidFill>
                <a:latin typeface="Helvetica Neue"/>
                <a:ea typeface="Helvetica Neue"/>
                <a:cs typeface="Helvetica Neue"/>
              </a:defRPr>
            </a:pPr>
            <a:r>
              <a:rPr sz="2175" b="0">
                <a:solidFill>
                  <a:srgbClr val="A9BE9A"/>
                </a:solidFill>
                <a:latin typeface="Helvetica Neue"/>
                <a:ea typeface="Helvetica Neue"/>
                <a:cs typeface="Helvetica Neue"/>
              </a:rPr>
              <a:t>synthetic learning posts</a:t>
            </a:r>
          </a:p>
        </p:txBody>
      </p:sp>
      <p:sp>
        <p:nvSpPr>
          <p:cNvPr id="11" name="Course prices, ratings and discounts are sample ">
            <a:extLst xmlns:a="http://schemas.openxmlformats.org/drawingml/2006/main">
              <a:ext uri="{FF2B5EF4-FFF2-40B4-BE49-F238E27FC236}">
                <a16:creationId xmlns:a16="http://schemas.microsoft.com/office/drawing/2014/main" id="{13884A9A-F186-44AF-818B-A1FD5CB7D141}"/>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A9BE9A"/>
                </a:solidFill>
                <a:latin typeface="Helvetica Neue"/>
                <a:ea typeface="Helvetica Neue"/>
                <a:cs typeface="Helvetica Neue"/>
              </a:defRPr>
            </a:pPr>
            <a:r>
              <a:rPr sz="1350" b="0">
                <a:solidFill>
                  <a:srgbClr val="A9BE9A"/>
                </a:solidFill>
                <a:latin typeface="Helvetica Neue"/>
                <a:ea typeface="Helvetica Neue"/>
                <a:cs typeface="Helvetica Neue"/>
              </a:rPr>
              <a:t>Course prices, ratings and discounts are sample data. Provider links allow independent checking.</a:t>
            </a:r>
          </a:p>
        </p:txBody>
      </p:sp>
    </p:spTree>
    <p:extLst>
      <p:ext uri="{BB962C8B-B14F-4D97-AF65-F5344CB8AC3E}">
        <p14:creationId xmlns:p14="http://schemas.microsoft.com/office/powerpoint/2010/main" val="2139055210"/>
      </p:ext>
    </p:extLst>
  </p:cSld>
</p:sld>
</file>

<file path=ppt/slides/slide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1" name="SKILLSCOUT AI">
            <a:extLst xmlns:a="http://schemas.openxmlformats.org/drawingml/2006/main">
              <a:ext uri="{FF2B5EF4-FFF2-40B4-BE49-F238E27FC236}">
                <a16:creationId xmlns:a16="http://schemas.microsoft.com/office/drawing/2014/main" id="{A3ED199C-7F22-45BA-987E-5925E65B53D6}"/>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SKILLSCOUT AI</a:t>
            </a:r>
          </a:p>
        </p:txBody>
      </p:sp>
      <p:sp>
        <p:nvSpPr>
          <p:cNvPr id="2" name="One employee, one learning goal">
            <a:extLst xmlns:a="http://schemas.openxmlformats.org/drawingml/2006/main">
              <a:ext uri="{FF2B5EF4-FFF2-40B4-BE49-F238E27FC236}">
                <a16:creationId xmlns:a16="http://schemas.microsoft.com/office/drawing/2014/main" id="{0813E2AC-A819-4FC1-B1AB-E786A409453A}"/>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One employee, one learning goal</a:t>
            </a:r>
          </a:p>
        </p:txBody>
      </p:sp>
      <p:sp>
        <p:nvSpPr>
          <p:cNvPr id="3" name="Example profile for the viva demonstration">
            <a:extLst xmlns:a="http://schemas.openxmlformats.org/drawingml/2006/main">
              <a:ext uri="{FF2B5EF4-FFF2-40B4-BE49-F238E27FC236}">
                <a16:creationId xmlns:a16="http://schemas.microsoft.com/office/drawing/2014/main" id="{1CE032CC-90C2-4780-B34D-535C5512D8E8}"/>
              </a:ext>
            </a:extLst>
          </p:cNvPr>
          <p:cNvSpPr>
            <a:spLocks xmlns:a="http://schemas.openxmlformats.org/drawingml/2006/main" noGrp="1"/>
          </p:cNvSpPr>
          <p:nvPr/>
        </p:nvSpPr>
        <p:spPr>
          <a:xfrm xmlns:a="http://schemas.openxmlformats.org/drawingml/2006/main">
            <a:off x="628650" y="1638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63736B"/>
                </a:solidFill>
                <a:latin typeface="Helvetica Neue"/>
                <a:ea typeface="Helvetica Neue"/>
                <a:cs typeface="Helvetica Neue"/>
              </a:defRPr>
            </a:pPr>
            <a:r>
              <a:rPr sz="1800" b="0">
                <a:solidFill>
                  <a:srgbClr val="63736B"/>
                </a:solidFill>
                <a:latin typeface="Helvetica Neue"/>
                <a:ea typeface="Helvetica Neue"/>
                <a:cs typeface="Helvetica Neue"/>
              </a:rPr>
              <a:t>Example profile for the viva demonstration</a:t>
            </a:r>
          </a:p>
        </p:txBody>
      </p:sp>
      <p:sp>
        <p:nvSpPr>
          <p:cNvPr id="4" name="04">
            <a:extLst xmlns:a="http://schemas.openxmlformats.org/drawingml/2006/main">
              <a:ext uri="{FF2B5EF4-FFF2-40B4-BE49-F238E27FC236}">
                <a16:creationId xmlns:a16="http://schemas.microsoft.com/office/drawing/2014/main" id="{DC64944C-A9A6-470F-AEB5-7AFBD138B41E}"/>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04</a:t>
            </a:r>
          </a:p>
        </p:txBody>
      </p:sp>
      <p:sp>
        <p:nvSpPr>
          <p:cNvPr id="5" name="Current profile">
            <a:extLst xmlns:a="http://schemas.openxmlformats.org/drawingml/2006/main">
              <a:ext uri="{FF2B5EF4-FFF2-40B4-BE49-F238E27FC236}">
                <a16:creationId xmlns:a16="http://schemas.microsoft.com/office/drawing/2014/main" id="{522BA673-337F-4513-9B7B-B8F2678054DE}"/>
              </a:ext>
            </a:extLst>
          </p:cNvPr>
          <p:cNvSpPr>
            <a:spLocks xmlns:a="http://schemas.openxmlformats.org/drawingml/2006/main" noGrp="1"/>
          </p:cNvSpPr>
          <p:nvPr/>
        </p:nvSpPr>
        <p:spPr>
          <a:xfrm xmlns:a="http://schemas.openxmlformats.org/drawingml/2006/main">
            <a:off x="609600" y="2305050"/>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Current profile</a:t>
            </a:r>
          </a:p>
        </p:txBody>
      </p:sp>
      <p:sp>
        <p:nvSpPr>
          <p:cNvPr id="6" name="Data Analyst&#10;SQL, Excel, Power BI&#10;3 years of exp">
            <a:extLst xmlns:a="http://schemas.openxmlformats.org/drawingml/2006/main">
              <a:ext uri="{FF2B5EF4-FFF2-40B4-BE49-F238E27FC236}">
                <a16:creationId xmlns:a16="http://schemas.microsoft.com/office/drawing/2014/main" id="{985DDD62-B4AB-4DE7-A658-1E82675DB5EE}"/>
              </a:ext>
            </a:extLst>
          </p:cNvPr>
          <p:cNvSpPr>
            <a:spLocks xmlns:a="http://schemas.openxmlformats.org/drawingml/2006/main" noGrp="1"/>
          </p:cNvSpPr>
          <p:nvPr/>
        </p:nvSpPr>
        <p:spPr>
          <a:xfrm xmlns:a="http://schemas.openxmlformats.org/drawingml/2006/main">
            <a:off x="609600" y="2847975"/>
            <a:ext cx="4572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Data Analyst</a:t>
            </a:r>
          </a:p>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SQL, Excel, Power BI</a:t>
            </a:r>
          </a:p>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3 years of experience</a:t>
            </a:r>
          </a:p>
        </p:txBody>
      </p:sp>
      <p:sp>
        <p:nvSpPr>
          <p:cNvPr id="7" name="Career goal">
            <a:extLst xmlns:a="http://schemas.openxmlformats.org/drawingml/2006/main">
              <a:ext uri="{FF2B5EF4-FFF2-40B4-BE49-F238E27FC236}">
                <a16:creationId xmlns:a16="http://schemas.microsoft.com/office/drawing/2014/main" id="{C1C12FB4-9FFF-4C7F-9937-58EE70FE1B0A}"/>
              </a:ext>
            </a:extLst>
          </p:cNvPr>
          <p:cNvSpPr>
            <a:spLocks xmlns:a="http://schemas.openxmlformats.org/drawingml/2006/main" noGrp="1"/>
          </p:cNvSpPr>
          <p:nvPr/>
        </p:nvSpPr>
        <p:spPr>
          <a:xfrm xmlns:a="http://schemas.openxmlformats.org/drawingml/2006/main">
            <a:off x="6477000" y="23050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Career goal</a:t>
            </a:r>
          </a:p>
        </p:txBody>
      </p:sp>
      <p:sp>
        <p:nvSpPr>
          <p:cNvPr id="8" name="Data Scientist&#10;6 study hours each week&#10;USD 80 co">
            <a:extLst xmlns:a="http://schemas.openxmlformats.org/drawingml/2006/main">
              <a:ext uri="{FF2B5EF4-FFF2-40B4-BE49-F238E27FC236}">
                <a16:creationId xmlns:a16="http://schemas.microsoft.com/office/drawing/2014/main" id="{1BBFF5A3-98DA-4B1F-8870-0CF585515DE1}"/>
              </a:ext>
            </a:extLst>
          </p:cNvPr>
          <p:cNvSpPr>
            <a:spLocks xmlns:a="http://schemas.openxmlformats.org/drawingml/2006/main" noGrp="1"/>
          </p:cNvSpPr>
          <p:nvPr/>
        </p:nvSpPr>
        <p:spPr>
          <a:xfrm xmlns:a="http://schemas.openxmlformats.org/drawingml/2006/main">
            <a:off x="6477000" y="2847975"/>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Data Scientist</a:t>
            </a:r>
          </a:p>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6 study hours each week</a:t>
            </a:r>
          </a:p>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USD 80 course budget</a:t>
            </a:r>
          </a:p>
        </p:txBody>
      </p:sp>
      <p:sp>
        <p:nvSpPr>
          <p:cNvPr id="9" name="Identified skill gaps">
            <a:extLst xmlns:a="http://schemas.openxmlformats.org/drawingml/2006/main">
              <a:ext uri="{FF2B5EF4-FFF2-40B4-BE49-F238E27FC236}">
                <a16:creationId xmlns:a16="http://schemas.microsoft.com/office/drawing/2014/main" id="{104E93D9-3CA1-4ED1-B230-C1C595703D56}"/>
              </a:ext>
            </a:extLst>
          </p:cNvPr>
          <p:cNvSpPr>
            <a:spLocks xmlns:a="http://schemas.openxmlformats.org/drawingml/2006/main" noGrp="1"/>
          </p:cNvSpPr>
          <p:nvPr/>
        </p:nvSpPr>
        <p:spPr>
          <a:xfrm xmlns:a="http://schemas.openxmlformats.org/drawingml/2006/main">
            <a:off x="609600" y="44767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32694F"/>
                </a:solidFill>
                <a:latin typeface="Helvetica Neue"/>
                <a:ea typeface="Helvetica Neue"/>
                <a:cs typeface="Helvetica Neue"/>
              </a:defRPr>
            </a:pPr>
            <a:r>
              <a:rPr sz="2100" b="1">
                <a:solidFill>
                  <a:srgbClr val="32694F"/>
                </a:solidFill>
                <a:latin typeface="Helvetica Neue"/>
                <a:ea typeface="Helvetica Neue"/>
                <a:cs typeface="Helvetica Neue"/>
              </a:rPr>
              <a:t>Identified skill gaps</a:t>
            </a:r>
          </a:p>
        </p:txBody>
      </p:sp>
      <p:sp>
        <p:nvSpPr>
          <p:cNvPr id="10" name="Python, Statistics, Machine Learning,&#10;Pandas and">
            <a:extLst xmlns:a="http://schemas.openxmlformats.org/drawingml/2006/main">
              <a:ext uri="{FF2B5EF4-FFF2-40B4-BE49-F238E27FC236}">
                <a16:creationId xmlns:a16="http://schemas.microsoft.com/office/drawing/2014/main" id="{501B8343-9516-4BB6-A8FA-78B91569CA23}"/>
              </a:ext>
            </a:extLst>
          </p:cNvPr>
          <p:cNvSpPr>
            <a:spLocks xmlns:a="http://schemas.openxmlformats.org/drawingml/2006/main" noGrp="1"/>
          </p:cNvSpPr>
          <p:nvPr/>
        </p:nvSpPr>
        <p:spPr>
          <a:xfrm xmlns:a="http://schemas.openxmlformats.org/drawingml/2006/main">
            <a:off x="609600" y="50196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193E35"/>
                </a:solidFill>
                <a:latin typeface="Helvetica Neue"/>
                <a:ea typeface="Helvetica Neue"/>
                <a:cs typeface="Helvetica Neue"/>
              </a:defRPr>
            </a:pPr>
            <a:r>
              <a:rPr sz="2550" b="1">
                <a:solidFill>
                  <a:srgbClr val="193E35"/>
                </a:solidFill>
                <a:latin typeface="Helvetica Neue"/>
                <a:ea typeface="Helvetica Neue"/>
                <a:cs typeface="Helvetica Neue"/>
              </a:rPr>
              <a:t>Python, Statistics, Machine Learning,</a:t>
            </a:r>
          </a:p>
          <a:p xmlns:a="http://schemas.openxmlformats.org/drawingml/2006/main">
            <a:pPr>
              <a:defRPr sz="2550" b="1">
                <a:solidFill>
                  <a:srgbClr val="193E35"/>
                </a:solidFill>
                <a:latin typeface="Helvetica Neue"/>
                <a:ea typeface="Helvetica Neue"/>
                <a:cs typeface="Helvetica Neue"/>
              </a:defRPr>
            </a:pPr>
            <a:r>
              <a:rPr sz="2550" b="1">
                <a:solidFill>
                  <a:srgbClr val="193E35"/>
                </a:solidFill>
                <a:latin typeface="Helvetica Neue"/>
                <a:ea typeface="Helvetica Neue"/>
                <a:cs typeface="Helvetica Neue"/>
              </a:rPr>
              <a:t>Pandas and Data Visualization</a:t>
            </a:r>
          </a:p>
        </p:txBody>
      </p:sp>
    </p:spTree>
    <p:extLst>
      <p:ext uri="{BB962C8B-B14F-4D97-AF65-F5344CB8AC3E}">
        <p14:creationId xmlns:p14="http://schemas.microsoft.com/office/powerpoint/2010/main" val="876147029"/>
      </p:ext>
    </p:extLst>
  </p:cSld>
</p:sld>
</file>

<file path=ppt/slides/slide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SKILLSCOUT AI">
            <a:extLst xmlns:a="http://schemas.openxmlformats.org/drawingml/2006/main">
              <a:ext uri="{FF2B5EF4-FFF2-40B4-BE49-F238E27FC236}">
                <a16:creationId xmlns:a16="http://schemas.microsoft.com/office/drawing/2014/main" id="{C4E948CC-2218-480E-837B-DF9DEB68F108}"/>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SKILLSCOUT AI</a:t>
            </a:r>
          </a:p>
        </p:txBody>
      </p:sp>
      <p:sp>
        <p:nvSpPr>
          <p:cNvPr id="2" name="System architecture">
            <a:extLst xmlns:a="http://schemas.openxmlformats.org/drawingml/2006/main">
              <a:ext uri="{FF2B5EF4-FFF2-40B4-BE49-F238E27FC236}">
                <a16:creationId xmlns:a16="http://schemas.microsoft.com/office/drawing/2014/main" id="{6C80D657-AD42-41BA-83C9-42698869A641}"/>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System architecture</a:t>
            </a:r>
          </a:p>
        </p:txBody>
      </p:sp>
      <p:sp>
        <p:nvSpPr>
          <p:cNvPr id="3" name="05">
            <a:extLst xmlns:a="http://schemas.openxmlformats.org/drawingml/2006/main">
              <a:ext uri="{FF2B5EF4-FFF2-40B4-BE49-F238E27FC236}">
                <a16:creationId xmlns:a16="http://schemas.microsoft.com/office/drawing/2014/main" id="{F847B597-D618-4BA7-BFBE-78F7B7D52653}"/>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05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73b4e333fd942fc"/>
          <a:stretch xmlns:a="http://schemas.openxmlformats.org/drawingml/2006/main"/>
        </p:blipFill>
        <p:spPr>
          <a:xfrm xmlns:a="http://schemas.openxmlformats.org/drawingml/2006/main">
            <a:off x="2000311" y="1314450"/>
            <a:ext cx="8191379" cy="4610100"/>
          </a:xfrm>
          <a:prstGeom xmlns:a="http://schemas.openxmlformats.org/drawingml/2006/main" prst="rect">
            <a:avLst/>
          </a:prstGeom>
        </p:spPr>
      </p:pic>
      <p:sp>
        <p:nvSpPr>
          <p:cNvPr id="5" name="The gateway calls workers in sequence and receiv">
            <a:extLst xmlns:a="http://schemas.openxmlformats.org/drawingml/2006/main">
              <a:ext uri="{FF2B5EF4-FFF2-40B4-BE49-F238E27FC236}">
                <a16:creationId xmlns:a16="http://schemas.microsoft.com/office/drawing/2014/main" id="{AAC90184-5812-4603-A1DF-86F85C9A7723}"/>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The gateway calls workers in sequence and receives their responses. Workers do not call each other.</a:t>
            </a:r>
          </a:p>
        </p:txBody>
      </p:sp>
    </p:spTree>
    <p:extLst>
      <p:ext uri="{BB962C8B-B14F-4D97-AF65-F5344CB8AC3E}">
        <p14:creationId xmlns:p14="http://schemas.microsoft.com/office/powerpoint/2010/main" val="1817459277"/>
      </p:ext>
    </p:extLst>
  </p:cSld>
</p:sld>
</file>

<file path=ppt/slides/slide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SKILLSCOUT AI">
            <a:extLst xmlns:a="http://schemas.openxmlformats.org/drawingml/2006/main">
              <a:ext uri="{FF2B5EF4-FFF2-40B4-BE49-F238E27FC236}">
                <a16:creationId xmlns:a16="http://schemas.microsoft.com/office/drawing/2014/main" id="{DD43E584-96C1-4306-8F8D-6DA37FBE73D6}"/>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SKILLSCOUT AI</a:t>
            </a:r>
          </a:p>
        </p:txBody>
      </p:sp>
      <p:sp>
        <p:nvSpPr>
          <p:cNvPr id="2" name="The four agent handoffs">
            <a:extLst xmlns:a="http://schemas.openxmlformats.org/drawingml/2006/main">
              <a:ext uri="{FF2B5EF4-FFF2-40B4-BE49-F238E27FC236}">
                <a16:creationId xmlns:a16="http://schemas.microsoft.com/office/drawing/2014/main" id="{300E69A0-A5E7-4AAA-A248-124BEF24D037}"/>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The four agent handoffs</a:t>
            </a:r>
          </a:p>
        </p:txBody>
      </p:sp>
      <p:sp>
        <p:nvSpPr>
          <p:cNvPr id="3" name="06">
            <a:extLst xmlns:a="http://schemas.openxmlformats.org/drawingml/2006/main">
              <a:ext uri="{FF2B5EF4-FFF2-40B4-BE49-F238E27FC236}">
                <a16:creationId xmlns:a16="http://schemas.microsoft.com/office/drawing/2014/main" id="{3984301B-0656-41AF-B8FE-680D38D7DE9D}"/>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06</a:t>
            </a:r>
          </a:p>
        </p:txBody>
      </p:sp>
      <p:graphicFrame>
        <p:nvGraphicFramePr>
          <p:cNvPr id="9" name=""/>
          <p:cNvGraphicFramePr/>
          <p:nvPr/>
        </p:nvGraphicFramePr>
        <p:xfrm>
          <a:off xmlns:a="http://schemas.openxmlformats.org/drawingml/2006/main" x="609600" y="2095500"/>
          <a:ext xmlns:a="http://schemas.openxmlformats.org/drawingml/2006/main" cx="10972800" cy="3505200"/>
        </p:xfrm>
        <a:graphic xmlns:a="http://schemas.openxmlformats.org/drawingml/2006/main">
          <a:graphicData uri="http://schemas.openxmlformats.org/drawingml/2006/table">
            <a:tbl>
              <a:tblPr/>
              <a:tblGrid>
                <a:gridCol w="2667000"/>
                <a:gridCol w="4124325"/>
                <a:gridCol w="4181475"/>
              </a:tblGrid>
              <a:tr h="701040">
                <a:tc>
                  <a:txBody>
                    <a:bodyPr lIns="142875" tIns="114300" rIns="142875" bIns="114300">
                      <a:noAutofit/>
                    </a:bodyPr>
                    <a:lstStyle/>
                    <a:p>
                      <a:r>
                        <a:rPr sz="1800" b="1">
                          <a:solidFill>
                            <a:srgbClr val="F5F3EC"/>
                          </a:solidFill>
                          <a:latin typeface="Helvetica Neue"/>
                          <a:ea typeface="Helvetica Neue"/>
                          <a:cs typeface="Helvetica Neue"/>
                        </a:rPr>
                        <a:t>Agent</a:t>
                      </a:r>
                    </a:p>
                  </a:txBody>
                  <a:tcPr marL="91440" marR="91440" marT="45720" marB="45720" anchor="ctr">
                    <a:solidFill>
                      <a:srgbClr val="193E35"/>
                    </a:solidFill>
                  </a:tcPr>
                </a:tc>
                <a:tc>
                  <a:txBody>
                    <a:bodyPr lIns="142875" tIns="114300" rIns="142875" bIns="114300">
                      <a:noAutofit/>
                    </a:bodyPr>
                    <a:lstStyle/>
                    <a:p>
                      <a:r>
                        <a:rPr sz="1800" b="1">
                          <a:solidFill>
                            <a:srgbClr val="F5F3EC"/>
                          </a:solidFill>
                          <a:latin typeface="Helvetica Neue"/>
                          <a:ea typeface="Helvetica Neue"/>
                          <a:cs typeface="Helvetica Neue"/>
                        </a:rPr>
                        <a:t>Receives</a:t>
                      </a:r>
                    </a:p>
                  </a:txBody>
                  <a:tcPr marL="91440" marR="91440" marT="45720" marB="45720" anchor="ctr">
                    <a:solidFill>
                      <a:srgbClr val="193E35"/>
                    </a:solidFill>
                  </a:tcPr>
                </a:tc>
                <a:tc>
                  <a:txBody>
                    <a:bodyPr lIns="142875" tIns="114300" rIns="142875" bIns="114300">
                      <a:noAutofit/>
                    </a:bodyPr>
                    <a:lstStyle/>
                    <a:p>
                      <a:r>
                        <a:rPr sz="1800" b="1">
                          <a:solidFill>
                            <a:srgbClr val="F5F3EC"/>
                          </a:solidFill>
                          <a:latin typeface="Helvetica Neue"/>
                          <a:ea typeface="Helvetica Neue"/>
                          <a:cs typeface="Helvetica Neue"/>
                        </a:rPr>
                        <a:t>Produces</a:t>
                      </a:r>
                    </a:p>
                  </a:txBody>
                  <a:tcPr marL="91440" marR="91440" marT="45720" marB="45720" anchor="ctr">
                    <a:solidFill>
                      <a:srgbClr val="193E35"/>
                    </a:solidFill>
                  </a:tcPr>
                </a:tc>
              </a:tr>
              <a:tr h="701040">
                <a:tc>
                  <a:txBody>
                    <a:bodyPr lIns="142875" tIns="114300" rIns="142875" bIns="114300">
                      <a:noAutofit/>
                    </a:bodyPr>
                    <a:lstStyle/>
                    <a:p>
                      <a:r>
                        <a:rPr sz="1875" b="0">
                          <a:solidFill>
                            <a:srgbClr val="193E35"/>
                          </a:solidFill>
                          <a:latin typeface="Helvetica Neue"/>
                          <a:ea typeface="Helvetica Neue"/>
                          <a:cs typeface="Helvetica Neue"/>
                        </a:rPr>
                        <a:t>1  Profile</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Employee profile</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Training needs and skill gaps</a:t>
                      </a:r>
                    </a:p>
                  </a:txBody>
                  <a:tcPr marL="91440" marR="91440" marT="45720" marB="45720" anchor="ctr">
                    <a:solidFill>
                      <a:srgbClr val="F5F3EC"/>
                    </a:solidFill>
                  </a:tcPr>
                </a:tc>
              </a:tr>
              <a:tr h="701040">
                <a:tc>
                  <a:txBody>
                    <a:bodyPr lIns="142875" tIns="114300" rIns="142875" bIns="114300">
                      <a:noAutofit/>
                    </a:bodyPr>
                    <a:lstStyle/>
                    <a:p>
                      <a:r>
                        <a:rPr sz="1875" b="0">
                          <a:solidFill>
                            <a:srgbClr val="193E35"/>
                          </a:solidFill>
                          <a:latin typeface="Helvetica Neue"/>
                          <a:ea typeface="Helvetica Neue"/>
                          <a:cs typeface="Helvetica Neue"/>
                        </a:rPr>
                        <a:t>2  Trends</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Needs and learning posts</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Ranked trends with evidence</a:t>
                      </a:r>
                    </a:p>
                  </a:txBody>
                  <a:tcPr marL="91440" marR="91440" marT="45720" marB="45720" anchor="ctr">
                    <a:solidFill>
                      <a:srgbClr val="E9EDDF"/>
                    </a:solidFill>
                  </a:tcPr>
                </a:tc>
              </a:tr>
              <a:tr h="701040">
                <a:tc>
                  <a:txBody>
                    <a:bodyPr lIns="142875" tIns="114300" rIns="142875" bIns="114300">
                      <a:noAutofit/>
                    </a:bodyPr>
                    <a:lstStyle/>
                    <a:p>
                      <a:r>
                        <a:rPr sz="1875" b="0">
                          <a:solidFill>
                            <a:srgbClr val="193E35"/>
                          </a:solidFill>
                          <a:latin typeface="Helvetica Neue"/>
                          <a:ea typeface="Helvetica Neue"/>
                          <a:cs typeface="Helvetica Neue"/>
                        </a:rPr>
                        <a:t>3  Retrieval</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Needs, trends and catalogue</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Relevant course candidates</a:t>
                      </a:r>
                    </a:p>
                  </a:txBody>
                  <a:tcPr marL="91440" marR="91440" marT="45720" marB="45720" anchor="ctr">
                    <a:solidFill>
                      <a:srgbClr val="F5F3EC"/>
                    </a:solidFill>
                  </a:tcPr>
                </a:tc>
              </a:tr>
              <a:tr h="701040">
                <a:tc>
                  <a:txBody>
                    <a:bodyPr lIns="142875" tIns="114300" rIns="142875" bIns="114300">
                      <a:noAutofit/>
                    </a:bodyPr>
                    <a:lstStyle/>
                    <a:p>
                      <a:r>
                        <a:rPr sz="1875" b="0">
                          <a:solidFill>
                            <a:srgbClr val="193E35"/>
                          </a:solidFill>
                          <a:latin typeface="Helvetica Neue"/>
                          <a:ea typeface="Helvetica Neue"/>
                          <a:cs typeface="Helvetica Neue"/>
                        </a:rPr>
                        <a:t>4  Recommendation</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Profile, needs, trends, candidates</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Scores, reasons and priorities</a:t>
                      </a:r>
                    </a:p>
                  </a:txBody>
                  <a:tcPr marL="91440" marR="91440" marT="45720" marB="45720" anchor="ctr">
                    <a:solidFill>
                      <a:srgbClr val="E9EDDF"/>
                    </a:solidFill>
                  </a:tcPr>
                </a:tc>
              </a:tr>
            </a:tbl>
          </a:graphicData>
        </a:graphic>
      </p:graphicFrame>
      <p:sp>
        <p:nvSpPr>
          <p:cNvPr id="5" name="Every request carries a run ID and user ID. The ">
            <a:extLst xmlns:a="http://schemas.openxmlformats.org/drawingml/2006/main">
              <a:ext uri="{FF2B5EF4-FFF2-40B4-BE49-F238E27FC236}">
                <a16:creationId xmlns:a16="http://schemas.microsoft.com/office/drawing/2014/main" id="{BC996FB8-76D0-4D3B-A140-EF2B94646B50}"/>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Every request carries a run ID and user ID. The gateway records step status, timing and summaries.</a:t>
            </a:r>
          </a:p>
        </p:txBody>
      </p:sp>
    </p:spTree>
    <p:extLst>
      <p:ext uri="{BB962C8B-B14F-4D97-AF65-F5344CB8AC3E}">
        <p14:creationId xmlns:p14="http://schemas.microsoft.com/office/powerpoint/2010/main" val="1953539159"/>
      </p:ext>
    </p:extLst>
  </p:cSld>
</p:sld>
</file>

<file path=ppt/slides/slide7.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4" name="SKILLSCOUT AI">
            <a:extLst xmlns:a="http://schemas.openxmlformats.org/drawingml/2006/main">
              <a:ext uri="{FF2B5EF4-FFF2-40B4-BE49-F238E27FC236}">
                <a16:creationId xmlns:a16="http://schemas.microsoft.com/office/drawing/2014/main" id="{8EDE4C74-C4CB-4C7E-87E4-AA51A515D2DB}"/>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SKILLSCOUT AI</a:t>
            </a:r>
          </a:p>
        </p:txBody>
      </p:sp>
      <p:sp>
        <p:nvSpPr>
          <p:cNvPr id="2" name="Agent 1: profile and training needs">
            <a:extLst xmlns:a="http://schemas.openxmlformats.org/drawingml/2006/main">
              <a:ext uri="{FF2B5EF4-FFF2-40B4-BE49-F238E27FC236}">
                <a16:creationId xmlns:a16="http://schemas.microsoft.com/office/drawing/2014/main" id="{5C9FAFA7-E464-42C4-A59C-E0EF7671452D}"/>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Agent 1: profile and training needs</a:t>
            </a:r>
          </a:p>
        </p:txBody>
      </p:sp>
      <p:sp>
        <p:nvSpPr>
          <p:cNvPr id="3" name="analyze_profile()">
            <a:extLst xmlns:a="http://schemas.openxmlformats.org/drawingml/2006/main">
              <a:ext uri="{FF2B5EF4-FFF2-40B4-BE49-F238E27FC236}">
                <a16:creationId xmlns:a16="http://schemas.microsoft.com/office/drawing/2014/main" id="{74F69175-46A3-4120-A129-38C8E17D44D6}"/>
              </a:ext>
            </a:extLst>
          </p:cNvPr>
          <p:cNvSpPr>
            <a:spLocks xmlns:a="http://schemas.openxmlformats.org/drawingml/2006/main" noGrp="1"/>
          </p:cNvSpPr>
          <p:nvPr/>
        </p:nvSpPr>
        <p:spPr>
          <a:xfrm xmlns:a="http://schemas.openxmlformats.org/drawingml/2006/main">
            <a:off x="628650" y="1638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63736B"/>
                </a:solidFill>
                <a:latin typeface="Helvetica Neue"/>
                <a:ea typeface="Helvetica Neue"/>
                <a:cs typeface="Helvetica Neue"/>
              </a:defRPr>
            </a:pPr>
            <a:r>
              <a:rPr sz="1800" b="0">
                <a:solidFill>
                  <a:srgbClr val="63736B"/>
                </a:solidFill>
                <a:latin typeface="Helvetica Neue"/>
                <a:ea typeface="Helvetica Neue"/>
                <a:cs typeface="Helvetica Neue"/>
              </a:rPr>
              <a:t>analyze_profile()</a:t>
            </a:r>
          </a:p>
        </p:txBody>
      </p:sp>
      <p:sp>
        <p:nvSpPr>
          <p:cNvPr id="4" name="07">
            <a:extLst xmlns:a="http://schemas.openxmlformats.org/drawingml/2006/main">
              <a:ext uri="{FF2B5EF4-FFF2-40B4-BE49-F238E27FC236}">
                <a16:creationId xmlns:a16="http://schemas.microsoft.com/office/drawing/2014/main" id="{DE465E63-4303-4BFC-88F3-97A633E747E4}"/>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07</a:t>
            </a:r>
          </a:p>
        </p:txBody>
      </p:sp>
      <p:sp>
        <p:nvSpPr>
          <p:cNvPr id="5" name="01">
            <a:extLst xmlns:a="http://schemas.openxmlformats.org/drawingml/2006/main">
              <a:ext uri="{FF2B5EF4-FFF2-40B4-BE49-F238E27FC236}">
                <a16:creationId xmlns:a16="http://schemas.microsoft.com/office/drawing/2014/main" id="{A81EA2E6-2D9F-445D-869E-94EA08C06A9B}"/>
              </a:ext>
            </a:extLst>
          </p:cNvPr>
          <p:cNvSpPr>
            <a:spLocks xmlns:a="http://schemas.openxmlformats.org/drawingml/2006/main" noGrp="1"/>
          </p:cNvSpPr>
          <p:nvPr/>
        </p:nvSpPr>
        <p:spPr>
          <a:xfrm xmlns:a="http://schemas.openxmlformats.org/drawingml/2006/main">
            <a:off x="609600" y="22764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32694F"/>
                </a:solidFill>
                <a:latin typeface="Helvetica Neue"/>
                <a:ea typeface="Helvetica Neue"/>
                <a:cs typeface="Helvetica Neue"/>
              </a:defRPr>
            </a:pPr>
            <a:r>
              <a:rPr sz="2025" b="1">
                <a:solidFill>
                  <a:srgbClr val="32694F"/>
                </a:solidFill>
                <a:latin typeface="Helvetica Neue"/>
                <a:ea typeface="Helvetica Neue"/>
                <a:cs typeface="Helvetica Neue"/>
              </a:rPr>
              <a:t>01</a:t>
            </a:r>
          </a:p>
        </p:txBody>
      </p:sp>
      <p:sp>
        <p:nvSpPr>
          <p:cNvPr id="6" name="Normalize skills from the profile and learning h">
            <a:extLst xmlns:a="http://schemas.openxmlformats.org/drawingml/2006/main">
              <a:ext uri="{FF2B5EF4-FFF2-40B4-BE49-F238E27FC236}">
                <a16:creationId xmlns:a16="http://schemas.microsoft.com/office/drawing/2014/main" id="{407F6293-F287-4DA9-BFFC-86A15F8F9455}"/>
              </a:ext>
            </a:extLst>
          </p:cNvPr>
          <p:cNvSpPr>
            <a:spLocks xmlns:a="http://schemas.openxmlformats.org/drawingml/2006/main" noGrp="1"/>
          </p:cNvSpPr>
          <p:nvPr/>
        </p:nvSpPr>
        <p:spPr>
          <a:xfrm xmlns:a="http://schemas.openxmlformats.org/drawingml/2006/main">
            <a:off x="1409700" y="2276475"/>
            <a:ext cx="10172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Normalize skills from the profile and learning history.</a:t>
            </a:r>
          </a:p>
        </p:txBody>
      </p:sp>
      <p:sp>
        <p:nvSpPr>
          <p:cNvPr id="7" name="02">
            <a:extLst xmlns:a="http://schemas.openxmlformats.org/drawingml/2006/main">
              <a:ext uri="{FF2B5EF4-FFF2-40B4-BE49-F238E27FC236}">
                <a16:creationId xmlns:a16="http://schemas.microsoft.com/office/drawing/2014/main" id="{E569A22B-5DAE-49BD-B1F0-64883644236E}"/>
              </a:ext>
            </a:extLst>
          </p:cNvPr>
          <p:cNvSpPr>
            <a:spLocks xmlns:a="http://schemas.openxmlformats.org/drawingml/2006/main" noGrp="1"/>
          </p:cNvSpPr>
          <p:nvPr/>
        </p:nvSpPr>
        <p:spPr>
          <a:xfrm xmlns:a="http://schemas.openxmlformats.org/drawingml/2006/main">
            <a:off x="609600" y="305752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32694F"/>
                </a:solidFill>
                <a:latin typeface="Helvetica Neue"/>
                <a:ea typeface="Helvetica Neue"/>
                <a:cs typeface="Helvetica Neue"/>
              </a:defRPr>
            </a:pPr>
            <a:r>
              <a:rPr sz="2025" b="1">
                <a:solidFill>
                  <a:srgbClr val="32694F"/>
                </a:solidFill>
                <a:latin typeface="Helvetica Neue"/>
                <a:ea typeface="Helvetica Neue"/>
                <a:cs typeface="Helvetica Neue"/>
              </a:rPr>
              <a:t>02</a:t>
            </a:r>
          </a:p>
        </p:txBody>
      </p:sp>
      <p:sp>
        <p:nvSpPr>
          <p:cNvPr id="8" name="Build target skills from roles, goals and intere">
            <a:extLst xmlns:a="http://schemas.openxmlformats.org/drawingml/2006/main">
              <a:ext uri="{FF2B5EF4-FFF2-40B4-BE49-F238E27FC236}">
                <a16:creationId xmlns:a16="http://schemas.microsoft.com/office/drawing/2014/main" id="{454F5701-4563-481B-834E-A8C6BCC97548}"/>
              </a:ext>
            </a:extLst>
          </p:cNvPr>
          <p:cNvSpPr>
            <a:spLocks xmlns:a="http://schemas.openxmlformats.org/drawingml/2006/main" noGrp="1"/>
          </p:cNvSpPr>
          <p:nvPr/>
        </p:nvSpPr>
        <p:spPr>
          <a:xfrm xmlns:a="http://schemas.openxmlformats.org/drawingml/2006/main">
            <a:off x="1409700" y="3057525"/>
            <a:ext cx="10172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Build target skills from roles, goals and interests.</a:t>
            </a:r>
          </a:p>
        </p:txBody>
      </p:sp>
      <p:sp>
        <p:nvSpPr>
          <p:cNvPr id="9" name="03">
            <a:extLst xmlns:a="http://schemas.openxmlformats.org/drawingml/2006/main">
              <a:ext uri="{FF2B5EF4-FFF2-40B4-BE49-F238E27FC236}">
                <a16:creationId xmlns:a16="http://schemas.microsoft.com/office/drawing/2014/main" id="{12A91129-11AA-46BC-99EB-4654A5513E8E}"/>
              </a:ext>
            </a:extLst>
          </p:cNvPr>
          <p:cNvSpPr>
            <a:spLocks xmlns:a="http://schemas.openxmlformats.org/drawingml/2006/main" noGrp="1"/>
          </p:cNvSpPr>
          <p:nvPr/>
        </p:nvSpPr>
        <p:spPr>
          <a:xfrm xmlns:a="http://schemas.openxmlformats.org/drawingml/2006/main">
            <a:off x="609600" y="38385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32694F"/>
                </a:solidFill>
                <a:latin typeface="Helvetica Neue"/>
                <a:ea typeface="Helvetica Neue"/>
                <a:cs typeface="Helvetica Neue"/>
              </a:defRPr>
            </a:pPr>
            <a:r>
              <a:rPr sz="2025" b="1">
                <a:solidFill>
                  <a:srgbClr val="32694F"/>
                </a:solidFill>
                <a:latin typeface="Helvetica Neue"/>
                <a:ea typeface="Helvetica Neue"/>
                <a:cs typeface="Helvetica Neue"/>
              </a:rPr>
              <a:t>03</a:t>
            </a:r>
          </a:p>
        </p:txBody>
      </p:sp>
      <p:sp>
        <p:nvSpPr>
          <p:cNvPr id="10" name="Remove current skills to identify the remaining ">
            <a:extLst xmlns:a="http://schemas.openxmlformats.org/drawingml/2006/main">
              <a:ext uri="{FF2B5EF4-FFF2-40B4-BE49-F238E27FC236}">
                <a16:creationId xmlns:a16="http://schemas.microsoft.com/office/drawing/2014/main" id="{A89F1707-E886-4B19-A55C-366AAE3DD9BB}"/>
              </a:ext>
            </a:extLst>
          </p:cNvPr>
          <p:cNvSpPr>
            <a:spLocks xmlns:a="http://schemas.openxmlformats.org/drawingml/2006/main" noGrp="1"/>
          </p:cNvSpPr>
          <p:nvPr/>
        </p:nvSpPr>
        <p:spPr>
          <a:xfrm xmlns:a="http://schemas.openxmlformats.org/drawingml/2006/main">
            <a:off x="1409700" y="3838575"/>
            <a:ext cx="10172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Remove current skills to identify the remaining gaps.</a:t>
            </a:r>
          </a:p>
        </p:txBody>
      </p:sp>
      <p:sp>
        <p:nvSpPr>
          <p:cNvPr id="11" name="04">
            <a:extLst xmlns:a="http://schemas.openxmlformats.org/drawingml/2006/main">
              <a:ext uri="{FF2B5EF4-FFF2-40B4-BE49-F238E27FC236}">
                <a16:creationId xmlns:a16="http://schemas.microsoft.com/office/drawing/2014/main" id="{57EDB7C1-EA18-45AF-A1EB-0E4EF76A9ED0}"/>
              </a:ext>
            </a:extLst>
          </p:cNvPr>
          <p:cNvSpPr>
            <a:spLocks xmlns:a="http://schemas.openxmlformats.org/drawingml/2006/main" noGrp="1"/>
          </p:cNvSpPr>
          <p:nvPr/>
        </p:nvSpPr>
        <p:spPr>
          <a:xfrm xmlns:a="http://schemas.openxmlformats.org/drawingml/2006/main">
            <a:off x="609600" y="461962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32694F"/>
                </a:solidFill>
                <a:latin typeface="Helvetica Neue"/>
                <a:ea typeface="Helvetica Neue"/>
                <a:cs typeface="Helvetica Neue"/>
              </a:defRPr>
            </a:pPr>
            <a:r>
              <a:rPr sz="2025" b="1">
                <a:solidFill>
                  <a:srgbClr val="32694F"/>
                </a:solidFill>
                <a:latin typeface="Helvetica Neue"/>
                <a:ea typeface="Helvetica Neue"/>
                <a:cs typeface="Helvetica Neue"/>
              </a:rPr>
              <a:t>04</a:t>
            </a:r>
          </a:p>
        </p:txBody>
      </p:sp>
      <p:sp>
        <p:nvSpPr>
          <p:cNvPr id="12" name="Choose priorities, placing foundations before de">
            <a:extLst xmlns:a="http://schemas.openxmlformats.org/drawingml/2006/main">
              <a:ext uri="{FF2B5EF4-FFF2-40B4-BE49-F238E27FC236}">
                <a16:creationId xmlns:a16="http://schemas.microsoft.com/office/drawing/2014/main" id="{33EC198C-3FF8-4C58-BFAD-C862578058F9}"/>
              </a:ext>
            </a:extLst>
          </p:cNvPr>
          <p:cNvSpPr>
            <a:spLocks xmlns:a="http://schemas.openxmlformats.org/drawingml/2006/main" noGrp="1"/>
          </p:cNvSpPr>
          <p:nvPr/>
        </p:nvSpPr>
        <p:spPr>
          <a:xfrm xmlns:a="http://schemas.openxmlformats.org/drawingml/2006/main">
            <a:off x="1409700" y="4619625"/>
            <a:ext cx="10172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Choose priorities, placing foundations before dependent skills.</a:t>
            </a:r>
          </a:p>
        </p:txBody>
      </p:sp>
      <p:sp>
        <p:nvSpPr>
          <p:cNvPr id="13" name="Ollama may select and order up to five existing ">
            <a:extLst xmlns:a="http://schemas.openxmlformats.org/drawingml/2006/main">
              <a:ext uri="{FF2B5EF4-FFF2-40B4-BE49-F238E27FC236}">
                <a16:creationId xmlns:a16="http://schemas.microsoft.com/office/drawing/2014/main" id="{EA583A4F-D873-4BE5-9965-6FA7E33CA42E}"/>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Ollama may select and order up to five existing gaps. Validation keeps the choices within that set.</a:t>
            </a:r>
          </a:p>
        </p:txBody>
      </p:sp>
    </p:spTree>
    <p:extLst>
      <p:ext uri="{BB962C8B-B14F-4D97-AF65-F5344CB8AC3E}">
        <p14:creationId xmlns:p14="http://schemas.microsoft.com/office/powerpoint/2010/main" val="543467888"/>
      </p:ext>
    </p:extLst>
  </p:cSld>
</p:sld>
</file>

<file path=ppt/slides/slide8.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1" name="SKILLSCOUT AI">
            <a:extLst xmlns:a="http://schemas.openxmlformats.org/drawingml/2006/main">
              <a:ext uri="{FF2B5EF4-FFF2-40B4-BE49-F238E27FC236}">
                <a16:creationId xmlns:a16="http://schemas.microsoft.com/office/drawing/2014/main" id="{1D83D8A5-E015-4879-80D2-C27B088A76DF}"/>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SKILLSCOUT AI</a:t>
            </a:r>
          </a:p>
        </p:txBody>
      </p:sp>
      <p:sp>
        <p:nvSpPr>
          <p:cNvPr id="2" name="Agent 2: learning trend discovery">
            <a:extLst xmlns:a="http://schemas.openxmlformats.org/drawingml/2006/main">
              <a:ext uri="{FF2B5EF4-FFF2-40B4-BE49-F238E27FC236}">
                <a16:creationId xmlns:a16="http://schemas.microsoft.com/office/drawing/2014/main" id="{89C39C48-AB2E-45E7-B7D2-77777151743A}"/>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Agent 2: learning trend discovery</a:t>
            </a:r>
          </a:p>
        </p:txBody>
      </p:sp>
      <p:sp>
        <p:nvSpPr>
          <p:cNvPr id="3" name="discover_trends()">
            <a:extLst xmlns:a="http://schemas.openxmlformats.org/drawingml/2006/main">
              <a:ext uri="{FF2B5EF4-FFF2-40B4-BE49-F238E27FC236}">
                <a16:creationId xmlns:a16="http://schemas.microsoft.com/office/drawing/2014/main" id="{273C4620-2E5C-48D9-9F64-8BB072812F8C}"/>
              </a:ext>
            </a:extLst>
          </p:cNvPr>
          <p:cNvSpPr>
            <a:spLocks xmlns:a="http://schemas.openxmlformats.org/drawingml/2006/main" noGrp="1"/>
          </p:cNvSpPr>
          <p:nvPr/>
        </p:nvSpPr>
        <p:spPr>
          <a:xfrm xmlns:a="http://schemas.openxmlformats.org/drawingml/2006/main">
            <a:off x="628650" y="1638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63736B"/>
                </a:solidFill>
                <a:latin typeface="Helvetica Neue"/>
                <a:ea typeface="Helvetica Neue"/>
                <a:cs typeface="Helvetica Neue"/>
              </a:defRPr>
            </a:pPr>
            <a:r>
              <a:rPr sz="1800" b="0">
                <a:solidFill>
                  <a:srgbClr val="63736B"/>
                </a:solidFill>
                <a:latin typeface="Helvetica Neue"/>
                <a:ea typeface="Helvetica Neue"/>
                <a:cs typeface="Helvetica Neue"/>
              </a:rPr>
              <a:t>discover_trends()</a:t>
            </a:r>
          </a:p>
        </p:txBody>
      </p:sp>
      <p:sp>
        <p:nvSpPr>
          <p:cNvPr id="4" name="08">
            <a:extLst xmlns:a="http://schemas.openxmlformats.org/drawingml/2006/main">
              <a:ext uri="{FF2B5EF4-FFF2-40B4-BE49-F238E27FC236}">
                <a16:creationId xmlns:a16="http://schemas.microsoft.com/office/drawing/2014/main" id="{CA494CF0-DEB3-44D0-BAB3-EC5721E26245}"/>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08</a:t>
            </a:r>
          </a:p>
        </p:txBody>
      </p:sp>
      <p:sp>
        <p:nvSpPr>
          <p:cNvPr id="5" name="“I completed Azure AI Fundamentals.”">
            <a:extLst xmlns:a="http://schemas.openxmlformats.org/drawingml/2006/main">
              <a:ext uri="{FF2B5EF4-FFF2-40B4-BE49-F238E27FC236}">
                <a16:creationId xmlns:a16="http://schemas.microsoft.com/office/drawing/2014/main" id="{CF4F2BED-A2FA-4FC1-BE9E-4B04415C0B20}"/>
              </a:ext>
            </a:extLst>
          </p:cNvPr>
          <p:cNvSpPr>
            <a:spLocks xmlns:a="http://schemas.openxmlformats.org/drawingml/2006/main" noGrp="1"/>
          </p:cNvSpPr>
          <p:nvPr/>
        </p:nvSpPr>
        <p:spPr>
          <a:xfrm xmlns:a="http://schemas.openxmlformats.org/drawingml/2006/main">
            <a:off x="619125" y="2143125"/>
            <a:ext cx="10858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925" b="1">
                <a:solidFill>
                  <a:srgbClr val="193E35"/>
                </a:solidFill>
                <a:latin typeface="Helvetica Neue"/>
                <a:ea typeface="Helvetica Neue"/>
                <a:cs typeface="Helvetica Neue"/>
              </a:defRPr>
            </a:pPr>
            <a:r>
              <a:rPr sz="2925" b="1">
                <a:solidFill>
                  <a:srgbClr val="193E35"/>
                </a:solidFill>
                <a:latin typeface="Helvetica Neue"/>
                <a:ea typeface="Helvetica Neue"/>
                <a:cs typeface="Helvetica Neue"/>
              </a:rPr>
              <a:t>“I completed Azure AI Fundamentals.”</a:t>
            </a:r>
          </a:p>
        </p:txBody>
      </p:sp>
      <p:sp>
        <p:nvSpPr>
          <p:cNvPr id="6" name="NLP extraction">
            <a:extLst xmlns:a="http://schemas.openxmlformats.org/drawingml/2006/main">
              <a:ext uri="{FF2B5EF4-FFF2-40B4-BE49-F238E27FC236}">
                <a16:creationId xmlns:a16="http://schemas.microsoft.com/office/drawing/2014/main" id="{99554151-437B-489D-9226-853C17DEFA3E}"/>
              </a:ext>
            </a:extLst>
          </p:cNvPr>
          <p:cNvSpPr>
            <a:spLocks xmlns:a="http://schemas.openxmlformats.org/drawingml/2006/main" noGrp="1"/>
          </p:cNvSpPr>
          <p:nvPr/>
        </p:nvSpPr>
        <p:spPr>
          <a:xfrm xmlns:a="http://schemas.openxmlformats.org/drawingml/2006/main">
            <a:off x="619125" y="32480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NLP extraction</a:t>
            </a:r>
          </a:p>
        </p:txBody>
      </p:sp>
      <p:sp>
        <p:nvSpPr>
          <p:cNvPr id="7" name="Recognize known skills, certifications, course n">
            <a:extLst xmlns:a="http://schemas.openxmlformats.org/drawingml/2006/main">
              <a:ext uri="{FF2B5EF4-FFF2-40B4-BE49-F238E27FC236}">
                <a16:creationId xmlns:a16="http://schemas.microsoft.com/office/drawing/2014/main" id="{35908BE8-46BA-411E-BD37-8194DE70AC8F}"/>
              </a:ext>
            </a:extLst>
          </p:cNvPr>
          <p:cNvSpPr>
            <a:spLocks xmlns:a="http://schemas.openxmlformats.org/drawingml/2006/main" noGrp="1"/>
          </p:cNvSpPr>
          <p:nvPr/>
        </p:nvSpPr>
        <p:spPr>
          <a:xfrm xmlns:a="http://schemas.openxmlformats.org/drawingml/2006/main">
            <a:off x="619125" y="379095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Recognize known skills, certifications, course names and providers using dictionary matching.</a:t>
            </a:r>
          </a:p>
        </p:txBody>
      </p:sp>
      <p:sp>
        <p:nvSpPr>
          <p:cNvPr id="8" name="Trend evidence">
            <a:extLst xmlns:a="http://schemas.openxmlformats.org/drawingml/2006/main">
              <a:ext uri="{FF2B5EF4-FFF2-40B4-BE49-F238E27FC236}">
                <a16:creationId xmlns:a16="http://schemas.microsoft.com/office/drawing/2014/main" id="{C2200013-571D-472A-BE36-521352FD21B3}"/>
              </a:ext>
            </a:extLst>
          </p:cNvPr>
          <p:cNvSpPr>
            <a:spLocks xmlns:a="http://schemas.openxmlformats.org/drawingml/2006/main" noGrp="1"/>
          </p:cNvSpPr>
          <p:nvPr/>
        </p:nvSpPr>
        <p:spPr>
          <a:xfrm xmlns:a="http://schemas.openxmlformats.org/drawingml/2006/main">
            <a:off x="6448425" y="32480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Trend evidence</a:t>
            </a:r>
          </a:p>
        </p:txBody>
      </p:sp>
      <p:sp>
        <p:nvSpPr>
          <p:cNvPr id="9" name="Compare mentions in two 14-day windows. Return g">
            <a:extLst xmlns:a="http://schemas.openxmlformats.org/drawingml/2006/main">
              <a:ext uri="{FF2B5EF4-FFF2-40B4-BE49-F238E27FC236}">
                <a16:creationId xmlns:a16="http://schemas.microsoft.com/office/drawing/2014/main" id="{15CB1F59-574B-43C0-AB71-2C1C171272CA}"/>
              </a:ext>
            </a:extLst>
          </p:cNvPr>
          <p:cNvSpPr>
            <a:spLocks xmlns:a="http://schemas.openxmlformats.org/drawingml/2006/main" noGrp="1"/>
          </p:cNvSpPr>
          <p:nvPr/>
        </p:nvSpPr>
        <p:spPr>
          <a:xfrm xmlns:a="http://schemas.openxmlformats.org/drawingml/2006/main">
            <a:off x="6448425" y="379095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Compare mentions in two 14-day windows. Return growth, related skills and source snippets.</a:t>
            </a:r>
          </a:p>
        </p:txBody>
      </p:sp>
      <p:sp>
        <p:nvSpPr>
          <p:cNvPr id="10" name="These trends describe the supplied learning corp">
            <a:extLst xmlns:a="http://schemas.openxmlformats.org/drawingml/2006/main">
              <a:ext uri="{FF2B5EF4-FFF2-40B4-BE49-F238E27FC236}">
                <a16:creationId xmlns:a16="http://schemas.microsoft.com/office/drawing/2014/main" id="{47DA2988-7308-46BF-B747-8EED746B46B0}"/>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These trends describe the supplied learning corpus. They do not establish labor-market demand.</a:t>
            </a:r>
          </a:p>
        </p:txBody>
      </p:sp>
    </p:spTree>
    <p:extLst>
      <p:ext uri="{BB962C8B-B14F-4D97-AF65-F5344CB8AC3E}">
        <p14:creationId xmlns:p14="http://schemas.microsoft.com/office/powerpoint/2010/main" val="59523247"/>
      </p:ext>
    </p:extLst>
  </p:cSld>
</p:sld>
</file>

<file path=ppt/slides/slide9.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2" name="SKILLSCOUT AI">
            <a:extLst xmlns:a="http://schemas.openxmlformats.org/drawingml/2006/main">
              <a:ext uri="{FF2B5EF4-FFF2-40B4-BE49-F238E27FC236}">
                <a16:creationId xmlns:a16="http://schemas.microsoft.com/office/drawing/2014/main" id="{2C6FD50F-D13D-4ED6-A3CA-F7071C12BE65}"/>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SKILLSCOUT AI</a:t>
            </a:r>
          </a:p>
        </p:txBody>
      </p:sp>
      <p:sp>
        <p:nvSpPr>
          <p:cNvPr id="2" name="Agent 3: training opportunity retrieval">
            <a:extLst xmlns:a="http://schemas.openxmlformats.org/drawingml/2006/main">
              <a:ext uri="{FF2B5EF4-FFF2-40B4-BE49-F238E27FC236}">
                <a16:creationId xmlns:a16="http://schemas.microsoft.com/office/drawing/2014/main" id="{9F3F1BD7-F26D-4658-A8D6-DBC73024F399}"/>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Agent 3: training opportunity retrieval</a:t>
            </a:r>
          </a:p>
        </p:txBody>
      </p:sp>
      <p:sp>
        <p:nvSpPr>
          <p:cNvPr id="3" name="retrieve_courses() and HybridIndex">
            <a:extLst xmlns:a="http://schemas.openxmlformats.org/drawingml/2006/main">
              <a:ext uri="{FF2B5EF4-FFF2-40B4-BE49-F238E27FC236}">
                <a16:creationId xmlns:a16="http://schemas.microsoft.com/office/drawing/2014/main" id="{E1B6E7E7-685B-4669-A40D-48AEC62DCF1C}"/>
              </a:ext>
            </a:extLst>
          </p:cNvPr>
          <p:cNvSpPr>
            <a:spLocks xmlns:a="http://schemas.openxmlformats.org/drawingml/2006/main" noGrp="1"/>
          </p:cNvSpPr>
          <p:nvPr/>
        </p:nvSpPr>
        <p:spPr>
          <a:xfrm xmlns:a="http://schemas.openxmlformats.org/drawingml/2006/main">
            <a:off x="628650" y="1638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63736B"/>
                </a:solidFill>
                <a:latin typeface="Helvetica Neue"/>
                <a:ea typeface="Helvetica Neue"/>
                <a:cs typeface="Helvetica Neue"/>
              </a:defRPr>
            </a:pPr>
            <a:r>
              <a:rPr sz="1800" b="0">
                <a:solidFill>
                  <a:srgbClr val="63736B"/>
                </a:solidFill>
                <a:latin typeface="Helvetica Neue"/>
                <a:ea typeface="Helvetica Neue"/>
                <a:cs typeface="Helvetica Neue"/>
              </a:rPr>
              <a:t>retrieve_courses() and HybridIndex</a:t>
            </a:r>
          </a:p>
        </p:txBody>
      </p:sp>
      <p:sp>
        <p:nvSpPr>
          <p:cNvPr id="4" name="09">
            <a:extLst xmlns:a="http://schemas.openxmlformats.org/drawingml/2006/main">
              <a:ext uri="{FF2B5EF4-FFF2-40B4-BE49-F238E27FC236}">
                <a16:creationId xmlns:a16="http://schemas.microsoft.com/office/drawing/2014/main" id="{CFCD54E5-2265-49DE-AFF5-449FD1F83660}"/>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09</a:t>
            </a:r>
          </a:p>
        </p:txBody>
      </p:sp>
      <p:sp>
        <p:nvSpPr>
          <p:cNvPr id="5" name="62%">
            <a:extLst xmlns:a="http://schemas.openxmlformats.org/drawingml/2006/main">
              <a:ext uri="{FF2B5EF4-FFF2-40B4-BE49-F238E27FC236}">
                <a16:creationId xmlns:a16="http://schemas.microsoft.com/office/drawing/2014/main" id="{E96FE28A-EFBC-4142-B287-4445DB56C9E4}"/>
              </a:ext>
            </a:extLst>
          </p:cNvPr>
          <p:cNvSpPr>
            <a:spLocks xmlns:a="http://schemas.openxmlformats.org/drawingml/2006/main" noGrp="1"/>
          </p:cNvSpPr>
          <p:nvPr/>
        </p:nvSpPr>
        <p:spPr>
          <a:xfrm xmlns:a="http://schemas.openxmlformats.org/drawingml/2006/main">
            <a:off x="609600" y="2352675"/>
            <a:ext cx="45243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150" b="1">
                <a:solidFill>
                  <a:srgbClr val="32694F"/>
                </a:solidFill>
                <a:latin typeface="Helvetica Neue"/>
                <a:ea typeface="Helvetica Neue"/>
                <a:cs typeface="Helvetica Neue"/>
              </a:defRPr>
            </a:pPr>
            <a:r>
              <a:rPr sz="6150" b="1">
                <a:solidFill>
                  <a:srgbClr val="32694F"/>
                </a:solidFill>
                <a:latin typeface="Helvetica Neue"/>
                <a:ea typeface="Helvetica Neue"/>
                <a:cs typeface="Helvetica Neue"/>
              </a:rPr>
              <a:t>62%</a:t>
            </a:r>
          </a:p>
        </p:txBody>
      </p:sp>
      <p:sp>
        <p:nvSpPr>
          <p:cNvPr id="6" name="BM25 keyword relevance">
            <a:extLst xmlns:a="http://schemas.openxmlformats.org/drawingml/2006/main">
              <a:ext uri="{FF2B5EF4-FFF2-40B4-BE49-F238E27FC236}">
                <a16:creationId xmlns:a16="http://schemas.microsoft.com/office/drawing/2014/main" id="{BE375937-69BD-46F1-BFF0-E9ABAAD5A35C}"/>
              </a:ext>
            </a:extLst>
          </p:cNvPr>
          <p:cNvSpPr>
            <a:spLocks xmlns:a="http://schemas.openxmlformats.org/drawingml/2006/main" noGrp="1"/>
          </p:cNvSpPr>
          <p:nvPr/>
        </p:nvSpPr>
        <p:spPr>
          <a:xfrm xmlns:a="http://schemas.openxmlformats.org/drawingml/2006/main">
            <a:off x="609600" y="357187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93E35"/>
                </a:solidFill>
                <a:latin typeface="Helvetica Neue"/>
                <a:ea typeface="Helvetica Neue"/>
                <a:cs typeface="Helvetica Neue"/>
              </a:defRPr>
            </a:pPr>
            <a:r>
              <a:rPr sz="2250" b="1">
                <a:solidFill>
                  <a:srgbClr val="193E35"/>
                </a:solidFill>
                <a:latin typeface="Helvetica Neue"/>
                <a:ea typeface="Helvetica Neue"/>
                <a:cs typeface="Helvetica Neue"/>
              </a:rPr>
              <a:t>BM25 keyword relevance</a:t>
            </a:r>
          </a:p>
        </p:txBody>
      </p:sp>
      <p:sp>
        <p:nvSpPr>
          <p:cNvPr id="7" name="Rewards useful matching terms and accounts for d">
            <a:extLst xmlns:a="http://schemas.openxmlformats.org/drawingml/2006/main">
              <a:ext uri="{FF2B5EF4-FFF2-40B4-BE49-F238E27FC236}">
                <a16:creationId xmlns:a16="http://schemas.microsoft.com/office/drawing/2014/main" id="{2EECBEC5-8FC1-4F1A-8C21-DD4480966500}"/>
              </a:ext>
            </a:extLst>
          </p:cNvPr>
          <p:cNvSpPr>
            <a:spLocks xmlns:a="http://schemas.openxmlformats.org/drawingml/2006/main" noGrp="1"/>
          </p:cNvSpPr>
          <p:nvPr/>
        </p:nvSpPr>
        <p:spPr>
          <a:xfrm xmlns:a="http://schemas.openxmlformats.org/drawingml/2006/main">
            <a:off x="609600" y="4305300"/>
            <a:ext cx="47720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Rewards useful matching terms and accounts for document length.</a:t>
            </a:r>
          </a:p>
        </p:txBody>
      </p:sp>
      <p:sp>
        <p:nvSpPr>
          <p:cNvPr id="8" name="38%">
            <a:extLst xmlns:a="http://schemas.openxmlformats.org/drawingml/2006/main">
              <a:ext uri="{FF2B5EF4-FFF2-40B4-BE49-F238E27FC236}">
                <a16:creationId xmlns:a16="http://schemas.microsoft.com/office/drawing/2014/main" id="{75A3424E-35D3-4442-AB70-061838C2DB73}"/>
              </a:ext>
            </a:extLst>
          </p:cNvPr>
          <p:cNvSpPr>
            <a:spLocks xmlns:a="http://schemas.openxmlformats.org/drawingml/2006/main" noGrp="1"/>
          </p:cNvSpPr>
          <p:nvPr/>
        </p:nvSpPr>
        <p:spPr>
          <a:xfrm xmlns:a="http://schemas.openxmlformats.org/drawingml/2006/main">
            <a:off x="6496050" y="2352675"/>
            <a:ext cx="45243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150" b="1">
                <a:solidFill>
                  <a:srgbClr val="32694F"/>
                </a:solidFill>
                <a:latin typeface="Helvetica Neue"/>
                <a:ea typeface="Helvetica Neue"/>
                <a:cs typeface="Helvetica Neue"/>
              </a:defRPr>
            </a:pPr>
            <a:r>
              <a:rPr sz="6150" b="1">
                <a:solidFill>
                  <a:srgbClr val="32694F"/>
                </a:solidFill>
                <a:latin typeface="Helvetica Neue"/>
                <a:ea typeface="Helvetica Neue"/>
                <a:cs typeface="Helvetica Neue"/>
              </a:rPr>
              <a:t>38%</a:t>
            </a:r>
          </a:p>
        </p:txBody>
      </p:sp>
      <p:sp>
        <p:nvSpPr>
          <p:cNvPr id="9" name="TF-IDF cosine similarity">
            <a:extLst xmlns:a="http://schemas.openxmlformats.org/drawingml/2006/main">
              <a:ext uri="{FF2B5EF4-FFF2-40B4-BE49-F238E27FC236}">
                <a16:creationId xmlns:a16="http://schemas.microsoft.com/office/drawing/2014/main" id="{F90FDBD1-5A4A-422A-8697-20D3D556DE9A}"/>
              </a:ext>
            </a:extLst>
          </p:cNvPr>
          <p:cNvSpPr>
            <a:spLocks xmlns:a="http://schemas.openxmlformats.org/drawingml/2006/main" noGrp="1"/>
          </p:cNvSpPr>
          <p:nvPr/>
        </p:nvSpPr>
        <p:spPr>
          <a:xfrm xmlns:a="http://schemas.openxmlformats.org/drawingml/2006/main">
            <a:off x="6496050" y="357187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93E35"/>
                </a:solidFill>
                <a:latin typeface="Helvetica Neue"/>
                <a:ea typeface="Helvetica Neue"/>
                <a:cs typeface="Helvetica Neue"/>
              </a:defRPr>
            </a:pPr>
            <a:r>
              <a:rPr sz="2250" b="1">
                <a:solidFill>
                  <a:srgbClr val="193E35"/>
                </a:solidFill>
                <a:latin typeface="Helvetica Neue"/>
                <a:ea typeface="Helvetica Neue"/>
                <a:cs typeface="Helvetica Neue"/>
              </a:rPr>
              <a:t>TF-IDF cosine similarity</a:t>
            </a:r>
          </a:p>
        </p:txBody>
      </p:sp>
      <p:sp>
        <p:nvSpPr>
          <p:cNvPr id="10" name="Compares weighted word patterns in the query and">
            <a:extLst xmlns:a="http://schemas.openxmlformats.org/drawingml/2006/main">
              <a:ext uri="{FF2B5EF4-FFF2-40B4-BE49-F238E27FC236}">
                <a16:creationId xmlns:a16="http://schemas.microsoft.com/office/drawing/2014/main" id="{ED5867B1-76C4-4A7D-8291-86A2CF85EABB}"/>
              </a:ext>
            </a:extLst>
          </p:cNvPr>
          <p:cNvSpPr>
            <a:spLocks xmlns:a="http://schemas.openxmlformats.org/drawingml/2006/main" noGrp="1"/>
          </p:cNvSpPr>
          <p:nvPr/>
        </p:nvSpPr>
        <p:spPr>
          <a:xfrm xmlns:a="http://schemas.openxmlformats.org/drawingml/2006/main">
            <a:off x="6496050" y="4305300"/>
            <a:ext cx="476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Compares weighted word patterns in the query and course records.</a:t>
            </a:r>
          </a:p>
        </p:txBody>
      </p:sp>
      <p:sp>
        <p:nvSpPr>
          <p:cNvPr id="11" name="Scores are normalized before blending. Skill cov">
            <a:extLst xmlns:a="http://schemas.openxmlformats.org/drawingml/2006/main">
              <a:ext uri="{FF2B5EF4-FFF2-40B4-BE49-F238E27FC236}">
                <a16:creationId xmlns:a16="http://schemas.microsoft.com/office/drawing/2014/main" id="{13262CD6-DE15-4030-9E44-7C1A882FD60A}"/>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Scores are normalized before blending. Skill coverage contributes to the final retrieval score.</a:t>
            </a:r>
          </a:p>
        </p:txBody>
      </p:sp>
    </p:spTree>
    <p:extLst>
      <p:ext uri="{BB962C8B-B14F-4D97-AF65-F5344CB8AC3E}">
        <p14:creationId xmlns:p14="http://schemas.microsoft.com/office/powerpoint/2010/main" val="794789401"/>
      </p:ext>
    </p:extLst>
  </p:cSld>
</p:sld>
</file>

<file path=ppt/slides/slide10.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1" name="SKILLSCOUT AI">
            <a:extLst xmlns:a="http://schemas.openxmlformats.org/drawingml/2006/main">
              <a:ext uri="{FF2B5EF4-FFF2-40B4-BE49-F238E27FC236}">
                <a16:creationId xmlns:a16="http://schemas.microsoft.com/office/drawing/2014/main" id="{9F99B70D-98CF-4314-8B76-85860F92D013}"/>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SKILLSCOUT AI</a:t>
            </a:r>
          </a:p>
        </p:txBody>
      </p:sp>
      <p:sp>
        <p:nvSpPr>
          <p:cNvPr id="2" name="Agent 4: recommendations and priorities">
            <a:extLst xmlns:a="http://schemas.openxmlformats.org/drawingml/2006/main">
              <a:ext uri="{FF2B5EF4-FFF2-40B4-BE49-F238E27FC236}">
                <a16:creationId xmlns:a16="http://schemas.microsoft.com/office/drawing/2014/main" id="{ED53698D-9838-4F77-A814-CA7BAFB9553F}"/>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Agent 4: recommendations and priorities</a:t>
            </a:r>
          </a:p>
        </p:txBody>
      </p:sp>
      <p:sp>
        <p:nvSpPr>
          <p:cNvPr id="3" name="recommend()">
            <a:extLst xmlns:a="http://schemas.openxmlformats.org/drawingml/2006/main">
              <a:ext uri="{FF2B5EF4-FFF2-40B4-BE49-F238E27FC236}">
                <a16:creationId xmlns:a16="http://schemas.microsoft.com/office/drawing/2014/main" id="{E17F37E4-F582-4ECD-9E73-F4937E169E6B}"/>
              </a:ext>
            </a:extLst>
          </p:cNvPr>
          <p:cNvSpPr>
            <a:spLocks xmlns:a="http://schemas.openxmlformats.org/drawingml/2006/main" noGrp="1"/>
          </p:cNvSpPr>
          <p:nvPr/>
        </p:nvSpPr>
        <p:spPr>
          <a:xfrm xmlns:a="http://schemas.openxmlformats.org/drawingml/2006/main">
            <a:off x="628650" y="1638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63736B"/>
                </a:solidFill>
                <a:latin typeface="Helvetica Neue"/>
                <a:ea typeface="Helvetica Neue"/>
                <a:cs typeface="Helvetica Neue"/>
              </a:defRPr>
            </a:pPr>
            <a:r>
              <a:rPr sz="1800" b="0">
                <a:solidFill>
                  <a:srgbClr val="63736B"/>
                </a:solidFill>
                <a:latin typeface="Helvetica Neue"/>
                <a:ea typeface="Helvetica Neue"/>
                <a:cs typeface="Helvetica Neue"/>
              </a:rPr>
              <a:t>recommend()</a:t>
            </a:r>
          </a:p>
        </p:txBody>
      </p:sp>
      <p:sp>
        <p:nvSpPr>
          <p:cNvPr id="4" name="10">
            <a:extLst xmlns:a="http://schemas.openxmlformats.org/drawingml/2006/main">
              <a:ext uri="{FF2B5EF4-FFF2-40B4-BE49-F238E27FC236}">
                <a16:creationId xmlns:a16="http://schemas.microsoft.com/office/drawing/2014/main" id="{E2A58168-1517-4489-9788-0873538F5703}"/>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10</a:t>
            </a:r>
          </a:p>
        </p:txBody>
      </p:sp>
      <p:graphicFrame>
        <p:nvGraphicFramePr>
          <p:cNvPr id="15" name="Chart"/>
          <p:cNvGraphicFramePr/>
          <p:nvPr/>
        </p:nvGraphicFramePr>
        <p:xfrm>
          <a:off xmlns:a="http://schemas.openxmlformats.org/drawingml/2006/main" x="609600" y="2228850"/>
          <a:ext xmlns:a="http://schemas.openxmlformats.org/drawingml/2006/main" cx="6715125" cy="3276600"/>
        </p:xfrm>
        <a:graphic xmlns:a="http://schemas.openxmlformats.org/drawingml/2006/main">
          <a:graphicData uri="http://schemas.openxmlformats.org/drawingml/2006/chart">
            <c:chart xmlns:r="http://schemas.openxmlformats.org/officeDocument/2006/relationships" xmlns:c="http://schemas.openxmlformats.org/drawingml/2006/chart" r:id="R4730a367fa07488b"/>
          </a:graphicData>
        </a:graphic>
      </p:graphicFrame>
      <p:sp>
        <p:nvSpPr>
          <p:cNvPr id="6" name="0–100 score">
            <a:extLst xmlns:a="http://schemas.openxmlformats.org/drawingml/2006/main">
              <a:ext uri="{FF2B5EF4-FFF2-40B4-BE49-F238E27FC236}">
                <a16:creationId xmlns:a16="http://schemas.microsoft.com/office/drawing/2014/main" id="{CE79E8F8-D196-43E8-9EE8-090D5DEB09B8}"/>
              </a:ext>
            </a:extLst>
          </p:cNvPr>
          <p:cNvSpPr>
            <a:spLocks xmlns:a="http://schemas.openxmlformats.org/drawingml/2006/main" noGrp="1"/>
          </p:cNvSpPr>
          <p:nvPr/>
        </p:nvSpPr>
        <p:spPr>
          <a:xfrm xmlns:a="http://schemas.openxmlformats.org/drawingml/2006/main">
            <a:off x="8172450" y="2295525"/>
            <a:ext cx="319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0–100 score</a:t>
            </a:r>
          </a:p>
        </p:txBody>
      </p:sp>
      <p:sp>
        <p:nvSpPr>
          <p:cNvPr id="7" name="Ranks eligible courses using explicit weighted f">
            <a:extLst xmlns:a="http://schemas.openxmlformats.org/drawingml/2006/main">
              <a:ext uri="{FF2B5EF4-FFF2-40B4-BE49-F238E27FC236}">
                <a16:creationId xmlns:a16="http://schemas.microsoft.com/office/drawing/2014/main" id="{DEAE73D9-DC04-45A3-BF09-DA27A4007E7A}"/>
              </a:ext>
            </a:extLst>
          </p:cNvPr>
          <p:cNvSpPr>
            <a:spLocks xmlns:a="http://schemas.openxmlformats.org/drawingml/2006/main" noGrp="1"/>
          </p:cNvSpPr>
          <p:nvPr/>
        </p:nvSpPr>
        <p:spPr>
          <a:xfrm xmlns:a="http://schemas.openxmlformats.org/drawingml/2006/main">
            <a:off x="8172450" y="2838450"/>
            <a:ext cx="3190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Ranks eligible courses using explicit weighted factors.</a:t>
            </a:r>
          </a:p>
        </p:txBody>
      </p:sp>
      <p:sp>
        <p:nvSpPr>
          <p:cNvPr id="8" name="High priority">
            <a:extLst xmlns:a="http://schemas.openxmlformats.org/drawingml/2006/main">
              <a:ext uri="{FF2B5EF4-FFF2-40B4-BE49-F238E27FC236}">
                <a16:creationId xmlns:a16="http://schemas.microsoft.com/office/drawing/2014/main" id="{4A376EB1-5D06-465F-88C7-2BD96E8A6C26}"/>
              </a:ext>
            </a:extLst>
          </p:cNvPr>
          <p:cNvSpPr>
            <a:spLocks xmlns:a="http://schemas.openxmlformats.org/drawingml/2006/main" noGrp="1"/>
          </p:cNvSpPr>
          <p:nvPr/>
        </p:nvSpPr>
        <p:spPr>
          <a:xfrm xmlns:a="http://schemas.openxmlformats.org/drawingml/2006/main">
            <a:off x="8172450" y="4181475"/>
            <a:ext cx="319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High priority</a:t>
            </a:r>
          </a:p>
        </p:txBody>
      </p:sp>
      <p:sp>
        <p:nvSpPr>
          <p:cNvPr id="9" name="A score of 78 or above. The gateway can issue an">
            <a:extLst xmlns:a="http://schemas.openxmlformats.org/drawingml/2006/main">
              <a:ext uri="{FF2B5EF4-FFF2-40B4-BE49-F238E27FC236}">
                <a16:creationId xmlns:a16="http://schemas.microsoft.com/office/drawing/2014/main" id="{B9A52408-C7BF-43CA-B815-0E684929F720}"/>
              </a:ext>
            </a:extLst>
          </p:cNvPr>
          <p:cNvSpPr>
            <a:spLocks xmlns:a="http://schemas.openxmlformats.org/drawingml/2006/main" noGrp="1"/>
          </p:cNvSpPr>
          <p:nvPr/>
        </p:nvSpPr>
        <p:spPr>
          <a:xfrm xmlns:a="http://schemas.openxmlformats.org/drawingml/2006/main">
            <a:off x="8172450" y="4724400"/>
            <a:ext cx="3190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A score of 78 or above. The gateway can issue an in-app notice.</a:t>
            </a:r>
          </a:p>
        </p:txBody>
      </p:sp>
      <p:sp>
        <p:nvSpPr>
          <p:cNvPr id="10" name="A relevance score is a heuristic ranking value, ">
            <a:extLst xmlns:a="http://schemas.openxmlformats.org/drawingml/2006/main">
              <a:ext uri="{FF2B5EF4-FFF2-40B4-BE49-F238E27FC236}">
                <a16:creationId xmlns:a16="http://schemas.microsoft.com/office/drawing/2014/main" id="{537D3D60-EC79-4FE2-AB38-100D15758A36}"/>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A relevance score is a heuristic ranking value, not a probability of success or an accuracy percentage.</a:t>
            </a:r>
          </a:p>
        </p:txBody>
      </p:sp>
    </p:spTree>
    <p:extLst>
      <p:ext uri="{BB962C8B-B14F-4D97-AF65-F5344CB8AC3E}">
        <p14:creationId xmlns:p14="http://schemas.microsoft.com/office/powerpoint/2010/main" val="1889733816"/>
      </p:ext>
    </p:extLst>
  </p:cSld>
</p:sld>
</file>

<file path=ppt/slides/slide11.xml><?xml version="1.0" encoding="utf-8"?>
<p:sld xmlns:p="http://schemas.openxmlformats.org/presentationml/2006/main">
  <p:cSld>
    <p:bg>
      <p:bgPr>
        <a:solidFill xmlns:a="http://schemas.openxmlformats.org/drawingml/2006/main">
          <a:srgbClr val="193E35"/>
        </a:solidFill>
      </p:bgPr>
    </p:bg>
    <p:spTree>
      <p:nvGrpSpPr>
        <p:cNvPr id="1" name=""/>
        <p:cNvGrpSpPr/>
        <p:nvPr/>
      </p:nvGrpSpPr>
      <p:grpSpPr>
        <a:xfrm xmlns:a="http://schemas.openxmlformats.org/drawingml/2006/main"/>
      </p:grpSpPr>
      <p:sp>
        <p:nvSpPr>
          <p:cNvPr id="11" name="SKILLSCOUT AI">
            <a:extLst xmlns:a="http://schemas.openxmlformats.org/drawingml/2006/main">
              <a:ext uri="{FF2B5EF4-FFF2-40B4-BE49-F238E27FC236}">
                <a16:creationId xmlns:a16="http://schemas.microsoft.com/office/drawing/2014/main" id="{FE6F3AFC-D6CF-4BBB-9860-40A50A2F14F7}"/>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A9BE9A"/>
                </a:solidFill>
                <a:latin typeface="Helvetica Neue"/>
                <a:ea typeface="Helvetica Neue"/>
                <a:cs typeface="Helvetica Neue"/>
              </a:defRPr>
            </a:pPr>
            <a:r>
              <a:rPr sz="1275" b="1">
                <a:solidFill>
                  <a:srgbClr val="A9BE9A"/>
                </a:solidFill>
                <a:latin typeface="Helvetica Neue"/>
                <a:ea typeface="Helvetica Neue"/>
                <a:cs typeface="Helvetica Neue"/>
              </a:rPr>
              <a:t>SKILLSCOUT AI</a:t>
            </a:r>
          </a:p>
        </p:txBody>
      </p:sp>
      <p:sp>
        <p:nvSpPr>
          <p:cNvPr id="2" name="The role of the local language model">
            <a:extLst xmlns:a="http://schemas.openxmlformats.org/drawingml/2006/main">
              <a:ext uri="{FF2B5EF4-FFF2-40B4-BE49-F238E27FC236}">
                <a16:creationId xmlns:a16="http://schemas.microsoft.com/office/drawing/2014/main" id="{D1973891-5FB7-4E62-8BC8-AADAFB400E8B}"/>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F5F3EC"/>
                </a:solidFill>
                <a:latin typeface="Helvetica Neue"/>
                <a:ea typeface="Helvetica Neue"/>
                <a:cs typeface="Helvetica Neue"/>
              </a:defRPr>
            </a:pPr>
            <a:r>
              <a:rPr sz="3450" b="1">
                <a:solidFill>
                  <a:srgbClr val="F5F3EC"/>
                </a:solidFill>
                <a:latin typeface="Helvetica Neue"/>
                <a:ea typeface="Helvetica Neue"/>
                <a:cs typeface="Helvetica Neue"/>
              </a:rPr>
              <a:t>The role of the local language model</a:t>
            </a:r>
          </a:p>
        </p:txBody>
      </p:sp>
      <p:sp>
        <p:nvSpPr>
          <p:cNvPr id="3" name="Ollama serves the configured model on the local ">
            <a:extLst xmlns:a="http://schemas.openxmlformats.org/drawingml/2006/main">
              <a:ext uri="{FF2B5EF4-FFF2-40B4-BE49-F238E27FC236}">
                <a16:creationId xmlns:a16="http://schemas.microsoft.com/office/drawing/2014/main" id="{856FFB57-A80C-4AE2-A43C-165D31EF8749}"/>
              </a:ext>
            </a:extLst>
          </p:cNvPr>
          <p:cNvSpPr>
            <a:spLocks xmlns:a="http://schemas.openxmlformats.org/drawingml/2006/main" noGrp="1"/>
          </p:cNvSpPr>
          <p:nvPr/>
        </p:nvSpPr>
        <p:spPr>
          <a:xfrm xmlns:a="http://schemas.openxmlformats.org/drawingml/2006/main">
            <a:off x="628650" y="1638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A9BE9A"/>
                </a:solidFill>
                <a:latin typeface="Helvetica Neue"/>
                <a:ea typeface="Helvetica Neue"/>
                <a:cs typeface="Helvetica Neue"/>
              </a:defRPr>
            </a:pPr>
            <a:r>
              <a:rPr sz="1800" b="0">
                <a:solidFill>
                  <a:srgbClr val="A9BE9A"/>
                </a:solidFill>
                <a:latin typeface="Helvetica Neue"/>
                <a:ea typeface="Helvetica Neue"/>
                <a:cs typeface="Helvetica Neue"/>
              </a:rPr>
              <a:t>Ollama serves the configured model on the local computer</a:t>
            </a:r>
          </a:p>
        </p:txBody>
      </p:sp>
      <p:sp>
        <p:nvSpPr>
          <p:cNvPr id="4" name="11">
            <a:extLst xmlns:a="http://schemas.openxmlformats.org/drawingml/2006/main">
              <a:ext uri="{FF2B5EF4-FFF2-40B4-BE49-F238E27FC236}">
                <a16:creationId xmlns:a16="http://schemas.microsoft.com/office/drawing/2014/main" id="{19C7265D-8AA4-4DAF-AD30-7A508C6260CF}"/>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9BE9A"/>
                </a:solidFill>
                <a:latin typeface="Helvetica Neue"/>
                <a:ea typeface="Helvetica Neue"/>
                <a:cs typeface="Helvetica Neue"/>
              </a:defRPr>
            </a:pPr>
            <a:r>
              <a:rPr sz="1275" b="0">
                <a:solidFill>
                  <a:srgbClr val="A9BE9A"/>
                </a:solidFill>
                <a:latin typeface="Helvetica Neue"/>
                <a:ea typeface="Helvetica Neue"/>
                <a:cs typeface="Helvetica Neue"/>
              </a:rPr>
              <a:t>11</a:t>
            </a:r>
          </a:p>
        </p:txBody>
      </p:sp>
      <p:sp>
        <p:nvSpPr>
          <p:cNvPr id="5" name="Profile planning">
            <a:extLst xmlns:a="http://schemas.openxmlformats.org/drawingml/2006/main">
              <a:ext uri="{FF2B5EF4-FFF2-40B4-BE49-F238E27FC236}">
                <a16:creationId xmlns:a16="http://schemas.microsoft.com/office/drawing/2014/main" id="{924BDB38-BEE8-4695-8902-F88331FC0457}"/>
              </a:ext>
            </a:extLst>
          </p:cNvPr>
          <p:cNvSpPr>
            <a:spLocks xmlns:a="http://schemas.openxmlformats.org/drawingml/2006/main" noGrp="1"/>
          </p:cNvSpPr>
          <p:nvPr/>
        </p:nvSpPr>
        <p:spPr>
          <a:xfrm xmlns:a="http://schemas.openxmlformats.org/drawingml/2006/main">
            <a:off x="619125" y="2400300"/>
            <a:ext cx="490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9BE9A"/>
                </a:solidFill>
                <a:latin typeface="Helvetica Neue"/>
                <a:ea typeface="Helvetica Neue"/>
                <a:cs typeface="Helvetica Neue"/>
              </a:defRPr>
            </a:pPr>
            <a:r>
              <a:rPr sz="2175" b="1">
                <a:solidFill>
                  <a:srgbClr val="A9BE9A"/>
                </a:solidFill>
                <a:latin typeface="Helvetica Neue"/>
                <a:ea typeface="Helvetica Neue"/>
                <a:cs typeface="Helvetica Neue"/>
              </a:rPr>
              <a:t>Profile planning</a:t>
            </a:r>
          </a:p>
        </p:txBody>
      </p:sp>
      <p:sp>
        <p:nvSpPr>
          <p:cNvPr id="6" name="Select an appropriate learning order from valida">
            <a:extLst xmlns:a="http://schemas.openxmlformats.org/drawingml/2006/main">
              <a:ext uri="{FF2B5EF4-FFF2-40B4-BE49-F238E27FC236}">
                <a16:creationId xmlns:a16="http://schemas.microsoft.com/office/drawing/2014/main" id="{388A98D9-2050-4725-9C6A-BC864F2EDF30}"/>
              </a:ext>
            </a:extLst>
          </p:cNvPr>
          <p:cNvSpPr>
            <a:spLocks xmlns:a="http://schemas.openxmlformats.org/drawingml/2006/main" noGrp="1"/>
          </p:cNvSpPr>
          <p:nvPr/>
        </p:nvSpPr>
        <p:spPr>
          <a:xfrm xmlns:a="http://schemas.openxmlformats.org/drawingml/2006/main">
            <a:off x="619125" y="2943225"/>
            <a:ext cx="4905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F5F3EC"/>
                </a:solidFill>
                <a:latin typeface="Helvetica Neue"/>
                <a:ea typeface="Helvetica Neue"/>
                <a:cs typeface="Helvetica Neue"/>
              </a:defRPr>
            </a:pPr>
            <a:r>
              <a:rPr sz="2250" b="0">
                <a:solidFill>
                  <a:srgbClr val="F5F3EC"/>
                </a:solidFill>
                <a:latin typeface="Helvetica Neue"/>
                <a:ea typeface="Helvetica Neue"/>
                <a:cs typeface="Helvetica Neue"/>
              </a:rPr>
              <a:t>Select an appropriate learning order from validated skill gaps.</a:t>
            </a:r>
          </a:p>
        </p:txBody>
      </p:sp>
      <p:sp>
        <p:nvSpPr>
          <p:cNvPr id="7" name="Ask Scout">
            <a:extLst xmlns:a="http://schemas.openxmlformats.org/drawingml/2006/main">
              <a:ext uri="{FF2B5EF4-FFF2-40B4-BE49-F238E27FC236}">
                <a16:creationId xmlns:a16="http://schemas.microsoft.com/office/drawing/2014/main" id="{06348892-D878-4D02-BAAD-C6B48B10273F}"/>
              </a:ext>
            </a:extLst>
          </p:cNvPr>
          <p:cNvSpPr>
            <a:spLocks xmlns:a="http://schemas.openxmlformats.org/drawingml/2006/main" noGrp="1"/>
          </p:cNvSpPr>
          <p:nvPr/>
        </p:nvSpPr>
        <p:spPr>
          <a:xfrm xmlns:a="http://schemas.openxmlformats.org/drawingml/2006/main">
            <a:off x="6496050" y="2400300"/>
            <a:ext cx="490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A9BE9A"/>
                </a:solidFill>
                <a:latin typeface="Helvetica Neue"/>
                <a:ea typeface="Helvetica Neue"/>
                <a:cs typeface="Helvetica Neue"/>
              </a:defRPr>
            </a:pPr>
            <a:r>
              <a:rPr sz="2175" b="1">
                <a:solidFill>
                  <a:srgbClr val="A9BE9A"/>
                </a:solidFill>
                <a:latin typeface="Helvetica Neue"/>
                <a:ea typeface="Helvetica Neue"/>
                <a:cs typeface="Helvetica Neue"/>
              </a:rPr>
              <a:t>Ask Scout</a:t>
            </a:r>
          </a:p>
        </p:txBody>
      </p:sp>
      <p:sp>
        <p:nvSpPr>
          <p:cNvPr id="8" name="Select course IDs from retrieved candidates and ">
            <a:extLst xmlns:a="http://schemas.openxmlformats.org/drawingml/2006/main">
              <a:ext uri="{FF2B5EF4-FFF2-40B4-BE49-F238E27FC236}">
                <a16:creationId xmlns:a16="http://schemas.microsoft.com/office/drawing/2014/main" id="{3149D084-3031-419A-B074-F53F9FCC4EF9}"/>
              </a:ext>
            </a:extLst>
          </p:cNvPr>
          <p:cNvSpPr>
            <a:spLocks xmlns:a="http://schemas.openxmlformats.org/drawingml/2006/main" noGrp="1"/>
          </p:cNvSpPr>
          <p:nvPr/>
        </p:nvSpPr>
        <p:spPr>
          <a:xfrm xmlns:a="http://schemas.openxmlformats.org/drawingml/2006/main">
            <a:off x="6496050" y="2943225"/>
            <a:ext cx="4905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F5F3EC"/>
                </a:solidFill>
                <a:latin typeface="Helvetica Neue"/>
                <a:ea typeface="Helvetica Neue"/>
                <a:cs typeface="Helvetica Neue"/>
              </a:defRPr>
            </a:pPr>
            <a:r>
              <a:rPr sz="2250" b="0">
                <a:solidFill>
                  <a:srgbClr val="F5F3EC"/>
                </a:solidFill>
                <a:latin typeface="Helvetica Neue"/>
                <a:ea typeface="Helvetica Neue"/>
                <a:cs typeface="Helvetica Neue"/>
              </a:rPr>
              <a:t>Select course IDs from retrieved candidates and an allowed response focus.</a:t>
            </a:r>
          </a:p>
        </p:txBody>
      </p:sp>
      <p:sp>
        <p:nvSpPr>
          <p:cNvPr id="9" name="Validate model choices. Render facts from stored">
            <a:extLst xmlns:a="http://schemas.openxmlformats.org/drawingml/2006/main">
              <a:ext uri="{FF2B5EF4-FFF2-40B4-BE49-F238E27FC236}">
                <a16:creationId xmlns:a16="http://schemas.microsoft.com/office/drawing/2014/main" id="{C7AE5A4E-4348-4560-AF52-05668BE7BEA8}"/>
              </a:ext>
            </a:extLst>
          </p:cNvPr>
          <p:cNvSpPr>
            <a:spLocks xmlns:a="http://schemas.openxmlformats.org/drawingml/2006/main" noGrp="1"/>
          </p:cNvSpPr>
          <p:nvPr/>
        </p:nvSpPr>
        <p:spPr>
          <a:xfrm xmlns:a="http://schemas.openxmlformats.org/drawingml/2006/main">
            <a:off x="619125" y="5019675"/>
            <a:ext cx="10629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F5F3EC"/>
                </a:solidFill>
                <a:latin typeface="Helvetica Neue"/>
                <a:ea typeface="Helvetica Neue"/>
                <a:cs typeface="Helvetica Neue"/>
              </a:defRPr>
            </a:pPr>
            <a:r>
              <a:rPr sz="2475" b="1">
                <a:solidFill>
                  <a:srgbClr val="F5F3EC"/>
                </a:solidFill>
                <a:latin typeface="Helvetica Neue"/>
                <a:ea typeface="Helvetica Neue"/>
                <a:cs typeface="Helvetica Neue"/>
              </a:rPr>
              <a:t>Validate model choices. Render facts from stored records.</a:t>
            </a:r>
          </a:p>
        </p:txBody>
      </p:sp>
      <p:sp>
        <p:nvSpPr>
          <p:cNvPr id="10" name="Default configuration: qwen2.5:3b. A successful ">
            <a:extLst xmlns:a="http://schemas.openxmlformats.org/drawingml/2006/main">
              <a:ext uri="{FF2B5EF4-FFF2-40B4-BE49-F238E27FC236}">
                <a16:creationId xmlns:a16="http://schemas.microsoft.com/office/drawing/2014/main" id="{F3C827B5-0E23-4034-A355-71FED62E8242}"/>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A9BE9A"/>
                </a:solidFill>
                <a:latin typeface="Helvetica Neue"/>
                <a:ea typeface="Helvetica Neue"/>
                <a:cs typeface="Helvetica Neue"/>
              </a:defRPr>
            </a:pPr>
            <a:r>
              <a:rPr sz="1350" b="0">
                <a:solidFill>
                  <a:srgbClr val="A9BE9A"/>
                </a:solidFill>
                <a:latin typeface="Helvetica Neue"/>
                <a:ea typeface="Helvetica Neue"/>
                <a:cs typeface="Helvetica Neue"/>
              </a:rPr>
              <a:t>Default configuration: qwen2.5:3b. A successful demo must show llm_used: true.</a:t>
            </a:r>
          </a:p>
        </p:txBody>
      </p:sp>
    </p:spTree>
    <p:extLst>
      <p:ext uri="{BB962C8B-B14F-4D97-AF65-F5344CB8AC3E}">
        <p14:creationId xmlns:p14="http://schemas.microsoft.com/office/powerpoint/2010/main" val="1682724470"/>
      </p:ext>
    </p:extLst>
  </p:cSld>
</p:sld>
</file>

<file path=ppt/slides/slide1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SKILLSCOUT AI">
            <a:extLst xmlns:a="http://schemas.openxmlformats.org/drawingml/2006/main">
              <a:ext uri="{FF2B5EF4-FFF2-40B4-BE49-F238E27FC236}">
                <a16:creationId xmlns:a16="http://schemas.microsoft.com/office/drawing/2014/main" id="{C039C5D9-9A6A-4816-9796-3FAC248309C4}"/>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SKILLSCOUT AI</a:t>
            </a:r>
          </a:p>
        </p:txBody>
      </p:sp>
      <p:sp>
        <p:nvSpPr>
          <p:cNvPr id="2" name="The employee learning experience">
            <a:extLst xmlns:a="http://schemas.openxmlformats.org/drawingml/2006/main">
              <a:ext uri="{FF2B5EF4-FFF2-40B4-BE49-F238E27FC236}">
                <a16:creationId xmlns:a16="http://schemas.microsoft.com/office/drawing/2014/main" id="{15CFE1B5-BE53-4C2C-91D6-CFDEAF9CA4C7}"/>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The employee learning experience</a:t>
            </a:r>
          </a:p>
        </p:txBody>
      </p:sp>
      <p:sp>
        <p:nvSpPr>
          <p:cNvPr id="3" name="12">
            <a:extLst xmlns:a="http://schemas.openxmlformats.org/drawingml/2006/main">
              <a:ext uri="{FF2B5EF4-FFF2-40B4-BE49-F238E27FC236}">
                <a16:creationId xmlns:a16="http://schemas.microsoft.com/office/drawing/2014/main" id="{FCEC9CCD-7AB7-437F-AF7B-4D5B7A1ED4CE}"/>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12</a:t>
            </a:r>
          </a:p>
        </p:txBody>
      </p:sp>
      <p:graphicFrame>
        <p:nvGraphicFramePr>
          <p:cNvPr id="9" name=""/>
          <p:cNvGraphicFramePr/>
          <p:nvPr/>
        </p:nvGraphicFramePr>
        <p:xfrm>
          <a:off xmlns:a="http://schemas.openxmlformats.org/drawingml/2006/main" x="609600" y="2095500"/>
          <a:ext xmlns:a="http://schemas.openxmlformats.org/drawingml/2006/main" cx="10972800" cy="3505200"/>
        </p:xfrm>
        <a:graphic xmlns:a="http://schemas.openxmlformats.org/drawingml/2006/main">
          <a:graphicData uri="http://schemas.openxmlformats.org/drawingml/2006/table">
            <a:tbl>
              <a:tblPr/>
              <a:tblGrid>
                <a:gridCol w="2781300"/>
                <a:gridCol w="4095750"/>
                <a:gridCol w="4095750"/>
              </a:tblGrid>
              <a:tr h="701040">
                <a:tc>
                  <a:txBody>
                    <a:bodyPr lIns="142875" tIns="114300" rIns="142875" bIns="114300">
                      <a:noAutofit/>
                    </a:bodyPr>
                    <a:lstStyle/>
                    <a:p>
                      <a:r>
                        <a:rPr sz="1800" b="1">
                          <a:solidFill>
                            <a:srgbClr val="F5F3EC"/>
                          </a:solidFill>
                          <a:latin typeface="Helvetica Neue"/>
                          <a:ea typeface="Helvetica Neue"/>
                          <a:cs typeface="Helvetica Neue"/>
                        </a:rPr>
                        <a:t>Screen</a:t>
                      </a:r>
                    </a:p>
                  </a:txBody>
                  <a:tcPr marL="91440" marR="91440" marT="45720" marB="45720" anchor="ctr">
                    <a:solidFill>
                      <a:srgbClr val="193E35"/>
                    </a:solidFill>
                  </a:tcPr>
                </a:tc>
                <a:tc>
                  <a:txBody>
                    <a:bodyPr lIns="142875" tIns="114300" rIns="142875" bIns="114300">
                      <a:noAutofit/>
                    </a:bodyPr>
                    <a:lstStyle/>
                    <a:p>
                      <a:r>
                        <a:rPr sz="1800" b="1">
                          <a:solidFill>
                            <a:srgbClr val="F5F3EC"/>
                          </a:solidFill>
                          <a:latin typeface="Helvetica Neue"/>
                          <a:ea typeface="Helvetica Neue"/>
                          <a:cs typeface="Helvetica Neue"/>
                        </a:rPr>
                        <a:t>Employee action</a:t>
                      </a:r>
                    </a:p>
                  </a:txBody>
                  <a:tcPr marL="91440" marR="91440" marT="45720" marB="45720" anchor="ctr">
                    <a:solidFill>
                      <a:srgbClr val="193E35"/>
                    </a:solidFill>
                  </a:tcPr>
                </a:tc>
                <a:tc>
                  <a:txBody>
                    <a:bodyPr lIns="142875" tIns="114300" rIns="142875" bIns="114300">
                      <a:noAutofit/>
                    </a:bodyPr>
                    <a:lstStyle/>
                    <a:p>
                      <a:r>
                        <a:rPr sz="1800" b="1">
                          <a:solidFill>
                            <a:srgbClr val="F5F3EC"/>
                          </a:solidFill>
                          <a:latin typeface="Helvetica Neue"/>
                          <a:ea typeface="Helvetica Neue"/>
                          <a:cs typeface="Helvetica Neue"/>
                        </a:rPr>
                        <a:t>System response</a:t>
                      </a:r>
                    </a:p>
                  </a:txBody>
                  <a:tcPr marL="91440" marR="91440" marT="45720" marB="45720" anchor="ctr">
                    <a:solidFill>
                      <a:srgbClr val="193E35"/>
                    </a:solidFill>
                  </a:tcPr>
                </a:tc>
              </a:tr>
              <a:tr h="701040">
                <a:tc>
                  <a:txBody>
                    <a:bodyPr lIns="142875" tIns="114300" rIns="142875" bIns="114300">
                      <a:noAutofit/>
                    </a:bodyPr>
                    <a:lstStyle/>
                    <a:p>
                      <a:r>
                        <a:rPr sz="1875" b="0">
                          <a:solidFill>
                            <a:srgbClr val="193E35"/>
                          </a:solidFill>
                          <a:latin typeface="Helvetica Neue"/>
                          <a:ea typeface="Helvetica Neue"/>
                          <a:cs typeface="Helvetica Neue"/>
                        </a:rPr>
                        <a:t>Profile &amp; settings</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Add goals and enable consent</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Create the basis for personalization</a:t>
                      </a:r>
                    </a:p>
                  </a:txBody>
                  <a:tcPr marL="91440" marR="91440" marT="45720" marB="45720" anchor="ctr">
                    <a:solidFill>
                      <a:srgbClr val="F5F3EC"/>
                    </a:solidFill>
                  </a:tcPr>
                </a:tc>
              </a:tr>
              <a:tr h="701040">
                <a:tc>
                  <a:txBody>
                    <a:bodyPr lIns="142875" tIns="114300" rIns="142875" bIns="114300">
                      <a:noAutofit/>
                    </a:bodyPr>
                    <a:lstStyle/>
                    <a:p>
                      <a:r>
                        <a:rPr sz="1875" b="0">
                          <a:solidFill>
                            <a:srgbClr val="193E35"/>
                          </a:solidFill>
                          <a:latin typeface="Helvetica Neue"/>
                          <a:ea typeface="Helvetica Neue"/>
                          <a:cs typeface="Helvetica Neue"/>
                        </a:rPr>
                        <a:t>Overview</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Find opportunities</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Run the four-agent workflow</a:t>
                      </a:r>
                    </a:p>
                  </a:txBody>
                  <a:tcPr marL="91440" marR="91440" marT="45720" marB="45720" anchor="ctr">
                    <a:solidFill>
                      <a:srgbClr val="E9EDDF"/>
                    </a:solidFill>
                  </a:tcPr>
                </a:tc>
              </a:tr>
              <a:tr h="701040">
                <a:tc>
                  <a:txBody>
                    <a:bodyPr lIns="142875" tIns="114300" rIns="142875" bIns="114300">
                      <a:noAutofit/>
                    </a:bodyPr>
                    <a:lstStyle/>
                    <a:p>
                      <a:r>
                        <a:rPr sz="1875" b="0">
                          <a:solidFill>
                            <a:srgbClr val="193E35"/>
                          </a:solidFill>
                          <a:latin typeface="Helvetica Neue"/>
                          <a:ea typeface="Helvetica Neue"/>
                          <a:cs typeface="Helvetica Neue"/>
                        </a:rPr>
                        <a:t>Courses / course detail</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Inspect reasons and save a course</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Add it to the learning plan</a:t>
                      </a:r>
                    </a:p>
                  </a:txBody>
                  <a:tcPr marL="91440" marR="91440" marT="45720" marB="45720" anchor="ctr">
                    <a:solidFill>
                      <a:srgbClr val="F5F3EC"/>
                    </a:solidFill>
                  </a:tcPr>
                </a:tc>
              </a:tr>
              <a:tr h="701040">
                <a:tc>
                  <a:txBody>
                    <a:bodyPr lIns="142875" tIns="114300" rIns="142875" bIns="114300">
                      <a:noAutofit/>
                    </a:bodyPr>
                    <a:lstStyle/>
                    <a:p>
                      <a:r>
                        <a:rPr sz="1875" b="0">
                          <a:solidFill>
                            <a:srgbClr val="193E35"/>
                          </a:solidFill>
                          <a:latin typeface="Helvetica Neue"/>
                          <a:ea typeface="Helvetica Neue"/>
                          <a:cs typeface="Helvetica Neue"/>
                        </a:rPr>
                        <a:t>Learning plan</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Record progress or completion</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Update learning history and skills</a:t>
                      </a:r>
                    </a:p>
                  </a:txBody>
                  <a:tcPr marL="91440" marR="91440" marT="45720" marB="45720" anchor="ctr">
                    <a:solidFill>
                      <a:srgbClr val="E9EDDF"/>
                    </a:solidFill>
                  </a:tcPr>
                </a:tc>
              </a:tr>
            </a:tbl>
          </a:graphicData>
        </a:graphic>
      </p:graphicFrame>
      <p:sp>
        <p:nvSpPr>
          <p:cNvPr id="5" name="The employee decides what to learn. Saving a cou">
            <a:extLst xmlns:a="http://schemas.openxmlformats.org/drawingml/2006/main">
              <a:ext uri="{FF2B5EF4-FFF2-40B4-BE49-F238E27FC236}">
                <a16:creationId xmlns:a16="http://schemas.microsoft.com/office/drawing/2014/main" id="{9876F3C6-1D24-4C6D-B169-26141E5CF8F5}"/>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The employee decides what to learn. Saving a course does not purchase or enroll in it.</a:t>
            </a:r>
          </a:p>
        </p:txBody>
      </p:sp>
    </p:spTree>
    <p:extLst>
      <p:ext uri="{BB962C8B-B14F-4D97-AF65-F5344CB8AC3E}">
        <p14:creationId xmlns:p14="http://schemas.microsoft.com/office/powerpoint/2010/main" val="678288760"/>
      </p:ext>
    </p:extLst>
  </p:cSld>
</p:sld>
</file>

<file path=ppt/slides/slide13.xml><?xml version="1.0" encoding="utf-8"?>
<p:sld xmlns:p="http://schemas.openxmlformats.org/presentationml/2006/main">
  <p:cSld>
    <p:bg>
      <p:bgPr>
        <a:solidFill xmlns:a="http://schemas.openxmlformats.org/drawingml/2006/main">
          <a:srgbClr val="193E35"/>
        </a:solidFill>
      </p:bgPr>
    </p:bg>
    <p:spTree>
      <p:nvGrpSpPr>
        <p:cNvPr id="1" name=""/>
        <p:cNvGrpSpPr/>
        <p:nvPr/>
      </p:nvGrpSpPr>
      <p:grpSpPr>
        <a:xfrm xmlns:a="http://schemas.openxmlformats.org/drawingml/2006/main"/>
      </p:grpSpPr>
      <p:sp>
        <p:nvSpPr>
          <p:cNvPr id="16" name="SKILLSCOUT AI">
            <a:extLst xmlns:a="http://schemas.openxmlformats.org/drawingml/2006/main">
              <a:ext uri="{FF2B5EF4-FFF2-40B4-BE49-F238E27FC236}">
                <a16:creationId xmlns:a16="http://schemas.microsoft.com/office/drawing/2014/main" id="{EDA6FC5D-A8B2-475E-8798-12963C93382A}"/>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A9BE9A"/>
                </a:solidFill>
                <a:latin typeface="Helvetica Neue"/>
                <a:ea typeface="Helvetica Neue"/>
                <a:cs typeface="Helvetica Neue"/>
              </a:defRPr>
            </a:pPr>
            <a:r>
              <a:rPr sz="1275" b="1">
                <a:solidFill>
                  <a:srgbClr val="A9BE9A"/>
                </a:solidFill>
                <a:latin typeface="Helvetica Neue"/>
                <a:ea typeface="Helvetica Neue"/>
                <a:cs typeface="Helvetica Neue"/>
              </a:rPr>
              <a:t>SKILLSCOUT AI</a:t>
            </a:r>
          </a:p>
        </p:txBody>
      </p:sp>
      <p:sp>
        <p:nvSpPr>
          <p:cNvPr id="2" name="Live demonstration">
            <a:extLst xmlns:a="http://schemas.openxmlformats.org/drawingml/2006/main">
              <a:ext uri="{FF2B5EF4-FFF2-40B4-BE49-F238E27FC236}">
                <a16:creationId xmlns:a16="http://schemas.microsoft.com/office/drawing/2014/main" id="{D9B6D7A6-B6AD-4BF9-8E71-824A9259B0C9}"/>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F5F3EC"/>
                </a:solidFill>
                <a:latin typeface="Helvetica Neue"/>
                <a:ea typeface="Helvetica Neue"/>
                <a:cs typeface="Helvetica Neue"/>
              </a:defRPr>
            </a:pPr>
            <a:r>
              <a:rPr sz="3450" b="1">
                <a:solidFill>
                  <a:srgbClr val="F5F3EC"/>
                </a:solidFill>
                <a:latin typeface="Helvetica Neue"/>
                <a:ea typeface="Helvetica Neue"/>
                <a:cs typeface="Helvetica Neue"/>
              </a:rPr>
              <a:t>Live demonstration</a:t>
            </a:r>
          </a:p>
        </p:txBody>
      </p:sp>
      <p:sp>
        <p:nvSpPr>
          <p:cNvPr id="3" name="A short employee journey using Nadun’s account">
            <a:extLst xmlns:a="http://schemas.openxmlformats.org/drawingml/2006/main">
              <a:ext uri="{FF2B5EF4-FFF2-40B4-BE49-F238E27FC236}">
                <a16:creationId xmlns:a16="http://schemas.microsoft.com/office/drawing/2014/main" id="{1906DEC7-EFD9-43CE-BDF9-04C259080818}"/>
              </a:ext>
            </a:extLst>
          </p:cNvPr>
          <p:cNvSpPr>
            <a:spLocks xmlns:a="http://schemas.openxmlformats.org/drawingml/2006/main" noGrp="1"/>
          </p:cNvSpPr>
          <p:nvPr/>
        </p:nvSpPr>
        <p:spPr>
          <a:xfrm xmlns:a="http://schemas.openxmlformats.org/drawingml/2006/main">
            <a:off x="628650" y="1638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A9BE9A"/>
                </a:solidFill>
                <a:latin typeface="Helvetica Neue"/>
                <a:ea typeface="Helvetica Neue"/>
                <a:cs typeface="Helvetica Neue"/>
              </a:defRPr>
            </a:pPr>
            <a:r>
              <a:rPr sz="1800" b="0">
                <a:solidFill>
                  <a:srgbClr val="A9BE9A"/>
                </a:solidFill>
                <a:latin typeface="Helvetica Neue"/>
                <a:ea typeface="Helvetica Neue"/>
                <a:cs typeface="Helvetica Neue"/>
              </a:rPr>
              <a:t>A short employee journey using Nadun’s account</a:t>
            </a:r>
          </a:p>
        </p:txBody>
      </p:sp>
      <p:sp>
        <p:nvSpPr>
          <p:cNvPr id="4" name="13">
            <a:extLst xmlns:a="http://schemas.openxmlformats.org/drawingml/2006/main">
              <a:ext uri="{FF2B5EF4-FFF2-40B4-BE49-F238E27FC236}">
                <a16:creationId xmlns:a16="http://schemas.microsoft.com/office/drawing/2014/main" id="{DE2E8F24-25E7-4974-B434-B620FF6B35C0}"/>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9BE9A"/>
                </a:solidFill>
                <a:latin typeface="Helvetica Neue"/>
                <a:ea typeface="Helvetica Neue"/>
                <a:cs typeface="Helvetica Neue"/>
              </a:defRPr>
            </a:pPr>
            <a:r>
              <a:rPr sz="1275" b="0">
                <a:solidFill>
                  <a:srgbClr val="A9BE9A"/>
                </a:solidFill>
                <a:latin typeface="Helvetica Neue"/>
                <a:ea typeface="Helvetica Neue"/>
                <a:cs typeface="Helvetica Neue"/>
              </a:rPr>
              <a:t>13</a:t>
            </a:r>
          </a:p>
        </p:txBody>
      </p:sp>
      <p:sp>
        <p:nvSpPr>
          <p:cNvPr id="5" name="01">
            <a:extLst xmlns:a="http://schemas.openxmlformats.org/drawingml/2006/main">
              <a:ext uri="{FF2B5EF4-FFF2-40B4-BE49-F238E27FC236}">
                <a16:creationId xmlns:a16="http://schemas.microsoft.com/office/drawing/2014/main" id="{A30CC022-4894-4BE2-BB4E-1E3E31D72AE9}"/>
              </a:ext>
            </a:extLst>
          </p:cNvPr>
          <p:cNvSpPr>
            <a:spLocks xmlns:a="http://schemas.openxmlformats.org/drawingml/2006/main" noGrp="1"/>
          </p:cNvSpPr>
          <p:nvPr/>
        </p:nvSpPr>
        <p:spPr>
          <a:xfrm xmlns:a="http://schemas.openxmlformats.org/drawingml/2006/main">
            <a:off x="609600" y="22764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A9BE9A"/>
                </a:solidFill>
                <a:latin typeface="Helvetica Neue"/>
                <a:ea typeface="Helvetica Neue"/>
                <a:cs typeface="Helvetica Neue"/>
              </a:defRPr>
            </a:pPr>
            <a:r>
              <a:rPr sz="2025" b="1">
                <a:solidFill>
                  <a:srgbClr val="A9BE9A"/>
                </a:solidFill>
                <a:latin typeface="Helvetica Neue"/>
                <a:ea typeface="Helvetica Neue"/>
                <a:cs typeface="Helvetica Neue"/>
              </a:rPr>
              <a:t>01</a:t>
            </a:r>
          </a:p>
        </p:txBody>
      </p:sp>
      <p:sp>
        <p:nvSpPr>
          <p:cNvPr id="6" name="Profile: show role, goal, current skills and con">
            <a:extLst xmlns:a="http://schemas.openxmlformats.org/drawingml/2006/main">
              <a:ext uri="{FF2B5EF4-FFF2-40B4-BE49-F238E27FC236}">
                <a16:creationId xmlns:a16="http://schemas.microsoft.com/office/drawing/2014/main" id="{8038B180-8A0A-405F-B518-F81AD82FC969}"/>
              </a:ext>
            </a:extLst>
          </p:cNvPr>
          <p:cNvSpPr>
            <a:spLocks xmlns:a="http://schemas.openxmlformats.org/drawingml/2006/main" noGrp="1"/>
          </p:cNvSpPr>
          <p:nvPr/>
        </p:nvSpPr>
        <p:spPr>
          <a:xfrm xmlns:a="http://schemas.openxmlformats.org/drawingml/2006/main">
            <a:off x="1409700" y="2276475"/>
            <a:ext cx="1017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5F3EC"/>
                </a:solidFill>
                <a:latin typeface="Helvetica Neue"/>
                <a:ea typeface="Helvetica Neue"/>
                <a:cs typeface="Helvetica Neue"/>
              </a:defRPr>
            </a:pPr>
            <a:r>
              <a:rPr sz="2100" b="0">
                <a:solidFill>
                  <a:srgbClr val="F5F3EC"/>
                </a:solidFill>
                <a:latin typeface="Helvetica Neue"/>
                <a:ea typeface="Helvetica Neue"/>
                <a:cs typeface="Helvetica Neue"/>
              </a:rPr>
              <a:t>Profile: show role, goal, current skills and consent.</a:t>
            </a:r>
          </a:p>
        </p:txBody>
      </p:sp>
      <p:sp>
        <p:nvSpPr>
          <p:cNvPr id="7" name="02">
            <a:extLst xmlns:a="http://schemas.openxmlformats.org/drawingml/2006/main">
              <a:ext uri="{FF2B5EF4-FFF2-40B4-BE49-F238E27FC236}">
                <a16:creationId xmlns:a16="http://schemas.microsoft.com/office/drawing/2014/main" id="{2920173B-9470-435E-9799-43799C753103}"/>
              </a:ext>
            </a:extLst>
          </p:cNvPr>
          <p:cNvSpPr>
            <a:spLocks xmlns:a="http://schemas.openxmlformats.org/drawingml/2006/main" noGrp="1"/>
          </p:cNvSpPr>
          <p:nvPr/>
        </p:nvSpPr>
        <p:spPr>
          <a:xfrm xmlns:a="http://schemas.openxmlformats.org/drawingml/2006/main">
            <a:off x="609600" y="294322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A9BE9A"/>
                </a:solidFill>
                <a:latin typeface="Helvetica Neue"/>
                <a:ea typeface="Helvetica Neue"/>
                <a:cs typeface="Helvetica Neue"/>
              </a:defRPr>
            </a:pPr>
            <a:r>
              <a:rPr sz="2025" b="1">
                <a:solidFill>
                  <a:srgbClr val="A9BE9A"/>
                </a:solidFill>
                <a:latin typeface="Helvetica Neue"/>
                <a:ea typeface="Helvetica Neue"/>
                <a:cs typeface="Helvetica Neue"/>
              </a:rPr>
              <a:t>02</a:t>
            </a:r>
          </a:p>
        </p:txBody>
      </p:sp>
      <p:sp>
        <p:nvSpPr>
          <p:cNvPr id="8" name="Find opportunities: inspect the completed agent ">
            <a:extLst xmlns:a="http://schemas.openxmlformats.org/drawingml/2006/main">
              <a:ext uri="{FF2B5EF4-FFF2-40B4-BE49-F238E27FC236}">
                <a16:creationId xmlns:a16="http://schemas.microsoft.com/office/drawing/2014/main" id="{F52AE2CB-F45C-48CD-BC7C-434CA0A70FEE}"/>
              </a:ext>
            </a:extLst>
          </p:cNvPr>
          <p:cNvSpPr>
            <a:spLocks xmlns:a="http://schemas.openxmlformats.org/drawingml/2006/main" noGrp="1"/>
          </p:cNvSpPr>
          <p:nvPr/>
        </p:nvSpPr>
        <p:spPr>
          <a:xfrm xmlns:a="http://schemas.openxmlformats.org/drawingml/2006/main">
            <a:off x="1409700" y="2943225"/>
            <a:ext cx="1017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5F3EC"/>
                </a:solidFill>
                <a:latin typeface="Helvetica Neue"/>
                <a:ea typeface="Helvetica Neue"/>
                <a:cs typeface="Helvetica Neue"/>
              </a:defRPr>
            </a:pPr>
            <a:r>
              <a:rPr sz="2100" b="0">
                <a:solidFill>
                  <a:srgbClr val="F5F3EC"/>
                </a:solidFill>
                <a:latin typeface="Helvetica Neue"/>
                <a:ea typeface="Helvetica Neue"/>
                <a:cs typeface="Helvetica Neue"/>
              </a:rPr>
              <a:t>Find opportunities: inspect the completed agent run.</a:t>
            </a:r>
          </a:p>
        </p:txBody>
      </p:sp>
      <p:sp>
        <p:nvSpPr>
          <p:cNvPr id="9" name="03">
            <a:extLst xmlns:a="http://schemas.openxmlformats.org/drawingml/2006/main">
              <a:ext uri="{FF2B5EF4-FFF2-40B4-BE49-F238E27FC236}">
                <a16:creationId xmlns:a16="http://schemas.microsoft.com/office/drawing/2014/main" id="{E265B403-4828-4FE9-B67D-53F1F9F1D5E3}"/>
              </a:ext>
            </a:extLst>
          </p:cNvPr>
          <p:cNvSpPr>
            <a:spLocks xmlns:a="http://schemas.openxmlformats.org/drawingml/2006/main" noGrp="1"/>
          </p:cNvSpPr>
          <p:nvPr/>
        </p:nvSpPr>
        <p:spPr>
          <a:xfrm xmlns:a="http://schemas.openxmlformats.org/drawingml/2006/main">
            <a:off x="609600" y="36099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A9BE9A"/>
                </a:solidFill>
                <a:latin typeface="Helvetica Neue"/>
                <a:ea typeface="Helvetica Neue"/>
                <a:cs typeface="Helvetica Neue"/>
              </a:defRPr>
            </a:pPr>
            <a:r>
              <a:rPr sz="2025" b="1">
                <a:solidFill>
                  <a:srgbClr val="A9BE9A"/>
                </a:solidFill>
                <a:latin typeface="Helvetica Neue"/>
                <a:ea typeface="Helvetica Neue"/>
                <a:cs typeface="Helvetica Neue"/>
              </a:rPr>
              <a:t>03</a:t>
            </a:r>
          </a:p>
        </p:txBody>
      </p:sp>
      <p:sp>
        <p:nvSpPr>
          <p:cNvPr id="10" name="Course detail: explain one score and its sources">
            <a:extLst xmlns:a="http://schemas.openxmlformats.org/drawingml/2006/main">
              <a:ext uri="{FF2B5EF4-FFF2-40B4-BE49-F238E27FC236}">
                <a16:creationId xmlns:a16="http://schemas.microsoft.com/office/drawing/2014/main" id="{F293C7FE-2314-4783-86E6-1D97CA912C5A}"/>
              </a:ext>
            </a:extLst>
          </p:cNvPr>
          <p:cNvSpPr>
            <a:spLocks xmlns:a="http://schemas.openxmlformats.org/drawingml/2006/main" noGrp="1"/>
          </p:cNvSpPr>
          <p:nvPr/>
        </p:nvSpPr>
        <p:spPr>
          <a:xfrm xmlns:a="http://schemas.openxmlformats.org/drawingml/2006/main">
            <a:off x="1409700" y="3609975"/>
            <a:ext cx="1017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5F3EC"/>
                </a:solidFill>
                <a:latin typeface="Helvetica Neue"/>
                <a:ea typeface="Helvetica Neue"/>
                <a:cs typeface="Helvetica Neue"/>
              </a:defRPr>
            </a:pPr>
            <a:r>
              <a:rPr sz="2100" b="0">
                <a:solidFill>
                  <a:srgbClr val="F5F3EC"/>
                </a:solidFill>
                <a:latin typeface="Helvetica Neue"/>
                <a:ea typeface="Helvetica Neue"/>
                <a:cs typeface="Helvetica Neue"/>
              </a:rPr>
              <a:t>Course detail: explain one score and its sources.</a:t>
            </a:r>
          </a:p>
        </p:txBody>
      </p:sp>
      <p:sp>
        <p:nvSpPr>
          <p:cNvPr id="11" name="04">
            <a:extLst xmlns:a="http://schemas.openxmlformats.org/drawingml/2006/main">
              <a:ext uri="{FF2B5EF4-FFF2-40B4-BE49-F238E27FC236}">
                <a16:creationId xmlns:a16="http://schemas.microsoft.com/office/drawing/2014/main" id="{94573DB8-9B6B-45DF-BCCE-B10CB05950B8}"/>
              </a:ext>
            </a:extLst>
          </p:cNvPr>
          <p:cNvSpPr>
            <a:spLocks xmlns:a="http://schemas.openxmlformats.org/drawingml/2006/main" noGrp="1"/>
          </p:cNvSpPr>
          <p:nvPr/>
        </p:nvSpPr>
        <p:spPr>
          <a:xfrm xmlns:a="http://schemas.openxmlformats.org/drawingml/2006/main">
            <a:off x="609600" y="427672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A9BE9A"/>
                </a:solidFill>
                <a:latin typeface="Helvetica Neue"/>
                <a:ea typeface="Helvetica Neue"/>
                <a:cs typeface="Helvetica Neue"/>
              </a:defRPr>
            </a:pPr>
            <a:r>
              <a:rPr sz="2025" b="1">
                <a:solidFill>
                  <a:srgbClr val="A9BE9A"/>
                </a:solidFill>
                <a:latin typeface="Helvetica Neue"/>
                <a:ea typeface="Helvetica Neue"/>
                <a:cs typeface="Helvetica Neue"/>
              </a:rPr>
              <a:t>04</a:t>
            </a:r>
          </a:p>
        </p:txBody>
      </p:sp>
      <p:sp>
        <p:nvSpPr>
          <p:cNvPr id="12" name="Learning plan: save the course and show progress">
            <a:extLst xmlns:a="http://schemas.openxmlformats.org/drawingml/2006/main">
              <a:ext uri="{FF2B5EF4-FFF2-40B4-BE49-F238E27FC236}">
                <a16:creationId xmlns:a16="http://schemas.microsoft.com/office/drawing/2014/main" id="{77A9027D-304F-4490-9F03-BAB1EDA9BF09}"/>
              </a:ext>
            </a:extLst>
          </p:cNvPr>
          <p:cNvSpPr>
            <a:spLocks xmlns:a="http://schemas.openxmlformats.org/drawingml/2006/main" noGrp="1"/>
          </p:cNvSpPr>
          <p:nvPr/>
        </p:nvSpPr>
        <p:spPr>
          <a:xfrm xmlns:a="http://schemas.openxmlformats.org/drawingml/2006/main">
            <a:off x="1409700" y="4276725"/>
            <a:ext cx="1017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5F3EC"/>
                </a:solidFill>
                <a:latin typeface="Helvetica Neue"/>
                <a:ea typeface="Helvetica Neue"/>
                <a:cs typeface="Helvetica Neue"/>
              </a:defRPr>
            </a:pPr>
            <a:r>
              <a:rPr sz="2100" b="0">
                <a:solidFill>
                  <a:srgbClr val="F5F3EC"/>
                </a:solidFill>
                <a:latin typeface="Helvetica Neue"/>
                <a:ea typeface="Helvetica Neue"/>
                <a:cs typeface="Helvetica Neue"/>
              </a:rPr>
              <a:t>Learning plan: save the course and show progress.</a:t>
            </a:r>
          </a:p>
        </p:txBody>
      </p:sp>
      <p:sp>
        <p:nvSpPr>
          <p:cNvPr id="13" name="05">
            <a:extLst xmlns:a="http://schemas.openxmlformats.org/drawingml/2006/main">
              <a:ext uri="{FF2B5EF4-FFF2-40B4-BE49-F238E27FC236}">
                <a16:creationId xmlns:a16="http://schemas.microsoft.com/office/drawing/2014/main" id="{2327A0AA-FE88-4EA5-AFA7-E55929C763EE}"/>
              </a:ext>
            </a:extLst>
          </p:cNvPr>
          <p:cNvSpPr>
            <a:spLocks xmlns:a="http://schemas.openxmlformats.org/drawingml/2006/main" noGrp="1"/>
          </p:cNvSpPr>
          <p:nvPr/>
        </p:nvSpPr>
        <p:spPr>
          <a:xfrm xmlns:a="http://schemas.openxmlformats.org/drawingml/2006/main">
            <a:off x="609600" y="49434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A9BE9A"/>
                </a:solidFill>
                <a:latin typeface="Helvetica Neue"/>
                <a:ea typeface="Helvetica Neue"/>
                <a:cs typeface="Helvetica Neue"/>
              </a:defRPr>
            </a:pPr>
            <a:r>
              <a:rPr sz="2025" b="1">
                <a:solidFill>
                  <a:srgbClr val="A9BE9A"/>
                </a:solidFill>
                <a:latin typeface="Helvetica Neue"/>
                <a:ea typeface="Helvetica Neue"/>
                <a:cs typeface="Helvetica Neue"/>
              </a:rPr>
              <a:t>05</a:t>
            </a:r>
          </a:p>
        </p:txBody>
      </p:sp>
      <p:sp>
        <p:nvSpPr>
          <p:cNvPr id="14" name="Learning trends and Ask Scout: show evidence and">
            <a:extLst xmlns:a="http://schemas.openxmlformats.org/drawingml/2006/main">
              <a:ext uri="{FF2B5EF4-FFF2-40B4-BE49-F238E27FC236}">
                <a16:creationId xmlns:a16="http://schemas.microsoft.com/office/drawing/2014/main" id="{ADE1A554-E050-40A2-9CB1-38BABED44D63}"/>
              </a:ext>
            </a:extLst>
          </p:cNvPr>
          <p:cNvSpPr>
            <a:spLocks xmlns:a="http://schemas.openxmlformats.org/drawingml/2006/main" noGrp="1"/>
          </p:cNvSpPr>
          <p:nvPr/>
        </p:nvSpPr>
        <p:spPr>
          <a:xfrm xmlns:a="http://schemas.openxmlformats.org/drawingml/2006/main">
            <a:off x="1409700" y="4943475"/>
            <a:ext cx="10172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5F3EC"/>
                </a:solidFill>
                <a:latin typeface="Helvetica Neue"/>
                <a:ea typeface="Helvetica Neue"/>
                <a:cs typeface="Helvetica Neue"/>
              </a:defRPr>
            </a:pPr>
            <a:r>
              <a:rPr sz="2100" b="0">
                <a:solidFill>
                  <a:srgbClr val="F5F3EC"/>
                </a:solidFill>
                <a:latin typeface="Helvetica Neue"/>
                <a:ea typeface="Helvetica Neue"/>
                <a:cs typeface="Helvetica Neue"/>
              </a:rPr>
              <a:t>Learning trends and Ask Scout: show evidence and grounding.</a:t>
            </a:r>
          </a:p>
        </p:txBody>
      </p:sp>
      <p:sp>
        <p:nvSpPr>
          <p:cNvPr id="15" name="Allow about 3 minutes. Confirm a successful loca">
            <a:extLst xmlns:a="http://schemas.openxmlformats.org/drawingml/2006/main">
              <a:ext uri="{FF2B5EF4-FFF2-40B4-BE49-F238E27FC236}">
                <a16:creationId xmlns:a16="http://schemas.microsoft.com/office/drawing/2014/main" id="{DFA81463-2D08-4844-A7BF-A7F3BD02C33F}"/>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A9BE9A"/>
                </a:solidFill>
                <a:latin typeface="Helvetica Neue"/>
                <a:ea typeface="Helvetica Neue"/>
                <a:cs typeface="Helvetica Neue"/>
              </a:defRPr>
            </a:pPr>
            <a:r>
              <a:rPr sz="1350" b="0">
                <a:solidFill>
                  <a:srgbClr val="A9BE9A"/>
                </a:solidFill>
                <a:latin typeface="Helvetica Neue"/>
                <a:ea typeface="Helvetica Neue"/>
                <a:cs typeface="Helvetica Neue"/>
              </a:rPr>
              <a:t>Allow about 3 minutes. Confirm a successful local-model run before presenting.</a:t>
            </a:r>
          </a:p>
        </p:txBody>
      </p:sp>
    </p:spTree>
    <p:extLst>
      <p:ext uri="{BB962C8B-B14F-4D97-AF65-F5344CB8AC3E}">
        <p14:creationId xmlns:p14="http://schemas.microsoft.com/office/powerpoint/2010/main" val="1922043260"/>
      </p:ext>
    </p:extLst>
  </p:cSld>
</p:sld>
</file>

<file path=ppt/slides/slide1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SKILLSCOUT AI">
            <a:extLst xmlns:a="http://schemas.openxmlformats.org/drawingml/2006/main">
              <a:ext uri="{FF2B5EF4-FFF2-40B4-BE49-F238E27FC236}">
                <a16:creationId xmlns:a16="http://schemas.microsoft.com/office/drawing/2014/main" id="{898253A3-2D26-4EAD-818F-FDFF26982B16}"/>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SKILLSCOUT AI</a:t>
            </a:r>
          </a:p>
        </p:txBody>
      </p:sp>
      <p:sp>
        <p:nvSpPr>
          <p:cNvPr id="2" name="Technology and persistent data">
            <a:extLst xmlns:a="http://schemas.openxmlformats.org/drawingml/2006/main">
              <a:ext uri="{FF2B5EF4-FFF2-40B4-BE49-F238E27FC236}">
                <a16:creationId xmlns:a16="http://schemas.microsoft.com/office/drawing/2014/main" id="{B6BB7211-9F2A-4B11-8D38-120B9F8A6E4D}"/>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Technology and persistent data</a:t>
            </a:r>
          </a:p>
        </p:txBody>
      </p:sp>
      <p:sp>
        <p:nvSpPr>
          <p:cNvPr id="3" name="14">
            <a:extLst xmlns:a="http://schemas.openxmlformats.org/drawingml/2006/main">
              <a:ext uri="{FF2B5EF4-FFF2-40B4-BE49-F238E27FC236}">
                <a16:creationId xmlns:a16="http://schemas.microsoft.com/office/drawing/2014/main" id="{D54A0ECE-BA93-49CF-AD92-3CF8EA54286A}"/>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14</a:t>
            </a:r>
          </a:p>
        </p:txBody>
      </p:sp>
      <p:graphicFrame>
        <p:nvGraphicFramePr>
          <p:cNvPr id="9" name=""/>
          <p:cNvGraphicFramePr/>
          <p:nvPr/>
        </p:nvGraphicFramePr>
        <p:xfrm>
          <a:off xmlns:a="http://schemas.openxmlformats.org/drawingml/2006/main" x="609600" y="2095500"/>
          <a:ext xmlns:a="http://schemas.openxmlformats.org/drawingml/2006/main" cx="10972800" cy="3257550"/>
        </p:xfrm>
        <a:graphic xmlns:a="http://schemas.openxmlformats.org/drawingml/2006/main">
          <a:graphicData uri="http://schemas.openxmlformats.org/drawingml/2006/table">
            <a:tbl>
              <a:tblPr/>
              <a:tblGrid>
                <a:gridCol w="2381250"/>
                <a:gridCol w="4191000"/>
                <a:gridCol w="4400550"/>
              </a:tblGrid>
              <a:tr h="651510">
                <a:tc>
                  <a:txBody>
                    <a:bodyPr lIns="142875" tIns="114300" rIns="142875" bIns="114300">
                      <a:noAutofit/>
                    </a:bodyPr>
                    <a:lstStyle/>
                    <a:p>
                      <a:r>
                        <a:rPr sz="1800" b="1">
                          <a:solidFill>
                            <a:srgbClr val="F5F3EC"/>
                          </a:solidFill>
                          <a:latin typeface="Helvetica Neue"/>
                          <a:ea typeface="Helvetica Neue"/>
                          <a:cs typeface="Helvetica Neue"/>
                        </a:rPr>
                        <a:t>Layer</a:t>
                      </a:r>
                    </a:p>
                  </a:txBody>
                  <a:tcPr marL="91440" marR="91440" marT="45720" marB="45720" anchor="ctr">
                    <a:solidFill>
                      <a:srgbClr val="193E35"/>
                    </a:solidFill>
                  </a:tcPr>
                </a:tc>
                <a:tc>
                  <a:txBody>
                    <a:bodyPr lIns="142875" tIns="114300" rIns="142875" bIns="114300">
                      <a:noAutofit/>
                    </a:bodyPr>
                    <a:lstStyle/>
                    <a:p>
                      <a:r>
                        <a:rPr sz="1800" b="1">
                          <a:solidFill>
                            <a:srgbClr val="F5F3EC"/>
                          </a:solidFill>
                          <a:latin typeface="Helvetica Neue"/>
                          <a:ea typeface="Helvetica Neue"/>
                          <a:cs typeface="Helvetica Neue"/>
                        </a:rPr>
                        <a:t>Implementation</a:t>
                      </a:r>
                    </a:p>
                  </a:txBody>
                  <a:tcPr marL="91440" marR="91440" marT="45720" marB="45720" anchor="ctr">
                    <a:solidFill>
                      <a:srgbClr val="193E35"/>
                    </a:solidFill>
                  </a:tcPr>
                </a:tc>
                <a:tc>
                  <a:txBody>
                    <a:bodyPr lIns="142875" tIns="114300" rIns="142875" bIns="114300">
                      <a:noAutofit/>
                    </a:bodyPr>
                    <a:lstStyle/>
                    <a:p>
                      <a:r>
                        <a:rPr sz="1800" b="1">
                          <a:solidFill>
                            <a:srgbClr val="F5F3EC"/>
                          </a:solidFill>
                          <a:latin typeface="Helvetica Neue"/>
                          <a:ea typeface="Helvetica Neue"/>
                          <a:cs typeface="Helvetica Neue"/>
                        </a:rPr>
                        <a:t>Responsibility</a:t>
                      </a:r>
                    </a:p>
                  </a:txBody>
                  <a:tcPr marL="91440" marR="91440" marT="45720" marB="45720" anchor="ctr">
                    <a:solidFill>
                      <a:srgbClr val="193E35"/>
                    </a:solidFill>
                  </a:tcPr>
                </a:tc>
              </a:tr>
              <a:tr h="651510">
                <a:tc>
                  <a:txBody>
                    <a:bodyPr lIns="142875" tIns="114300" rIns="142875" bIns="114300">
                      <a:noAutofit/>
                    </a:bodyPr>
                    <a:lstStyle/>
                    <a:p>
                      <a:r>
                        <a:rPr sz="1875" b="0">
                          <a:solidFill>
                            <a:srgbClr val="193E35"/>
                          </a:solidFill>
                          <a:latin typeface="Helvetica Neue"/>
                          <a:ea typeface="Helvetica Neue"/>
                          <a:cs typeface="Helvetica Neue"/>
                        </a:rPr>
                        <a:t>Interface</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React + TypeScript + Vite</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Employee and organization workspace</a:t>
                      </a:r>
                    </a:p>
                  </a:txBody>
                  <a:tcPr marL="91440" marR="91440" marT="45720" marB="45720" anchor="ctr">
                    <a:solidFill>
                      <a:srgbClr val="F5F3EC"/>
                    </a:solidFill>
                  </a:tcPr>
                </a:tc>
              </a:tr>
              <a:tr h="651510">
                <a:tc>
                  <a:txBody>
                    <a:bodyPr lIns="142875" tIns="114300" rIns="142875" bIns="114300">
                      <a:noAutofit/>
                    </a:bodyPr>
                    <a:lstStyle/>
                    <a:p>
                      <a:r>
                        <a:rPr sz="1875" b="0">
                          <a:solidFill>
                            <a:srgbClr val="193E35"/>
                          </a:solidFill>
                          <a:latin typeface="Helvetica Neue"/>
                          <a:ea typeface="Helvetica Neue"/>
                          <a:cs typeface="Helvetica Neue"/>
                        </a:rPr>
                        <a:t>Services</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Python + FastAPI</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Gateway and four HTTP workers</a:t>
                      </a:r>
                    </a:p>
                  </a:txBody>
                  <a:tcPr marL="91440" marR="91440" marT="45720" marB="45720" anchor="ctr">
                    <a:solidFill>
                      <a:srgbClr val="E9EDDF"/>
                    </a:solidFill>
                  </a:tcPr>
                </a:tc>
              </a:tr>
              <a:tr h="651510">
                <a:tc>
                  <a:txBody>
                    <a:bodyPr lIns="142875" tIns="114300" rIns="142875" bIns="114300">
                      <a:noAutofit/>
                    </a:bodyPr>
                    <a:lstStyle/>
                    <a:p>
                      <a:r>
                        <a:rPr sz="1875" b="0">
                          <a:solidFill>
                            <a:srgbClr val="193E35"/>
                          </a:solidFill>
                          <a:latin typeface="Helvetica Neue"/>
                          <a:ea typeface="Helvetica Neue"/>
                          <a:cs typeface="Helvetica Neue"/>
                        </a:rPr>
                        <a:t>Model runtime</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Ollama</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Local structured model responses</a:t>
                      </a:r>
                    </a:p>
                  </a:txBody>
                  <a:tcPr marL="91440" marR="91440" marT="45720" marB="45720" anchor="ctr">
                    <a:solidFill>
                      <a:srgbClr val="F5F3EC"/>
                    </a:solidFill>
                  </a:tcPr>
                </a:tc>
              </a:tr>
              <a:tr h="651510">
                <a:tc>
                  <a:txBody>
                    <a:bodyPr lIns="142875" tIns="114300" rIns="142875" bIns="114300">
                      <a:noAutofit/>
                    </a:bodyPr>
                    <a:lstStyle/>
                    <a:p>
                      <a:r>
                        <a:rPr sz="1875" b="0">
                          <a:solidFill>
                            <a:srgbClr val="193E35"/>
                          </a:solidFill>
                          <a:latin typeface="Helvetica Neue"/>
                          <a:ea typeface="Helvetica Neue"/>
                          <a:cs typeface="Helvetica Neue"/>
                        </a:rPr>
                        <a:t>Database</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SQLite</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Accounts, profiles and learning data</a:t>
                      </a:r>
                    </a:p>
                  </a:txBody>
                  <a:tcPr marL="91440" marR="91440" marT="45720" marB="45720" anchor="ctr">
                    <a:solidFill>
                      <a:srgbClr val="E9EDDF"/>
                    </a:solidFill>
                  </a:tcPr>
                </a:tc>
              </a:tr>
            </a:tbl>
          </a:graphicData>
        </a:graphic>
      </p:graphicFrame>
      <p:sp>
        <p:nvSpPr>
          <p:cNvPr id="5" name="data/skillscout.db">
            <a:extLst xmlns:a="http://schemas.openxmlformats.org/drawingml/2006/main">
              <a:ext uri="{FF2B5EF4-FFF2-40B4-BE49-F238E27FC236}">
                <a16:creationId xmlns:a16="http://schemas.microsoft.com/office/drawing/2014/main" id="{4AE061A5-9CBF-40BC-8173-0DE4D8126576}"/>
              </a:ext>
            </a:extLst>
          </p:cNvPr>
          <p:cNvSpPr>
            <a:spLocks xmlns:a="http://schemas.openxmlformats.org/drawingml/2006/main" noGrp="1"/>
          </p:cNvSpPr>
          <p:nvPr/>
        </p:nvSpPr>
        <p:spPr>
          <a:xfrm xmlns:a="http://schemas.openxmlformats.org/drawingml/2006/main">
            <a:off x="619125" y="5667375"/>
            <a:ext cx="752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32694F"/>
                </a:solidFill>
                <a:latin typeface="Helvetica Neue"/>
                <a:ea typeface="Helvetica Neue"/>
                <a:cs typeface="Helvetica Neue"/>
              </a:defRPr>
            </a:pPr>
            <a:r>
              <a:rPr sz="2100" b="1">
                <a:solidFill>
                  <a:srgbClr val="32694F"/>
                </a:solidFill>
                <a:latin typeface="Helvetica Neue"/>
                <a:ea typeface="Helvetica Neue"/>
                <a:cs typeface="Helvetica Neue"/>
              </a:rPr>
              <a:t>data/skillscout.db</a:t>
            </a:r>
          </a:p>
        </p:txBody>
      </p:sp>
    </p:spTree>
    <p:extLst>
      <p:ext uri="{BB962C8B-B14F-4D97-AF65-F5344CB8AC3E}">
        <p14:creationId xmlns:p14="http://schemas.microsoft.com/office/powerpoint/2010/main" val="559081719"/>
      </p:ext>
    </p:extLst>
  </p:cSld>
</p:sld>
</file>

<file path=ppt/slides/slide1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0" name="SKILLSCOUT AI">
            <a:extLst xmlns:a="http://schemas.openxmlformats.org/drawingml/2006/main">
              <a:ext uri="{FF2B5EF4-FFF2-40B4-BE49-F238E27FC236}">
                <a16:creationId xmlns:a16="http://schemas.microsoft.com/office/drawing/2014/main" id="{174CEB2F-C6A5-4E30-8ABF-434DDD7C8B2C}"/>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SKILLSCOUT AI</a:t>
            </a:r>
          </a:p>
        </p:txBody>
      </p:sp>
      <p:sp>
        <p:nvSpPr>
          <p:cNvPr id="2" name="Security and access control">
            <a:extLst xmlns:a="http://schemas.openxmlformats.org/drawingml/2006/main">
              <a:ext uri="{FF2B5EF4-FFF2-40B4-BE49-F238E27FC236}">
                <a16:creationId xmlns:a16="http://schemas.microsoft.com/office/drawing/2014/main" id="{0ECCF887-0DE8-4F54-8D98-39BAB63F5C21}"/>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Security and access control</a:t>
            </a:r>
          </a:p>
        </p:txBody>
      </p:sp>
      <p:sp>
        <p:nvSpPr>
          <p:cNvPr id="3" name="15">
            <a:extLst xmlns:a="http://schemas.openxmlformats.org/drawingml/2006/main">
              <a:ext uri="{FF2B5EF4-FFF2-40B4-BE49-F238E27FC236}">
                <a16:creationId xmlns:a16="http://schemas.microsoft.com/office/drawing/2014/main" id="{1BE13420-FFBF-4B78-9C68-894718ABDE25}"/>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15</a:t>
            </a:r>
          </a:p>
        </p:txBody>
      </p:sp>
      <p:sp>
        <p:nvSpPr>
          <p:cNvPr id="4" name="Login and request protection">
            <a:extLst xmlns:a="http://schemas.openxmlformats.org/drawingml/2006/main">
              <a:ext uri="{FF2B5EF4-FFF2-40B4-BE49-F238E27FC236}">
                <a16:creationId xmlns:a16="http://schemas.microsoft.com/office/drawing/2014/main" id="{7D6B81A8-C1D5-40D7-B9B9-A3FF37E37CFC}"/>
              </a:ext>
            </a:extLst>
          </p:cNvPr>
          <p:cNvSpPr>
            <a:spLocks xmlns:a="http://schemas.openxmlformats.org/drawingml/2006/main" noGrp="1"/>
          </p:cNvSpPr>
          <p:nvPr/>
        </p:nvSpPr>
        <p:spPr>
          <a:xfrm xmlns:a="http://schemas.openxmlformats.org/drawingml/2006/main">
            <a:off x="619125" y="2200275"/>
            <a:ext cx="4972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Login and request protection</a:t>
            </a:r>
          </a:p>
        </p:txBody>
      </p:sp>
      <p:sp>
        <p:nvSpPr>
          <p:cNvPr id="5" name="Salted password hashes&#10;HttpOnly session cookies&#10;">
            <a:extLst xmlns:a="http://schemas.openxmlformats.org/drawingml/2006/main">
              <a:ext uri="{FF2B5EF4-FFF2-40B4-BE49-F238E27FC236}">
                <a16:creationId xmlns:a16="http://schemas.microsoft.com/office/drawing/2014/main" id="{A11E662D-91C8-43C6-B151-FB55494429A0}"/>
              </a:ext>
            </a:extLst>
          </p:cNvPr>
          <p:cNvSpPr>
            <a:spLocks xmlns:a="http://schemas.openxmlformats.org/drawingml/2006/main" noGrp="1"/>
          </p:cNvSpPr>
          <p:nvPr/>
        </p:nvSpPr>
        <p:spPr>
          <a:xfrm xmlns:a="http://schemas.openxmlformats.org/drawingml/2006/main">
            <a:off x="619125" y="2743200"/>
            <a:ext cx="49720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Salted password hashes</a:t>
            </a:r>
          </a:p>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HttpOnly session cookies</a:t>
            </a:r>
          </a:p>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CSRF and origin checks</a:t>
            </a:r>
          </a:p>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Input bounds and rate limits</a:t>
            </a:r>
          </a:p>
        </p:txBody>
      </p:sp>
      <p:sp>
        <p:nvSpPr>
          <p:cNvPr id="6" name="Permissions">
            <a:extLst xmlns:a="http://schemas.openxmlformats.org/drawingml/2006/main">
              <a:ext uri="{FF2B5EF4-FFF2-40B4-BE49-F238E27FC236}">
                <a16:creationId xmlns:a16="http://schemas.microsoft.com/office/drawing/2014/main" id="{AF3DD42E-D685-4D2B-A89C-4ACB4C9EF68D}"/>
              </a:ext>
            </a:extLst>
          </p:cNvPr>
          <p:cNvSpPr>
            <a:spLocks xmlns:a="http://schemas.openxmlformats.org/drawingml/2006/main" noGrp="1"/>
          </p:cNvSpPr>
          <p:nvPr/>
        </p:nvSpPr>
        <p:spPr>
          <a:xfrm xmlns:a="http://schemas.openxmlformats.org/drawingml/2006/main">
            <a:off x="6505575" y="2200275"/>
            <a:ext cx="5000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Permissions</a:t>
            </a:r>
          </a:p>
        </p:txBody>
      </p:sp>
      <p:sp>
        <p:nvSpPr>
          <p:cNvPr id="7" name="Employees access their own data.&#10;HR sees organiz">
            <a:extLst xmlns:a="http://schemas.openxmlformats.org/drawingml/2006/main">
              <a:ext uri="{FF2B5EF4-FFF2-40B4-BE49-F238E27FC236}">
                <a16:creationId xmlns:a16="http://schemas.microsoft.com/office/drawing/2014/main" id="{03E128F7-CEE9-4947-84F6-3FCD7D274A27}"/>
              </a:ext>
            </a:extLst>
          </p:cNvPr>
          <p:cNvSpPr>
            <a:spLocks xmlns:a="http://schemas.openxmlformats.org/drawingml/2006/main" noGrp="1"/>
          </p:cNvSpPr>
          <p:nvPr/>
        </p:nvSpPr>
        <p:spPr>
          <a:xfrm xmlns:a="http://schemas.openxmlformats.org/drawingml/2006/main">
            <a:off x="6505575" y="2743200"/>
            <a:ext cx="5000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Employees access their own data.</a:t>
            </a:r>
          </a:p>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HR sees organization aggregates.</a:t>
            </a:r>
          </a:p>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Admins can ingest catalogue data.</a:t>
            </a:r>
          </a:p>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Workers require X-Agent-Key.</a:t>
            </a:r>
          </a:p>
        </p:txBody>
      </p:sp>
      <p:sp>
        <p:nvSpPr>
          <p:cNvPr id="8" name="Local services bind to loopback addresses.">
            <a:extLst xmlns:a="http://schemas.openxmlformats.org/drawingml/2006/main">
              <a:ext uri="{FF2B5EF4-FFF2-40B4-BE49-F238E27FC236}">
                <a16:creationId xmlns:a16="http://schemas.microsoft.com/office/drawing/2014/main" id="{34183C34-EF00-4B6C-9A48-41C8639F182C}"/>
              </a:ext>
            </a:extLst>
          </p:cNvPr>
          <p:cNvSpPr>
            <a:spLocks xmlns:a="http://schemas.openxmlformats.org/drawingml/2006/main" noGrp="1"/>
          </p:cNvSpPr>
          <p:nvPr/>
        </p:nvSpPr>
        <p:spPr>
          <a:xfrm xmlns:a="http://schemas.openxmlformats.org/drawingml/2006/main">
            <a:off x="619125" y="5114925"/>
            <a:ext cx="10715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32694F"/>
                </a:solidFill>
                <a:latin typeface="Helvetica Neue"/>
                <a:ea typeface="Helvetica Neue"/>
                <a:cs typeface="Helvetica Neue"/>
              </a:defRPr>
            </a:pPr>
            <a:r>
              <a:rPr sz="2400" b="1">
                <a:solidFill>
                  <a:srgbClr val="32694F"/>
                </a:solidFill>
                <a:latin typeface="Helvetica Neue"/>
                <a:ea typeface="Helvetica Neue"/>
                <a:cs typeface="Helvetica Neue"/>
              </a:rPr>
              <a:t>Local services bind to loopback addresses.</a:t>
            </a:r>
          </a:p>
        </p:txBody>
      </p:sp>
      <p:sp>
        <p:nvSpPr>
          <p:cNvPr id="9" name="Internet deployment would need additional contro">
            <a:extLst xmlns:a="http://schemas.openxmlformats.org/drawingml/2006/main">
              <a:ext uri="{FF2B5EF4-FFF2-40B4-BE49-F238E27FC236}">
                <a16:creationId xmlns:a16="http://schemas.microsoft.com/office/drawing/2014/main" id="{E4601401-EDB4-4618-AE1F-6CC25A1DE596}"/>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Internet deployment would need additional controls, including TLS, tenant isolation and encryption at rest.</a:t>
            </a:r>
          </a:p>
        </p:txBody>
      </p:sp>
    </p:spTree>
    <p:extLst>
      <p:ext uri="{BB962C8B-B14F-4D97-AF65-F5344CB8AC3E}">
        <p14:creationId xmlns:p14="http://schemas.microsoft.com/office/powerpoint/2010/main" val="1889049669"/>
      </p:ext>
    </p:extLst>
  </p:cSld>
</p:sld>
</file>

<file path=ppt/slides/slide1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SKILLSCOUT AI">
            <a:extLst xmlns:a="http://schemas.openxmlformats.org/drawingml/2006/main">
              <a:ext uri="{FF2B5EF4-FFF2-40B4-BE49-F238E27FC236}">
                <a16:creationId xmlns:a16="http://schemas.microsoft.com/office/drawing/2014/main" id="{F75FC940-DDEA-4DA9-B422-1A686374269E}"/>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SKILLSCOUT AI</a:t>
            </a:r>
          </a:p>
        </p:txBody>
      </p:sp>
      <p:sp>
        <p:nvSpPr>
          <p:cNvPr id="2" name="Responsible AI in the workflow">
            <a:extLst xmlns:a="http://schemas.openxmlformats.org/drawingml/2006/main">
              <a:ext uri="{FF2B5EF4-FFF2-40B4-BE49-F238E27FC236}">
                <a16:creationId xmlns:a16="http://schemas.microsoft.com/office/drawing/2014/main" id="{B1E59CCA-398E-46BA-834C-982507F34833}"/>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Responsible AI in the workflow</a:t>
            </a:r>
          </a:p>
        </p:txBody>
      </p:sp>
      <p:sp>
        <p:nvSpPr>
          <p:cNvPr id="3" name="16">
            <a:extLst xmlns:a="http://schemas.openxmlformats.org/drawingml/2006/main">
              <a:ext uri="{FF2B5EF4-FFF2-40B4-BE49-F238E27FC236}">
                <a16:creationId xmlns:a16="http://schemas.microsoft.com/office/drawing/2014/main" id="{676D87E9-19FA-4C46-9431-28B1C141F639}"/>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16</a:t>
            </a:r>
          </a:p>
        </p:txBody>
      </p:sp>
      <p:graphicFrame>
        <p:nvGraphicFramePr>
          <p:cNvPr id="9" name=""/>
          <p:cNvGraphicFramePr/>
          <p:nvPr/>
        </p:nvGraphicFramePr>
        <p:xfrm>
          <a:off xmlns:a="http://schemas.openxmlformats.org/drawingml/2006/main" x="609600" y="2095500"/>
          <a:ext xmlns:a="http://schemas.openxmlformats.org/drawingml/2006/main" cx="10972800" cy="3429000"/>
        </p:xfrm>
        <a:graphic xmlns:a="http://schemas.openxmlformats.org/drawingml/2006/main">
          <a:graphicData uri="http://schemas.openxmlformats.org/drawingml/2006/table">
            <a:tbl>
              <a:tblPr/>
              <a:tblGrid>
                <a:gridCol w="2400300"/>
                <a:gridCol w="4324350"/>
                <a:gridCol w="4248150"/>
              </a:tblGrid>
              <a:tr h="685800">
                <a:tc>
                  <a:txBody>
                    <a:bodyPr lIns="142875" tIns="114300" rIns="142875" bIns="114300">
                      <a:noAutofit/>
                    </a:bodyPr>
                    <a:lstStyle/>
                    <a:p>
                      <a:r>
                        <a:rPr sz="1725" b="1">
                          <a:solidFill>
                            <a:srgbClr val="F5F3EC"/>
                          </a:solidFill>
                          <a:latin typeface="Helvetica Neue"/>
                          <a:ea typeface="Helvetica Neue"/>
                          <a:cs typeface="Helvetica Neue"/>
                        </a:rPr>
                        <a:t>Principle</a:t>
                      </a:r>
                    </a:p>
                  </a:txBody>
                  <a:tcPr marL="91440" marR="91440" marT="45720" marB="45720" anchor="ctr">
                    <a:solidFill>
                      <a:srgbClr val="193E35"/>
                    </a:solidFill>
                  </a:tcPr>
                </a:tc>
                <a:tc>
                  <a:txBody>
                    <a:bodyPr lIns="142875" tIns="114300" rIns="142875" bIns="114300">
                      <a:noAutofit/>
                    </a:bodyPr>
                    <a:lstStyle/>
                    <a:p>
                      <a:r>
                        <a:rPr sz="1725" b="1">
                          <a:solidFill>
                            <a:srgbClr val="F5F3EC"/>
                          </a:solidFill>
                          <a:latin typeface="Helvetica Neue"/>
                          <a:ea typeface="Helvetica Neue"/>
                          <a:cs typeface="Helvetica Neue"/>
                        </a:rPr>
                        <a:t>Implementation</a:t>
                      </a:r>
                    </a:p>
                  </a:txBody>
                  <a:tcPr marL="91440" marR="91440" marT="45720" marB="45720" anchor="ctr">
                    <a:solidFill>
                      <a:srgbClr val="193E35"/>
                    </a:solidFill>
                  </a:tcPr>
                </a:tc>
                <a:tc>
                  <a:txBody>
                    <a:bodyPr lIns="142875" tIns="114300" rIns="142875" bIns="114300">
                      <a:noAutofit/>
                    </a:bodyPr>
                    <a:lstStyle/>
                    <a:p>
                      <a:r>
                        <a:rPr sz="1725" b="1">
                          <a:solidFill>
                            <a:srgbClr val="F5F3EC"/>
                          </a:solidFill>
                          <a:latin typeface="Helvetica Neue"/>
                          <a:ea typeface="Helvetica Neue"/>
                          <a:cs typeface="Helvetica Neue"/>
                        </a:rPr>
                        <a:t>Remaining responsibility</a:t>
                      </a:r>
                    </a:p>
                  </a:txBody>
                  <a:tcPr marL="91440" marR="91440" marT="45720" marB="45720" anchor="ctr">
                    <a:solidFill>
                      <a:srgbClr val="193E35"/>
                    </a:solidFill>
                  </a:tcPr>
                </a:tc>
              </a:tr>
              <a:tr h="685800">
                <a:tc>
                  <a:txBody>
                    <a:bodyPr lIns="142875" tIns="114300" rIns="142875" bIns="114300">
                      <a:noAutofit/>
                    </a:bodyPr>
                    <a:lstStyle/>
                    <a:p>
                      <a:r>
                        <a:rPr sz="1800" b="0">
                          <a:solidFill>
                            <a:srgbClr val="193E35"/>
                          </a:solidFill>
                          <a:latin typeface="Helvetica Neue"/>
                          <a:ea typeface="Helvetica Neue"/>
                          <a:cs typeface="Helvetica Neue"/>
                        </a:rPr>
                        <a:t>Transparency</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Reasons, source records and demo labels</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Explain the limits of scores and data</a:t>
                      </a:r>
                    </a:p>
                  </a:txBody>
                  <a:tcPr marL="91440" marR="91440" marT="45720" marB="45720" anchor="ctr">
                    <a:solidFill>
                      <a:srgbClr val="F5F3EC"/>
                    </a:solidFill>
                  </a:tcPr>
                </a:tc>
              </a:tr>
              <a:tr h="685800">
                <a:tc>
                  <a:txBody>
                    <a:bodyPr lIns="142875" tIns="114300" rIns="142875" bIns="114300">
                      <a:noAutofit/>
                    </a:bodyPr>
                    <a:lstStyle/>
                    <a:p>
                      <a:r>
                        <a:rPr sz="1800" b="0">
                          <a:solidFill>
                            <a:srgbClr val="193E35"/>
                          </a:solidFill>
                          <a:latin typeface="Helvetica Neue"/>
                          <a:ea typeface="Helvetica Neue"/>
                          <a:cs typeface="Helvetica Neue"/>
                        </a:rPr>
                        <a:t>Privacy</a:t>
                      </a:r>
                    </a:p>
                  </a:txBody>
                  <a:tcPr marL="91440" marR="91440" marT="45720" marB="45720" anchor="ctr">
                    <a:solidFill>
                      <a:srgbClr val="E9EDDF"/>
                    </a:solidFill>
                  </a:tcPr>
                </a:tc>
                <a:tc>
                  <a:txBody>
                    <a:bodyPr lIns="142875" tIns="114300" rIns="142875" bIns="114300">
                      <a:noAutofit/>
                    </a:bodyPr>
                    <a:lstStyle/>
                    <a:p>
                      <a:r>
                        <a:rPr sz="1800" b="0">
                          <a:solidFill>
                            <a:srgbClr val="193E35"/>
                          </a:solidFill>
                          <a:latin typeface="Helvetica Neue"/>
                          <a:ea typeface="Helvetica Neue"/>
                          <a:cs typeface="Helvetica Neue"/>
                        </a:rPr>
                        <a:t>Consent, user scoping, export and deletion</a:t>
                      </a:r>
                    </a:p>
                  </a:txBody>
                  <a:tcPr marL="91440" marR="91440" marT="45720" marB="45720" anchor="ctr">
                    <a:solidFill>
                      <a:srgbClr val="E9EDDF"/>
                    </a:solidFill>
                  </a:tcPr>
                </a:tc>
                <a:tc>
                  <a:txBody>
                    <a:bodyPr lIns="142875" tIns="114300" rIns="142875" bIns="114300">
                      <a:noAutofit/>
                    </a:bodyPr>
                    <a:lstStyle/>
                    <a:p>
                      <a:r>
                        <a:rPr sz="1800" b="0">
                          <a:solidFill>
                            <a:srgbClr val="193E35"/>
                          </a:solidFill>
                          <a:latin typeface="Helvetica Neue"/>
                          <a:ea typeface="Helvetica Neue"/>
                          <a:cs typeface="Helvetica Neue"/>
                        </a:rPr>
                        <a:t>Protect local files and backups</a:t>
                      </a:r>
                    </a:p>
                  </a:txBody>
                  <a:tcPr marL="91440" marR="91440" marT="45720" marB="45720" anchor="ctr">
                    <a:solidFill>
                      <a:srgbClr val="E9EDDF"/>
                    </a:solidFill>
                  </a:tcPr>
                </a:tc>
              </a:tr>
              <a:tr h="685800">
                <a:tc>
                  <a:txBody>
                    <a:bodyPr lIns="142875" tIns="114300" rIns="142875" bIns="114300">
                      <a:noAutofit/>
                    </a:bodyPr>
                    <a:lstStyle/>
                    <a:p>
                      <a:r>
                        <a:rPr sz="1800" b="0">
                          <a:solidFill>
                            <a:srgbClr val="193E35"/>
                          </a:solidFill>
                          <a:latin typeface="Helvetica Neue"/>
                          <a:ea typeface="Helvetica Neue"/>
                          <a:cs typeface="Helvetica Neue"/>
                        </a:rPr>
                        <a:t>Fairness</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Use professional skills and goals</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Audit taxonomy and catalogue coverage</a:t>
                      </a:r>
                    </a:p>
                  </a:txBody>
                  <a:tcPr marL="91440" marR="91440" marT="45720" marB="45720" anchor="ctr">
                    <a:solidFill>
                      <a:srgbClr val="F5F3EC"/>
                    </a:solidFill>
                  </a:tcPr>
                </a:tc>
              </a:tr>
              <a:tr h="685800">
                <a:tc>
                  <a:txBody>
                    <a:bodyPr lIns="142875" tIns="114300" rIns="142875" bIns="114300">
                      <a:noAutofit/>
                    </a:bodyPr>
                    <a:lstStyle/>
                    <a:p>
                      <a:r>
                        <a:rPr sz="1800" b="0">
                          <a:solidFill>
                            <a:srgbClr val="193E35"/>
                          </a:solidFill>
                          <a:latin typeface="Helvetica Neue"/>
                          <a:ea typeface="Helvetica Neue"/>
                          <a:cs typeface="Helvetica Neue"/>
                        </a:rPr>
                        <a:t>Human control</a:t>
                      </a:r>
                    </a:p>
                  </a:txBody>
                  <a:tcPr marL="91440" marR="91440" marT="45720" marB="45720" anchor="ctr">
                    <a:solidFill>
                      <a:srgbClr val="E9EDDF"/>
                    </a:solidFill>
                  </a:tcPr>
                </a:tc>
                <a:tc>
                  <a:txBody>
                    <a:bodyPr lIns="142875" tIns="114300" rIns="142875" bIns="114300">
                      <a:noAutofit/>
                    </a:bodyPr>
                    <a:lstStyle/>
                    <a:p>
                      <a:r>
                        <a:rPr sz="1800" b="0">
                          <a:solidFill>
                            <a:srgbClr val="193E35"/>
                          </a:solidFill>
                          <a:latin typeface="Helvetica Neue"/>
                          <a:ea typeface="Helvetica Neue"/>
                          <a:cs typeface="Helvetica Neue"/>
                        </a:rPr>
                        <a:t>Employee chooses training</a:t>
                      </a:r>
                    </a:p>
                  </a:txBody>
                  <a:tcPr marL="91440" marR="91440" marT="45720" marB="45720" anchor="ctr">
                    <a:solidFill>
                      <a:srgbClr val="E9EDDF"/>
                    </a:solidFill>
                  </a:tcPr>
                </a:tc>
                <a:tc>
                  <a:txBody>
                    <a:bodyPr lIns="142875" tIns="114300" rIns="142875" bIns="114300">
                      <a:noAutofit/>
                    </a:bodyPr>
                    <a:lstStyle/>
                    <a:p>
                      <a:r>
                        <a:rPr sz="1800" b="0">
                          <a:solidFill>
                            <a:srgbClr val="193E35"/>
                          </a:solidFill>
                          <a:latin typeface="Helvetica Neue"/>
                          <a:ea typeface="Helvetica Neue"/>
                          <a:cs typeface="Helvetica Neue"/>
                        </a:rPr>
                        <a:t>Avoid employment decisions</a:t>
                      </a:r>
                    </a:p>
                  </a:txBody>
                  <a:tcPr marL="91440" marR="91440" marT="45720" marB="45720" anchor="ctr">
                    <a:solidFill>
                      <a:srgbClr val="E9EDDF"/>
                    </a:solidFill>
                  </a:tcPr>
                </a:tc>
              </a:tr>
            </a:tbl>
          </a:graphicData>
        </a:graphic>
      </p:graphicFrame>
      <p:sp>
        <p:nvSpPr>
          <p:cNvPr id="5" name="Consent withdrawal blocks analysis and clears cu">
            <a:extLst xmlns:a="http://schemas.openxmlformats.org/drawingml/2006/main">
              <a:ext uri="{FF2B5EF4-FFF2-40B4-BE49-F238E27FC236}">
                <a16:creationId xmlns:a16="http://schemas.microsoft.com/office/drawing/2014/main" id="{C7ACC43A-BA3D-4047-9E6E-BB3B8611CE23}"/>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Consent withdrawal blocks analysis and clears current recommendations. Account deletion removes stored user records.</a:t>
            </a:r>
          </a:p>
        </p:txBody>
      </p:sp>
    </p:spTree>
    <p:extLst>
      <p:ext uri="{BB962C8B-B14F-4D97-AF65-F5344CB8AC3E}">
        <p14:creationId xmlns:p14="http://schemas.microsoft.com/office/powerpoint/2010/main" val="1153030757"/>
      </p:ext>
    </p:extLst>
  </p:cSld>
</p:sld>
</file>

<file path=ppt/slides/slide17.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0" name="SKILLSCOUT AI">
            <a:extLst xmlns:a="http://schemas.openxmlformats.org/drawingml/2006/main">
              <a:ext uri="{FF2B5EF4-FFF2-40B4-BE49-F238E27FC236}">
                <a16:creationId xmlns:a16="http://schemas.microsoft.com/office/drawing/2014/main" id="{B20DDF68-B4EF-4430-A185-4E1E37E2BEBE}"/>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SKILLSCOUT AI</a:t>
            </a:r>
          </a:p>
        </p:txBody>
      </p:sp>
      <p:sp>
        <p:nvSpPr>
          <p:cNvPr id="2" name="Evaluation evidence">
            <a:extLst xmlns:a="http://schemas.openxmlformats.org/drawingml/2006/main">
              <a:ext uri="{FF2B5EF4-FFF2-40B4-BE49-F238E27FC236}">
                <a16:creationId xmlns:a16="http://schemas.microsoft.com/office/drawing/2014/main" id="{919C0036-D715-418A-81DB-1B2D46D8E67B}"/>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Evaluation evidence</a:t>
            </a:r>
          </a:p>
        </p:txBody>
      </p:sp>
      <p:sp>
        <p:nvSpPr>
          <p:cNvPr id="3" name="Local rerun on 21 September 2026">
            <a:extLst xmlns:a="http://schemas.openxmlformats.org/drawingml/2006/main">
              <a:ext uri="{FF2B5EF4-FFF2-40B4-BE49-F238E27FC236}">
                <a16:creationId xmlns:a16="http://schemas.microsoft.com/office/drawing/2014/main" id="{626ADFDC-8386-4346-8C85-BE792E804690}"/>
              </a:ext>
            </a:extLst>
          </p:cNvPr>
          <p:cNvSpPr>
            <a:spLocks xmlns:a="http://schemas.openxmlformats.org/drawingml/2006/main" noGrp="1"/>
          </p:cNvSpPr>
          <p:nvPr/>
        </p:nvSpPr>
        <p:spPr>
          <a:xfrm xmlns:a="http://schemas.openxmlformats.org/drawingml/2006/main">
            <a:off x="628650" y="1638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63736B"/>
                </a:solidFill>
                <a:latin typeface="Helvetica Neue"/>
                <a:ea typeface="Helvetica Neue"/>
                <a:cs typeface="Helvetica Neue"/>
              </a:defRPr>
            </a:pPr>
            <a:r>
              <a:rPr sz="1800" b="0">
                <a:solidFill>
                  <a:srgbClr val="63736B"/>
                </a:solidFill>
                <a:latin typeface="Helvetica Neue"/>
                <a:ea typeface="Helvetica Neue"/>
                <a:cs typeface="Helvetica Neue"/>
              </a:rPr>
              <a:t>Local rerun on 21 September 2026</a:t>
            </a:r>
          </a:p>
        </p:txBody>
      </p:sp>
      <p:sp>
        <p:nvSpPr>
          <p:cNvPr id="4" name="17">
            <a:extLst xmlns:a="http://schemas.openxmlformats.org/drawingml/2006/main">
              <a:ext uri="{FF2B5EF4-FFF2-40B4-BE49-F238E27FC236}">
                <a16:creationId xmlns:a16="http://schemas.microsoft.com/office/drawing/2014/main" id="{30D7F563-B5AB-48EC-B3E0-2A06A845EE9F}"/>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17</a:t>
            </a:r>
          </a:p>
        </p:txBody>
      </p:sp>
      <p:sp>
        <p:nvSpPr>
          <p:cNvPr id="5" name="53">
            <a:extLst xmlns:a="http://schemas.openxmlformats.org/drawingml/2006/main">
              <a:ext uri="{FF2B5EF4-FFF2-40B4-BE49-F238E27FC236}">
                <a16:creationId xmlns:a16="http://schemas.microsoft.com/office/drawing/2014/main" id="{9403166B-3B08-47A7-8025-ADA75D5685EB}"/>
              </a:ext>
            </a:extLst>
          </p:cNvPr>
          <p:cNvSpPr>
            <a:spLocks xmlns:a="http://schemas.openxmlformats.org/drawingml/2006/main" noGrp="1"/>
          </p:cNvSpPr>
          <p:nvPr/>
        </p:nvSpPr>
        <p:spPr>
          <a:xfrm xmlns:a="http://schemas.openxmlformats.org/drawingml/2006/main">
            <a:off x="628650" y="2362200"/>
            <a:ext cx="3333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650" b="1">
                <a:solidFill>
                  <a:srgbClr val="32694F"/>
                </a:solidFill>
                <a:latin typeface="Helvetica Neue"/>
                <a:ea typeface="Helvetica Neue"/>
                <a:cs typeface="Helvetica Neue"/>
              </a:defRPr>
            </a:pPr>
            <a:r>
              <a:rPr sz="7650" b="1">
                <a:solidFill>
                  <a:srgbClr val="32694F"/>
                </a:solidFill>
                <a:latin typeface="Helvetica Neue"/>
                <a:ea typeface="Helvetica Neue"/>
                <a:cs typeface="Helvetica Neue"/>
              </a:rPr>
              <a:t>53</a:t>
            </a:r>
          </a:p>
        </p:txBody>
      </p:sp>
      <p:sp>
        <p:nvSpPr>
          <p:cNvPr id="6" name="passing Python tests">
            <a:extLst xmlns:a="http://schemas.openxmlformats.org/drawingml/2006/main">
              <a:ext uri="{FF2B5EF4-FFF2-40B4-BE49-F238E27FC236}">
                <a16:creationId xmlns:a16="http://schemas.microsoft.com/office/drawing/2014/main" id="{746D74FF-9C3C-48DB-AFC9-9FD1A96DD5ED}"/>
              </a:ext>
            </a:extLst>
          </p:cNvPr>
          <p:cNvSpPr>
            <a:spLocks xmlns:a="http://schemas.openxmlformats.org/drawingml/2006/main" noGrp="1"/>
          </p:cNvSpPr>
          <p:nvPr/>
        </p:nvSpPr>
        <p:spPr>
          <a:xfrm xmlns:a="http://schemas.openxmlformats.org/drawingml/2006/main">
            <a:off x="628650" y="3829050"/>
            <a:ext cx="342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93E35"/>
                </a:solidFill>
                <a:latin typeface="Helvetica Neue"/>
                <a:ea typeface="Helvetica Neue"/>
                <a:cs typeface="Helvetica Neue"/>
              </a:defRPr>
            </a:pPr>
            <a:r>
              <a:rPr sz="2325" b="1">
                <a:solidFill>
                  <a:srgbClr val="193E35"/>
                </a:solidFill>
                <a:latin typeface="Helvetica Neue"/>
                <a:ea typeface="Helvetica Neue"/>
                <a:cs typeface="Helvetica Neue"/>
              </a:rPr>
              <a:t>passing Python tests</a:t>
            </a:r>
          </a:p>
        </p:txBody>
      </p:sp>
      <p:sp>
        <p:nvSpPr>
          <p:cNvPr id="7" name="Authentication, handoffs, consent, ranking and f">
            <a:extLst xmlns:a="http://schemas.openxmlformats.org/drawingml/2006/main">
              <a:ext uri="{FF2B5EF4-FFF2-40B4-BE49-F238E27FC236}">
                <a16:creationId xmlns:a16="http://schemas.microsoft.com/office/drawing/2014/main" id="{6625517F-ED01-40A4-AD0F-A62638342F74}"/>
              </a:ext>
            </a:extLst>
          </p:cNvPr>
          <p:cNvSpPr>
            <a:spLocks xmlns:a="http://schemas.openxmlformats.org/drawingml/2006/main" noGrp="1"/>
          </p:cNvSpPr>
          <p:nvPr/>
        </p:nvSpPr>
        <p:spPr>
          <a:xfrm xmlns:a="http://schemas.openxmlformats.org/drawingml/2006/main">
            <a:off x="628650" y="4933950"/>
            <a:ext cx="33813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3736B"/>
                </a:solidFill>
                <a:latin typeface="Helvetica Neue"/>
                <a:ea typeface="Helvetica Neue"/>
                <a:cs typeface="Helvetica Neue"/>
              </a:defRPr>
            </a:pPr>
            <a:r>
              <a:rPr sz="1725" b="0">
                <a:solidFill>
                  <a:srgbClr val="63736B"/>
                </a:solidFill>
                <a:latin typeface="Helvetica Neue"/>
                <a:ea typeface="Helvetica Neue"/>
                <a:cs typeface="Helvetica Neue"/>
              </a:rPr>
              <a:t>Authentication, handoffs, consent, ranking and failure cases</a:t>
            </a:r>
          </a:p>
        </p:txBody>
      </p:sp>
      <p:graphicFrame>
        <p:nvGraphicFramePr>
          <p:cNvPr id="17" name=""/>
          <p:cNvGraphicFramePr/>
          <p:nvPr/>
        </p:nvGraphicFramePr>
        <p:xfrm>
          <a:off xmlns:a="http://schemas.openxmlformats.org/drawingml/2006/main" x="4857750" y="2219325"/>
          <a:ext xmlns:a="http://schemas.openxmlformats.org/drawingml/2006/main" cx="6705600" cy="3343275"/>
        </p:xfrm>
        <a:graphic xmlns:a="http://schemas.openxmlformats.org/drawingml/2006/main">
          <a:graphicData uri="http://schemas.openxmlformats.org/drawingml/2006/table">
            <a:tbl>
              <a:tblPr/>
              <a:tblGrid>
                <a:gridCol w="4419600"/>
                <a:gridCol w="2286000"/>
              </a:tblGrid>
              <a:tr h="668655">
                <a:tc>
                  <a:txBody>
                    <a:bodyPr lIns="142875" tIns="114300" rIns="142875" bIns="114300">
                      <a:noAutofit/>
                    </a:bodyPr>
                    <a:lstStyle/>
                    <a:p>
                      <a:r>
                        <a:rPr sz="1875" b="1">
                          <a:solidFill>
                            <a:srgbClr val="F5F3EC"/>
                          </a:solidFill>
                          <a:latin typeface="Helvetica Neue"/>
                          <a:ea typeface="Helvetica Neue"/>
                          <a:cs typeface="Helvetica Neue"/>
                        </a:rPr>
                        <a:t>Retrieval metric</a:t>
                      </a:r>
                    </a:p>
                  </a:txBody>
                  <a:tcPr marL="91440" marR="91440" marT="45720" marB="45720" anchor="ctr">
                    <a:solidFill>
                      <a:srgbClr val="193E35"/>
                    </a:solidFill>
                  </a:tcPr>
                </a:tc>
                <a:tc>
                  <a:txBody>
                    <a:bodyPr lIns="142875" tIns="114300" rIns="142875" bIns="114300">
                      <a:noAutofit/>
                    </a:bodyPr>
                    <a:lstStyle/>
                    <a:p>
                      <a:r>
                        <a:rPr sz="1875" b="1">
                          <a:solidFill>
                            <a:srgbClr val="F5F3EC"/>
                          </a:solidFill>
                          <a:latin typeface="Helvetica Neue"/>
                          <a:ea typeface="Helvetica Neue"/>
                          <a:cs typeface="Helvetica Neue"/>
                        </a:rPr>
                        <a:t>Result</a:t>
                      </a:r>
                    </a:p>
                  </a:txBody>
                  <a:tcPr marL="91440" marR="91440" marT="45720" marB="45720" anchor="ctr">
                    <a:solidFill>
                      <a:srgbClr val="193E35"/>
                    </a:solidFill>
                  </a:tcPr>
                </a:tc>
              </a:tr>
              <a:tr h="668655">
                <a:tc>
                  <a:txBody>
                    <a:bodyPr lIns="142875" tIns="114300" rIns="142875" bIns="114300">
                      <a:noAutofit/>
                    </a:bodyPr>
                    <a:lstStyle/>
                    <a:p>
                      <a:r>
                        <a:rPr sz="1950" b="0">
                          <a:solidFill>
                            <a:srgbClr val="193E35"/>
                          </a:solidFill>
                          <a:latin typeface="Helvetica Neue"/>
                          <a:ea typeface="Helvetica Neue"/>
                          <a:cs typeface="Helvetica Neue"/>
                        </a:rPr>
                        <a:t>Precision@5</a:t>
                      </a:r>
                    </a:p>
                  </a:txBody>
                  <a:tcPr marL="91440" marR="91440" marT="45720" marB="45720" anchor="ctr">
                    <a:solidFill>
                      <a:srgbClr val="F5F3EC"/>
                    </a:solidFill>
                  </a:tcPr>
                </a:tc>
                <a:tc>
                  <a:txBody>
                    <a:bodyPr lIns="142875" tIns="114300" rIns="142875" bIns="114300">
                      <a:noAutofit/>
                    </a:bodyPr>
                    <a:lstStyle/>
                    <a:p>
                      <a:r>
                        <a:rPr sz="1950" b="0">
                          <a:solidFill>
                            <a:srgbClr val="193E35"/>
                          </a:solidFill>
                          <a:latin typeface="Helvetica Neue"/>
                          <a:ea typeface="Helvetica Neue"/>
                          <a:cs typeface="Helvetica Neue"/>
                        </a:rPr>
                        <a:t>0.657</a:t>
                      </a:r>
                    </a:p>
                  </a:txBody>
                  <a:tcPr marL="91440" marR="91440" marT="45720" marB="45720" anchor="ctr">
                    <a:solidFill>
                      <a:srgbClr val="F5F3EC"/>
                    </a:solidFill>
                  </a:tcPr>
                </a:tc>
              </a:tr>
              <a:tr h="668655">
                <a:tc>
                  <a:txBody>
                    <a:bodyPr lIns="142875" tIns="114300" rIns="142875" bIns="114300">
                      <a:noAutofit/>
                    </a:bodyPr>
                    <a:lstStyle/>
                    <a:p>
                      <a:r>
                        <a:rPr sz="1950" b="0">
                          <a:solidFill>
                            <a:srgbClr val="193E35"/>
                          </a:solidFill>
                          <a:latin typeface="Helvetica Neue"/>
                          <a:ea typeface="Helvetica Neue"/>
                          <a:cs typeface="Helvetica Neue"/>
                        </a:rPr>
                        <a:t>Recall@5</a:t>
                      </a:r>
                    </a:p>
                  </a:txBody>
                  <a:tcPr marL="91440" marR="91440" marT="45720" marB="45720" anchor="ctr">
                    <a:solidFill>
                      <a:srgbClr val="E9EDDF"/>
                    </a:solidFill>
                  </a:tcPr>
                </a:tc>
                <a:tc>
                  <a:txBody>
                    <a:bodyPr lIns="142875" tIns="114300" rIns="142875" bIns="114300">
                      <a:noAutofit/>
                    </a:bodyPr>
                    <a:lstStyle/>
                    <a:p>
                      <a:r>
                        <a:rPr sz="1950" b="0">
                          <a:solidFill>
                            <a:srgbClr val="193E35"/>
                          </a:solidFill>
                          <a:latin typeface="Helvetica Neue"/>
                          <a:ea typeface="Helvetica Neue"/>
                          <a:cs typeface="Helvetica Neue"/>
                        </a:rPr>
                        <a:t>0.833</a:t>
                      </a:r>
                    </a:p>
                  </a:txBody>
                  <a:tcPr marL="91440" marR="91440" marT="45720" marB="45720" anchor="ctr">
                    <a:solidFill>
                      <a:srgbClr val="E9EDDF"/>
                    </a:solidFill>
                  </a:tcPr>
                </a:tc>
              </a:tr>
              <a:tr h="668655">
                <a:tc>
                  <a:txBody>
                    <a:bodyPr lIns="142875" tIns="114300" rIns="142875" bIns="114300">
                      <a:noAutofit/>
                    </a:bodyPr>
                    <a:lstStyle/>
                    <a:p>
                      <a:r>
                        <a:rPr sz="1950" b="0">
                          <a:solidFill>
                            <a:srgbClr val="193E35"/>
                          </a:solidFill>
                          <a:latin typeface="Helvetica Neue"/>
                          <a:ea typeface="Helvetica Neue"/>
                          <a:cs typeface="Helvetica Neue"/>
                        </a:rPr>
                        <a:t>MRR</a:t>
                      </a:r>
                    </a:p>
                  </a:txBody>
                  <a:tcPr marL="91440" marR="91440" marT="45720" marB="45720" anchor="ctr">
                    <a:solidFill>
                      <a:srgbClr val="F5F3EC"/>
                    </a:solidFill>
                  </a:tcPr>
                </a:tc>
                <a:tc>
                  <a:txBody>
                    <a:bodyPr lIns="142875" tIns="114300" rIns="142875" bIns="114300">
                      <a:noAutofit/>
                    </a:bodyPr>
                    <a:lstStyle/>
                    <a:p>
                      <a:r>
                        <a:rPr sz="1950" b="0">
                          <a:solidFill>
                            <a:srgbClr val="193E35"/>
                          </a:solidFill>
                          <a:latin typeface="Helvetica Neue"/>
                          <a:ea typeface="Helvetica Neue"/>
                          <a:cs typeface="Helvetica Neue"/>
                        </a:rPr>
                        <a:t>1.000</a:t>
                      </a:r>
                    </a:p>
                  </a:txBody>
                  <a:tcPr marL="91440" marR="91440" marT="45720" marB="45720" anchor="ctr">
                    <a:solidFill>
                      <a:srgbClr val="F5F3EC"/>
                    </a:solidFill>
                  </a:tcPr>
                </a:tc>
              </a:tr>
              <a:tr h="668655">
                <a:tc>
                  <a:txBody>
                    <a:bodyPr lIns="142875" tIns="114300" rIns="142875" bIns="114300">
                      <a:noAutofit/>
                    </a:bodyPr>
                    <a:lstStyle/>
                    <a:p>
                      <a:r>
                        <a:rPr sz="1950" b="0">
                          <a:solidFill>
                            <a:srgbClr val="193E35"/>
                          </a:solidFill>
                          <a:latin typeface="Helvetica Neue"/>
                          <a:ea typeface="Helvetica Neue"/>
                          <a:cs typeface="Helvetica Neue"/>
                        </a:rPr>
                        <a:t>NDCG@5</a:t>
                      </a:r>
                    </a:p>
                  </a:txBody>
                  <a:tcPr marL="91440" marR="91440" marT="45720" marB="45720" anchor="ctr">
                    <a:solidFill>
                      <a:srgbClr val="E9EDDF"/>
                    </a:solidFill>
                  </a:tcPr>
                </a:tc>
                <a:tc>
                  <a:txBody>
                    <a:bodyPr lIns="142875" tIns="114300" rIns="142875" bIns="114300">
                      <a:noAutofit/>
                    </a:bodyPr>
                    <a:lstStyle/>
                    <a:p>
                      <a:r>
                        <a:rPr sz="1950" b="0">
                          <a:solidFill>
                            <a:srgbClr val="193E35"/>
                          </a:solidFill>
                          <a:latin typeface="Helvetica Neue"/>
                          <a:ea typeface="Helvetica Neue"/>
                          <a:cs typeface="Helvetica Neue"/>
                        </a:rPr>
                        <a:t>0.885</a:t>
                      </a:r>
                    </a:p>
                  </a:txBody>
                  <a:tcPr marL="91440" marR="91440" marT="45720" marB="45720" anchor="ctr">
                    <a:solidFill>
                      <a:srgbClr val="E9EDDF"/>
                    </a:solidFill>
                  </a:tcPr>
                </a:tc>
              </a:tr>
            </a:tbl>
          </a:graphicData>
        </a:graphic>
      </p:graphicFrame>
      <p:sp>
        <p:nvSpPr>
          <p:cNvPr id="9" name="Seven author-labelled development queries over 3">
            <a:extLst xmlns:a="http://schemas.openxmlformats.org/drawingml/2006/main">
              <a:ext uri="{FF2B5EF4-FFF2-40B4-BE49-F238E27FC236}">
                <a16:creationId xmlns:a16="http://schemas.microsoft.com/office/drawing/2014/main" id="{5CEB6B1A-968F-401F-91D3-63D2C9136B76}"/>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Seven author-labelled development queries over 32 demo courses. These are not held-out accuracy results.</a:t>
            </a:r>
          </a:p>
        </p:txBody>
      </p:sp>
    </p:spTree>
    <p:extLst>
      <p:ext uri="{BB962C8B-B14F-4D97-AF65-F5344CB8AC3E}">
        <p14:creationId xmlns:p14="http://schemas.microsoft.com/office/powerpoint/2010/main" val="1590076000"/>
      </p:ext>
    </p:extLst>
  </p:cSld>
</p:sld>
</file>

<file path=ppt/slides/slide18.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8" name="SKILLSCOUT AI">
            <a:extLst xmlns:a="http://schemas.openxmlformats.org/drawingml/2006/main">
              <a:ext uri="{FF2B5EF4-FFF2-40B4-BE49-F238E27FC236}">
                <a16:creationId xmlns:a16="http://schemas.microsoft.com/office/drawing/2014/main" id="{7363D95D-3933-4536-857D-B214AC769369}"/>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SKILLSCOUT AI</a:t>
            </a:r>
          </a:p>
        </p:txBody>
      </p:sp>
      <p:sp>
        <p:nvSpPr>
          <p:cNvPr id="2" name="Commercialization concept">
            <a:extLst xmlns:a="http://schemas.openxmlformats.org/drawingml/2006/main">
              <a:ext uri="{FF2B5EF4-FFF2-40B4-BE49-F238E27FC236}">
                <a16:creationId xmlns:a16="http://schemas.microsoft.com/office/drawing/2014/main" id="{326EF91F-1EFC-4AEA-8C28-A92DF82FA8C8}"/>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Commercialization concept</a:t>
            </a:r>
          </a:p>
        </p:txBody>
      </p:sp>
      <p:sp>
        <p:nvSpPr>
          <p:cNvPr id="3" name="B2B SaaS for organizations, HR and Learning &amp; De">
            <a:extLst xmlns:a="http://schemas.openxmlformats.org/drawingml/2006/main">
              <a:ext uri="{FF2B5EF4-FFF2-40B4-BE49-F238E27FC236}">
                <a16:creationId xmlns:a16="http://schemas.microsoft.com/office/drawing/2014/main" id="{11A634BD-7A9E-412B-8935-D8FAD7FA1111}"/>
              </a:ext>
            </a:extLst>
          </p:cNvPr>
          <p:cNvSpPr>
            <a:spLocks xmlns:a="http://schemas.openxmlformats.org/drawingml/2006/main" noGrp="1"/>
          </p:cNvSpPr>
          <p:nvPr/>
        </p:nvSpPr>
        <p:spPr>
          <a:xfrm xmlns:a="http://schemas.openxmlformats.org/drawingml/2006/main">
            <a:off x="628650" y="1638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63736B"/>
                </a:solidFill>
                <a:latin typeface="Helvetica Neue"/>
                <a:ea typeface="Helvetica Neue"/>
                <a:cs typeface="Helvetica Neue"/>
              </a:defRPr>
            </a:pPr>
            <a:r>
              <a:rPr sz="1800" b="0">
                <a:solidFill>
                  <a:srgbClr val="63736B"/>
                </a:solidFill>
                <a:latin typeface="Helvetica Neue"/>
                <a:ea typeface="Helvetica Neue"/>
                <a:cs typeface="Helvetica Neue"/>
              </a:rPr>
              <a:t>B2B SaaS for organizations, HR and Learning &amp; Development teams</a:t>
            </a:r>
          </a:p>
        </p:txBody>
      </p:sp>
      <p:sp>
        <p:nvSpPr>
          <p:cNvPr id="4" name="18">
            <a:extLst xmlns:a="http://schemas.openxmlformats.org/drawingml/2006/main">
              <a:ext uri="{FF2B5EF4-FFF2-40B4-BE49-F238E27FC236}">
                <a16:creationId xmlns:a16="http://schemas.microsoft.com/office/drawing/2014/main" id="{CEEABAC6-75E5-4058-9BAB-87F9BE9FB025}"/>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18</a:t>
            </a:r>
          </a:p>
        </p:txBody>
      </p:sp>
      <p:graphicFrame>
        <p:nvGraphicFramePr>
          <p:cNvPr id="12" name=""/>
          <p:cNvGraphicFramePr/>
          <p:nvPr/>
        </p:nvGraphicFramePr>
        <p:xfrm>
          <a:off xmlns:a="http://schemas.openxmlformats.org/drawingml/2006/main" x="609600" y="2095500"/>
          <a:ext xmlns:a="http://schemas.openxmlformats.org/drawingml/2006/main" cx="10972800" cy="2752725"/>
        </p:xfrm>
        <a:graphic xmlns:a="http://schemas.openxmlformats.org/drawingml/2006/main">
          <a:graphicData uri="http://schemas.openxmlformats.org/drawingml/2006/table">
            <a:tbl>
              <a:tblPr/>
              <a:tblGrid>
                <a:gridCol w="2533650"/>
                <a:gridCol w="4029075"/>
                <a:gridCol w="4410075"/>
              </a:tblGrid>
              <a:tr h="688181">
                <a:tc>
                  <a:txBody>
                    <a:bodyPr lIns="142875" tIns="114300" rIns="142875" bIns="114300">
                      <a:noAutofit/>
                    </a:bodyPr>
                    <a:lstStyle/>
                    <a:p>
                      <a:r>
                        <a:rPr sz="1800" b="1">
                          <a:solidFill>
                            <a:srgbClr val="F5F3EC"/>
                          </a:solidFill>
                          <a:latin typeface="Helvetica Neue"/>
                          <a:ea typeface="Helvetica Neue"/>
                          <a:cs typeface="Helvetica Neue"/>
                        </a:rPr>
                        <a:t>Proposed plan</a:t>
                      </a:r>
                    </a:p>
                  </a:txBody>
                  <a:tcPr marL="91440" marR="91440" marT="45720" marB="45720" anchor="ctr">
                    <a:solidFill>
                      <a:srgbClr val="193E35"/>
                    </a:solidFill>
                  </a:tcPr>
                </a:tc>
                <a:tc>
                  <a:txBody>
                    <a:bodyPr lIns="142875" tIns="114300" rIns="142875" bIns="114300">
                      <a:noAutofit/>
                    </a:bodyPr>
                    <a:lstStyle/>
                    <a:p>
                      <a:r>
                        <a:rPr sz="1800" b="1">
                          <a:solidFill>
                            <a:srgbClr val="F5F3EC"/>
                          </a:solidFill>
                          <a:latin typeface="Helvetica Neue"/>
                          <a:ea typeface="Helvetica Neue"/>
                          <a:cs typeface="Helvetica Neue"/>
                        </a:rPr>
                        <a:t>Target customer</a:t>
                      </a:r>
                    </a:p>
                  </a:txBody>
                  <a:tcPr marL="91440" marR="91440" marT="45720" marB="45720" anchor="ctr">
                    <a:solidFill>
                      <a:srgbClr val="193E35"/>
                    </a:solidFill>
                  </a:tcPr>
                </a:tc>
                <a:tc>
                  <a:txBody>
                    <a:bodyPr lIns="142875" tIns="114300" rIns="142875" bIns="114300">
                      <a:noAutofit/>
                    </a:bodyPr>
                    <a:lstStyle/>
                    <a:p>
                      <a:r>
                        <a:rPr sz="1800" b="1">
                          <a:solidFill>
                            <a:srgbClr val="F5F3EC"/>
                          </a:solidFill>
                          <a:latin typeface="Helvetica Neue"/>
                          <a:ea typeface="Helvetica Neue"/>
                          <a:cs typeface="Helvetica Neue"/>
                        </a:rPr>
                        <a:t>Monthly price assumption</a:t>
                      </a:r>
                    </a:p>
                  </a:txBody>
                  <a:tcPr marL="91440" marR="91440" marT="45720" marB="45720" anchor="ctr">
                    <a:solidFill>
                      <a:srgbClr val="193E35"/>
                    </a:solidFill>
                  </a:tcPr>
                </a:tc>
              </a:tr>
              <a:tr h="688181">
                <a:tc>
                  <a:txBody>
                    <a:bodyPr lIns="142875" tIns="114300" rIns="142875" bIns="114300">
                      <a:noAutofit/>
                    </a:bodyPr>
                    <a:lstStyle/>
                    <a:p>
                      <a:r>
                        <a:rPr sz="1875" b="0">
                          <a:solidFill>
                            <a:srgbClr val="193E35"/>
                          </a:solidFill>
                          <a:latin typeface="Helvetica Neue"/>
                          <a:ea typeface="Helvetica Neue"/>
                          <a:cs typeface="Helvetica Neue"/>
                        </a:rPr>
                        <a:t>Starter</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Small organizations</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LKR 300 / active employee</a:t>
                      </a:r>
                    </a:p>
                  </a:txBody>
                  <a:tcPr marL="91440" marR="91440" marT="45720" marB="45720" anchor="ctr">
                    <a:solidFill>
                      <a:srgbClr val="F5F3EC"/>
                    </a:solidFill>
                  </a:tcPr>
                </a:tc>
              </a:tr>
              <a:tr h="688181">
                <a:tc>
                  <a:txBody>
                    <a:bodyPr lIns="142875" tIns="114300" rIns="142875" bIns="114300">
                      <a:noAutofit/>
                    </a:bodyPr>
                    <a:lstStyle/>
                    <a:p>
                      <a:r>
                        <a:rPr sz="1875" b="0">
                          <a:solidFill>
                            <a:srgbClr val="193E35"/>
                          </a:solidFill>
                          <a:latin typeface="Helvetica Neue"/>
                          <a:ea typeface="Helvetica Neue"/>
                          <a:cs typeface="Helvetica Neue"/>
                        </a:rPr>
                        <a:t>Professional</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Medium organizations</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LKR 550 / active employee</a:t>
                      </a:r>
                    </a:p>
                  </a:txBody>
                  <a:tcPr marL="91440" marR="91440" marT="45720" marB="45720" anchor="ctr">
                    <a:solidFill>
                      <a:srgbClr val="E9EDDF"/>
                    </a:solidFill>
                  </a:tcPr>
                </a:tc>
              </a:tr>
              <a:tr h="688181">
                <a:tc>
                  <a:txBody>
                    <a:bodyPr lIns="142875" tIns="114300" rIns="142875" bIns="114300">
                      <a:noAutofit/>
                    </a:bodyPr>
                    <a:lstStyle/>
                    <a:p>
                      <a:r>
                        <a:rPr sz="1875" b="0">
                          <a:solidFill>
                            <a:srgbClr val="193E35"/>
                          </a:solidFill>
                          <a:latin typeface="Helvetica Neue"/>
                          <a:ea typeface="Helvetica Neue"/>
                          <a:cs typeface="Helvetica Neue"/>
                        </a:rPr>
                        <a:t>Enterprise</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Large organizations</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From LKR 800 / active employee</a:t>
                      </a:r>
                    </a:p>
                  </a:txBody>
                  <a:tcPr marL="91440" marR="91440" marT="45720" marB="45720" anchor="ctr">
                    <a:solidFill>
                      <a:srgbClr val="F5F3EC"/>
                    </a:solidFill>
                  </a:tcPr>
                </a:tc>
              </a:tr>
            </a:tbl>
          </a:graphicData>
        </a:graphic>
      </p:graphicFrame>
      <p:sp>
        <p:nvSpPr>
          <p:cNvPr id="6" name="Buyer: HR / L&amp;D       User: employee">
            <a:extLst xmlns:a="http://schemas.openxmlformats.org/drawingml/2006/main">
              <a:ext uri="{FF2B5EF4-FFF2-40B4-BE49-F238E27FC236}">
                <a16:creationId xmlns:a16="http://schemas.microsoft.com/office/drawing/2014/main" id="{B88D827B-3C13-45E4-9DC9-6F7CB862DFED}"/>
              </a:ext>
            </a:extLst>
          </p:cNvPr>
          <p:cNvSpPr>
            <a:spLocks xmlns:a="http://schemas.openxmlformats.org/drawingml/2006/main" noGrp="1"/>
          </p:cNvSpPr>
          <p:nvPr/>
        </p:nvSpPr>
        <p:spPr>
          <a:xfrm xmlns:a="http://schemas.openxmlformats.org/drawingml/2006/main">
            <a:off x="628650" y="52768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32694F"/>
                </a:solidFill>
                <a:latin typeface="Helvetica Neue"/>
                <a:ea typeface="Helvetica Neue"/>
                <a:cs typeface="Helvetica Neue"/>
              </a:defRPr>
            </a:pPr>
            <a:r>
              <a:rPr sz="2250" b="1">
                <a:solidFill>
                  <a:srgbClr val="32694F"/>
                </a:solidFill>
                <a:latin typeface="Helvetica Neue"/>
                <a:ea typeface="Helvetica Neue"/>
                <a:cs typeface="Helvetica Neue"/>
              </a:rPr>
              <a:t>Buyer: HR / L&amp;D       User: employee</a:t>
            </a:r>
          </a:p>
        </p:txBody>
      </p:sp>
      <p:sp>
        <p:nvSpPr>
          <p:cNvPr id="7" name="These are project pricing hypotheses. Customer r">
            <a:extLst xmlns:a="http://schemas.openxmlformats.org/drawingml/2006/main">
              <a:ext uri="{FF2B5EF4-FFF2-40B4-BE49-F238E27FC236}">
                <a16:creationId xmlns:a16="http://schemas.microsoft.com/office/drawing/2014/main" id="{14E04859-EF51-4506-9687-F0C7DAC63E29}"/>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These are project pricing hypotheses. Customer research and operating-cost validation are still required.</a:t>
            </a:r>
          </a:p>
        </p:txBody>
      </p:sp>
    </p:spTree>
    <p:extLst>
      <p:ext uri="{BB962C8B-B14F-4D97-AF65-F5344CB8AC3E}">
        <p14:creationId xmlns:p14="http://schemas.microsoft.com/office/powerpoint/2010/main" val="954469444"/>
      </p:ext>
    </p:extLst>
  </p:cSld>
</p:sld>
</file>

<file path=ppt/slides/slide19.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0" name="SKILLSCOUT AI">
            <a:extLst xmlns:a="http://schemas.openxmlformats.org/drawingml/2006/main">
              <a:ext uri="{FF2B5EF4-FFF2-40B4-BE49-F238E27FC236}">
                <a16:creationId xmlns:a16="http://schemas.microsoft.com/office/drawing/2014/main" id="{66895ABD-B6AA-4ECE-A9DE-F4461241FCD2}"/>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SKILLSCOUT AI</a:t>
            </a:r>
          </a:p>
        </p:txBody>
      </p:sp>
      <p:sp>
        <p:nvSpPr>
          <p:cNvPr id="2" name="Current scope and future development">
            <a:extLst xmlns:a="http://schemas.openxmlformats.org/drawingml/2006/main">
              <a:ext uri="{FF2B5EF4-FFF2-40B4-BE49-F238E27FC236}">
                <a16:creationId xmlns:a16="http://schemas.microsoft.com/office/drawing/2014/main" id="{EABF1224-76AE-42FB-BE65-C3A6A0955CEB}"/>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Current scope and future development</a:t>
            </a:r>
          </a:p>
        </p:txBody>
      </p:sp>
      <p:sp>
        <p:nvSpPr>
          <p:cNvPr id="3" name="19">
            <a:extLst xmlns:a="http://schemas.openxmlformats.org/drawingml/2006/main">
              <a:ext uri="{FF2B5EF4-FFF2-40B4-BE49-F238E27FC236}">
                <a16:creationId xmlns:a16="http://schemas.microsoft.com/office/drawing/2014/main" id="{2CCCE9DC-E89E-4415-A819-1E8D1ADBA4A6}"/>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19</a:t>
            </a:r>
          </a:p>
        </p:txBody>
      </p:sp>
      <p:sp>
        <p:nvSpPr>
          <p:cNvPr id="4" name="Working prototype">
            <a:extLst xmlns:a="http://schemas.openxmlformats.org/drawingml/2006/main">
              <a:ext uri="{FF2B5EF4-FFF2-40B4-BE49-F238E27FC236}">
                <a16:creationId xmlns:a16="http://schemas.microsoft.com/office/drawing/2014/main" id="{F2077A21-2B9F-40C5-B738-C98BE9BAEA0D}"/>
              </a:ext>
            </a:extLst>
          </p:cNvPr>
          <p:cNvSpPr>
            <a:spLocks xmlns:a="http://schemas.openxmlformats.org/drawingml/2006/main" noGrp="1"/>
          </p:cNvSpPr>
          <p:nvPr/>
        </p:nvSpPr>
        <p:spPr>
          <a:xfrm xmlns:a="http://schemas.openxmlformats.org/drawingml/2006/main">
            <a:off x="619125" y="2190750"/>
            <a:ext cx="4933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Working prototype</a:t>
            </a:r>
          </a:p>
        </p:txBody>
      </p:sp>
      <p:sp>
        <p:nvSpPr>
          <p:cNvPr id="5" name="Personalized discovery and search&#10;Local model as">
            <a:extLst xmlns:a="http://schemas.openxmlformats.org/drawingml/2006/main">
              <a:ext uri="{FF2B5EF4-FFF2-40B4-BE49-F238E27FC236}">
                <a16:creationId xmlns:a16="http://schemas.microsoft.com/office/drawing/2014/main" id="{7301F326-A215-454D-9F35-E824A181E27B}"/>
              </a:ext>
            </a:extLst>
          </p:cNvPr>
          <p:cNvSpPr>
            <a:spLocks xmlns:a="http://schemas.openxmlformats.org/drawingml/2006/main" noGrp="1"/>
          </p:cNvSpPr>
          <p:nvPr/>
        </p:nvSpPr>
        <p:spPr>
          <a:xfrm xmlns:a="http://schemas.openxmlformats.org/drawingml/2006/main">
            <a:off x="619125" y="2733675"/>
            <a:ext cx="49339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Personalized discovery and search</a:t>
            </a:r>
          </a:p>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Local model assistance</a:t>
            </a:r>
          </a:p>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Learning plans and in-app notices</a:t>
            </a:r>
          </a:p>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Opt-in scheduled checks</a:t>
            </a:r>
          </a:p>
        </p:txBody>
      </p:sp>
      <p:sp>
        <p:nvSpPr>
          <p:cNvPr id="6" name="Next development priorities">
            <a:extLst xmlns:a="http://schemas.openxmlformats.org/drawingml/2006/main">
              <a:ext uri="{FF2B5EF4-FFF2-40B4-BE49-F238E27FC236}">
                <a16:creationId xmlns:a16="http://schemas.microsoft.com/office/drawing/2014/main" id="{519E4DC7-7E97-454E-82B1-12895DE0BC30}"/>
              </a:ext>
            </a:extLst>
          </p:cNvPr>
          <p:cNvSpPr>
            <a:spLocks xmlns:a="http://schemas.openxmlformats.org/drawingml/2006/main" noGrp="1"/>
          </p:cNvSpPr>
          <p:nvPr/>
        </p:nvSpPr>
        <p:spPr>
          <a:xfrm xmlns:a="http://schemas.openxmlformats.org/drawingml/2006/main">
            <a:off x="6496050" y="2190750"/>
            <a:ext cx="490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Next development priorities</a:t>
            </a:r>
          </a:p>
        </p:txBody>
      </p:sp>
      <p:sp>
        <p:nvSpPr>
          <p:cNvPr id="7" name="Verified, current data feeds&#10;Broader skills and ">
            <a:extLst xmlns:a="http://schemas.openxmlformats.org/drawingml/2006/main">
              <a:ext uri="{FF2B5EF4-FFF2-40B4-BE49-F238E27FC236}">
                <a16:creationId xmlns:a16="http://schemas.microsoft.com/office/drawing/2014/main" id="{4DDB82E7-8AFD-45F1-9FCA-46A3B4713BC8}"/>
              </a:ext>
            </a:extLst>
          </p:cNvPr>
          <p:cNvSpPr>
            <a:spLocks xmlns:a="http://schemas.openxmlformats.org/drawingml/2006/main" noGrp="1"/>
          </p:cNvSpPr>
          <p:nvPr/>
        </p:nvSpPr>
        <p:spPr>
          <a:xfrm xmlns:a="http://schemas.openxmlformats.org/drawingml/2006/main">
            <a:off x="6496050" y="2733675"/>
            <a:ext cx="4905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Verified, current data feeds</a:t>
            </a:r>
          </a:p>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Broader skills and role coverage</a:t>
            </a:r>
          </a:p>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Independent user evaluation</a:t>
            </a:r>
          </a:p>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SSO, LMS and Teams integration</a:t>
            </a:r>
          </a:p>
        </p:txBody>
      </p:sp>
      <p:sp>
        <p:nvSpPr>
          <p:cNvPr id="8" name="The scheduler checks stored data while the gatew">
            <a:extLst xmlns:a="http://schemas.openxmlformats.org/drawingml/2006/main">
              <a:ext uri="{FF2B5EF4-FFF2-40B4-BE49-F238E27FC236}">
                <a16:creationId xmlns:a16="http://schemas.microsoft.com/office/drawing/2014/main" id="{3E97D99C-5C8A-4550-BA8C-0E73EFD29EC8}"/>
              </a:ext>
            </a:extLst>
          </p:cNvPr>
          <p:cNvSpPr>
            <a:spLocks xmlns:a="http://schemas.openxmlformats.org/drawingml/2006/main" noGrp="1"/>
          </p:cNvSpPr>
          <p:nvPr/>
        </p:nvSpPr>
        <p:spPr>
          <a:xfrm xmlns:a="http://schemas.openxmlformats.org/drawingml/2006/main">
            <a:off x="628650" y="52387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The scheduler checks stored data while the gateway runs.</a:t>
            </a:r>
          </a:p>
        </p:txBody>
      </p:sp>
      <p:sp>
        <p:nvSpPr>
          <p:cNvPr id="9" name="No live platform crawling, enterprise billing or">
            <a:extLst xmlns:a="http://schemas.openxmlformats.org/drawingml/2006/main">
              <a:ext uri="{FF2B5EF4-FFF2-40B4-BE49-F238E27FC236}">
                <a16:creationId xmlns:a16="http://schemas.microsoft.com/office/drawing/2014/main" id="{9B776288-EE8F-426B-A201-A9794560CB92}"/>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No live platform crawling, enterprise billing or multi-tenant deployment is claimed.</a:t>
            </a:r>
          </a:p>
        </p:txBody>
      </p:sp>
    </p:spTree>
    <p:extLst>
      <p:ext uri="{BB962C8B-B14F-4D97-AF65-F5344CB8AC3E}">
        <p14:creationId xmlns:p14="http://schemas.microsoft.com/office/powerpoint/2010/main" val="273261804"/>
      </p:ext>
    </p:extLst>
  </p:cSld>
</p:sld>
</file>

<file path=ppt/slides/slide20.xml><?xml version="1.0" encoding="utf-8"?>
<p:sld xmlns:p="http://schemas.openxmlformats.org/presentationml/2006/main">
  <p:cSld>
    <p:bg>
      <p:bgPr>
        <a:solidFill xmlns:a="http://schemas.openxmlformats.org/drawingml/2006/main">
          <a:srgbClr val="193E35"/>
        </a:solidFill>
      </p:bgPr>
    </p:bg>
    <p:spTree>
      <p:nvGrpSpPr>
        <p:cNvPr id="1" name=""/>
        <p:cNvGrpSpPr/>
        <p:nvPr/>
      </p:nvGrpSpPr>
      <p:grpSpPr>
        <a:xfrm xmlns:a="http://schemas.openxmlformats.org/drawingml/2006/main"/>
      </p:grpSpPr>
      <p:sp>
        <p:nvSpPr>
          <p:cNvPr id="7" name="DISCUSSION">
            <a:extLst xmlns:a="http://schemas.openxmlformats.org/drawingml/2006/main">
              <a:ext uri="{FF2B5EF4-FFF2-40B4-BE49-F238E27FC236}">
                <a16:creationId xmlns:a16="http://schemas.microsoft.com/office/drawing/2014/main" id="{2D3E82D4-9A8A-4883-885E-4E4250D506A6}"/>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A9BE9A"/>
                </a:solidFill>
                <a:latin typeface="Helvetica Neue"/>
                <a:ea typeface="Helvetica Neue"/>
                <a:cs typeface="Helvetica Neue"/>
              </a:defRPr>
            </a:pPr>
            <a:r>
              <a:rPr sz="1275" b="1">
                <a:solidFill>
                  <a:srgbClr val="A9BE9A"/>
                </a:solidFill>
                <a:latin typeface="Helvetica Neue"/>
                <a:ea typeface="Helvetica Neue"/>
                <a:cs typeface="Helvetica Neue"/>
              </a:rPr>
              <a:t>DISCUSSION</a:t>
            </a:r>
          </a:p>
        </p:txBody>
      </p:sp>
      <p:sp>
        <p:nvSpPr>
          <p:cNvPr id="2" name="SkillScout AI">
            <a:extLst xmlns:a="http://schemas.openxmlformats.org/drawingml/2006/main">
              <a:ext uri="{FF2B5EF4-FFF2-40B4-BE49-F238E27FC236}">
                <a16:creationId xmlns:a16="http://schemas.microsoft.com/office/drawing/2014/main" id="{65FA1680-30ED-41D9-817B-4E8804127749}"/>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F5F3EC"/>
                </a:solidFill>
                <a:latin typeface="Helvetica Neue"/>
                <a:ea typeface="Helvetica Neue"/>
                <a:cs typeface="Helvetica Neue"/>
              </a:defRPr>
            </a:pPr>
            <a:r>
              <a:rPr sz="3450" b="1">
                <a:solidFill>
                  <a:srgbClr val="F5F3EC"/>
                </a:solidFill>
                <a:latin typeface="Helvetica Neue"/>
                <a:ea typeface="Helvetica Neue"/>
                <a:cs typeface="Helvetica Neue"/>
              </a:rPr>
              <a:t>SkillScout AI</a:t>
            </a:r>
          </a:p>
        </p:txBody>
      </p:sp>
      <p:sp>
        <p:nvSpPr>
          <p:cNvPr id="3" name="20">
            <a:extLst xmlns:a="http://schemas.openxmlformats.org/drawingml/2006/main">
              <a:ext uri="{FF2B5EF4-FFF2-40B4-BE49-F238E27FC236}">
                <a16:creationId xmlns:a16="http://schemas.microsoft.com/office/drawing/2014/main" id="{2754600E-E7FE-4D02-A370-BF201D4ABF2A}"/>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A9BE9A"/>
                </a:solidFill>
                <a:latin typeface="Helvetica Neue"/>
                <a:ea typeface="Helvetica Neue"/>
                <a:cs typeface="Helvetica Neue"/>
              </a:defRPr>
            </a:pPr>
            <a:r>
              <a:rPr sz="1275" b="0">
                <a:solidFill>
                  <a:srgbClr val="A9BE9A"/>
                </a:solidFill>
                <a:latin typeface="Helvetica Neue"/>
                <a:ea typeface="Helvetica Neue"/>
                <a:cs typeface="Helvetica Neue"/>
              </a:rPr>
              <a:t>20</a:t>
            </a:r>
          </a:p>
        </p:txBody>
      </p:sp>
      <p:sp>
        <p:nvSpPr>
          <p:cNvPr id="4" name="Understand the employee.&#10;Find relevant learning.">
            <a:extLst xmlns:a="http://schemas.openxmlformats.org/drawingml/2006/main">
              <a:ext uri="{FF2B5EF4-FFF2-40B4-BE49-F238E27FC236}">
                <a16:creationId xmlns:a16="http://schemas.microsoft.com/office/drawing/2014/main" id="{A50B22E7-BF95-4EF6-8207-AAA0C47740E4}"/>
              </a:ext>
            </a:extLst>
          </p:cNvPr>
          <p:cNvSpPr>
            <a:spLocks xmlns:a="http://schemas.openxmlformats.org/drawingml/2006/main" noGrp="1"/>
          </p:cNvSpPr>
          <p:nvPr/>
        </p:nvSpPr>
        <p:spPr>
          <a:xfrm xmlns:a="http://schemas.openxmlformats.org/drawingml/2006/main">
            <a:off x="609600" y="2114550"/>
            <a:ext cx="107156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75" b="1">
                <a:solidFill>
                  <a:srgbClr val="F5F3EC"/>
                </a:solidFill>
                <a:latin typeface="Helvetica Neue"/>
                <a:ea typeface="Helvetica Neue"/>
                <a:cs typeface="Helvetica Neue"/>
              </a:defRPr>
            </a:pPr>
            <a:r>
              <a:rPr sz="3975" b="1">
                <a:solidFill>
                  <a:srgbClr val="F5F3EC"/>
                </a:solidFill>
                <a:latin typeface="Helvetica Neue"/>
                <a:ea typeface="Helvetica Neue"/>
                <a:cs typeface="Helvetica Neue"/>
              </a:rPr>
              <a:t>Understand the employee.</a:t>
            </a:r>
          </a:p>
          <a:p xmlns:a="http://schemas.openxmlformats.org/drawingml/2006/main">
            <a:pPr>
              <a:defRPr sz="3975" b="1">
                <a:solidFill>
                  <a:srgbClr val="F5F3EC"/>
                </a:solidFill>
                <a:latin typeface="Helvetica Neue"/>
                <a:ea typeface="Helvetica Neue"/>
                <a:cs typeface="Helvetica Neue"/>
              </a:defRPr>
            </a:pPr>
            <a:r>
              <a:rPr sz="3975" b="1">
                <a:solidFill>
                  <a:srgbClr val="F5F3EC"/>
                </a:solidFill>
                <a:latin typeface="Helvetica Neue"/>
                <a:ea typeface="Helvetica Neue"/>
                <a:cs typeface="Helvetica Neue"/>
              </a:rPr>
              <a:t>Find relevant learning.</a:t>
            </a:r>
          </a:p>
          <a:p xmlns:a="http://schemas.openxmlformats.org/drawingml/2006/main">
            <a:pPr>
              <a:defRPr sz="3975" b="1">
                <a:solidFill>
                  <a:srgbClr val="F5F3EC"/>
                </a:solidFill>
                <a:latin typeface="Helvetica Neue"/>
                <a:ea typeface="Helvetica Neue"/>
                <a:cs typeface="Helvetica Neue"/>
              </a:defRPr>
            </a:pPr>
            <a:r>
              <a:rPr sz="3975" b="1">
                <a:solidFill>
                  <a:srgbClr val="F5F3EC"/>
                </a:solidFill>
                <a:latin typeface="Helvetica Neue"/>
                <a:ea typeface="Helvetica Neue"/>
                <a:cs typeface="Helvetica Neue"/>
              </a:rPr>
              <a:t>Explain the recommendation.</a:t>
            </a:r>
          </a:p>
        </p:txBody>
      </p:sp>
      <p:sp>
        <p:nvSpPr>
          <p:cNvPr id="5" name="Profile  /  Trends  /  Retrieval  /  Recommendat">
            <a:extLst xmlns:a="http://schemas.openxmlformats.org/drawingml/2006/main">
              <a:ext uri="{FF2B5EF4-FFF2-40B4-BE49-F238E27FC236}">
                <a16:creationId xmlns:a16="http://schemas.microsoft.com/office/drawing/2014/main" id="{DABBEFC9-F943-475D-A49A-A37BEF36F793}"/>
              </a:ext>
            </a:extLst>
          </p:cNvPr>
          <p:cNvSpPr>
            <a:spLocks xmlns:a="http://schemas.openxmlformats.org/drawingml/2006/main" noGrp="1"/>
          </p:cNvSpPr>
          <p:nvPr/>
        </p:nvSpPr>
        <p:spPr>
          <a:xfrm xmlns:a="http://schemas.openxmlformats.org/drawingml/2006/main">
            <a:off x="628650" y="48863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A9BE9A"/>
                </a:solidFill>
                <a:latin typeface="Helvetica Neue"/>
                <a:ea typeface="Helvetica Neue"/>
                <a:cs typeface="Helvetica Neue"/>
              </a:defRPr>
            </a:pPr>
            <a:r>
              <a:rPr sz="2175" b="0">
                <a:solidFill>
                  <a:srgbClr val="A9BE9A"/>
                </a:solidFill>
                <a:latin typeface="Helvetica Neue"/>
                <a:ea typeface="Helvetica Neue"/>
                <a:cs typeface="Helvetica Neue"/>
              </a:rPr>
              <a:t>Profile  /  Trends  /  Retrieval  /  Recommendation</a:t>
            </a:r>
          </a:p>
        </p:txBody>
      </p:sp>
      <p:sp>
        <p:nvSpPr>
          <p:cNvPr id="6" name="github.com/CheNivain/Skillscout-AI">
            <a:extLst xmlns:a="http://schemas.openxmlformats.org/drawingml/2006/main">
              <a:ext uri="{FF2B5EF4-FFF2-40B4-BE49-F238E27FC236}">
                <a16:creationId xmlns:a16="http://schemas.microsoft.com/office/drawing/2014/main" id="{73BE91D2-B4DF-4DF6-9A25-67E69D3CD303}"/>
              </a:ext>
            </a:extLst>
          </p:cNvPr>
          <p:cNvSpPr>
            <a:spLocks xmlns:a="http://schemas.openxmlformats.org/drawingml/2006/main" noGrp="1"/>
          </p:cNvSpPr>
          <p:nvPr/>
        </p:nvSpPr>
        <p:spPr>
          <a:xfrm xmlns:a="http://schemas.openxmlformats.org/drawingml/2006/main">
            <a:off x="628650" y="56864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A9BE9A"/>
                </a:solidFill>
                <a:latin typeface="Helvetica Neue"/>
                <a:ea typeface="Helvetica Neue"/>
                <a:cs typeface="Helvetica Neue"/>
              </a:defRPr>
            </a:pPr>
            <a:r>
              <a:rPr sz="1800" b="0">
                <a:solidFill>
                  <a:srgbClr val="A9BE9A"/>
                </a:solidFill>
                <a:latin typeface="Helvetica Neue"/>
                <a:ea typeface="Helvetica Neue"/>
                <a:cs typeface="Helvetica Neue"/>
                <a:hlinkClick xmlns:r="http://schemas.openxmlformats.org/officeDocument/2006/relationships" r:id="Rf9bcd018cf64407c"/>
              </a:rPr>
              <a:t>github.com/CheNivain/Skillscout-AI</a:t>
            </a:r>
          </a:p>
        </p:txBody>
      </p:sp>
    </p:spTree>
    <p:extLst>
      <p:ext uri="{BB962C8B-B14F-4D97-AF65-F5344CB8AC3E}">
        <p14:creationId xmlns:p14="http://schemas.microsoft.com/office/powerpoint/2010/main" val="547264016"/>
      </p:ext>
    </p:extLst>
  </p:cSld>
</p:sld>
</file>

<file path=ppt/slides/slide21.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BACKUP  /  CODE WALKTHROUGH">
            <a:extLst xmlns:a="http://schemas.openxmlformats.org/drawingml/2006/main">
              <a:ext uri="{FF2B5EF4-FFF2-40B4-BE49-F238E27FC236}">
                <a16:creationId xmlns:a16="http://schemas.microsoft.com/office/drawing/2014/main" id="{55E358B5-1FF4-40BF-AB7F-E44C56B58BD9}"/>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BACKUP  /  CODE WALKTHROUGH</a:t>
            </a:r>
          </a:p>
        </p:txBody>
      </p:sp>
      <p:sp>
        <p:nvSpPr>
          <p:cNvPr id="2" name="Code map for the four agents">
            <a:extLst xmlns:a="http://schemas.openxmlformats.org/drawingml/2006/main">
              <a:ext uri="{FF2B5EF4-FFF2-40B4-BE49-F238E27FC236}">
                <a16:creationId xmlns:a16="http://schemas.microsoft.com/office/drawing/2014/main" id="{11E16B31-1C99-4A72-8C87-9010A5E6E928}"/>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Code map for the four agents</a:t>
            </a:r>
          </a:p>
        </p:txBody>
      </p:sp>
      <p:sp>
        <p:nvSpPr>
          <p:cNvPr id="3" name="21">
            <a:extLst xmlns:a="http://schemas.openxmlformats.org/drawingml/2006/main">
              <a:ext uri="{FF2B5EF4-FFF2-40B4-BE49-F238E27FC236}">
                <a16:creationId xmlns:a16="http://schemas.microsoft.com/office/drawing/2014/main" id="{52F892FC-21A1-46DF-A6BC-53B0695F9CAB}"/>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21</a:t>
            </a:r>
          </a:p>
        </p:txBody>
      </p:sp>
      <p:graphicFrame>
        <p:nvGraphicFramePr>
          <p:cNvPr id="9" name=""/>
          <p:cNvGraphicFramePr/>
          <p:nvPr/>
        </p:nvGraphicFramePr>
        <p:xfrm>
          <a:off xmlns:a="http://schemas.openxmlformats.org/drawingml/2006/main" x="609600" y="2095500"/>
          <a:ext xmlns:a="http://schemas.openxmlformats.org/drawingml/2006/main" cx="10972800" cy="3343275"/>
        </p:xfrm>
        <a:graphic xmlns:a="http://schemas.openxmlformats.org/drawingml/2006/main">
          <a:graphicData uri="http://schemas.openxmlformats.org/drawingml/2006/table">
            <a:tbl>
              <a:tblPr/>
              <a:tblGrid>
                <a:gridCol w="2571750"/>
                <a:gridCol w="6172200"/>
                <a:gridCol w="2228850"/>
              </a:tblGrid>
              <a:tr h="668655">
                <a:tc>
                  <a:txBody>
                    <a:bodyPr lIns="142875" tIns="114300" rIns="142875" bIns="114300">
                      <a:noAutofit/>
                    </a:bodyPr>
                    <a:lstStyle/>
                    <a:p>
                      <a:r>
                        <a:rPr sz="1800" b="1">
                          <a:solidFill>
                            <a:srgbClr val="F5F3EC"/>
                          </a:solidFill>
                          <a:latin typeface="Helvetica Neue"/>
                          <a:ea typeface="Helvetica Neue"/>
                          <a:cs typeface="Helvetica Neue"/>
                        </a:rPr>
                        <a:t>Agent</a:t>
                      </a:r>
                    </a:p>
                  </a:txBody>
                  <a:tcPr marL="91440" marR="91440" marT="45720" marB="45720" anchor="ctr">
                    <a:solidFill>
                      <a:srgbClr val="193E35"/>
                    </a:solidFill>
                  </a:tcPr>
                </a:tc>
                <a:tc>
                  <a:txBody>
                    <a:bodyPr lIns="142875" tIns="114300" rIns="142875" bIns="114300">
                      <a:noAutofit/>
                    </a:bodyPr>
                    <a:lstStyle/>
                    <a:p>
                      <a:r>
                        <a:rPr sz="1800" b="1">
                          <a:solidFill>
                            <a:srgbClr val="F5F3EC"/>
                          </a:solidFill>
                          <a:latin typeface="Helvetica Neue"/>
                          <a:ea typeface="Helvetica Neue"/>
                          <a:cs typeface="Helvetica Neue"/>
                        </a:rPr>
                        <a:t>Function in backend/ai/engine.py</a:t>
                      </a:r>
                    </a:p>
                  </a:txBody>
                  <a:tcPr marL="91440" marR="91440" marT="45720" marB="45720" anchor="ctr">
                    <a:solidFill>
                      <a:srgbClr val="193E35"/>
                    </a:solidFill>
                  </a:tcPr>
                </a:tc>
                <a:tc>
                  <a:txBody>
                    <a:bodyPr lIns="142875" tIns="114300" rIns="142875" bIns="114300">
                      <a:noAutofit/>
                    </a:bodyPr>
                    <a:lstStyle/>
                    <a:p>
                      <a:r>
                        <a:rPr sz="1800" b="1">
                          <a:solidFill>
                            <a:srgbClr val="F5F3EC"/>
                          </a:solidFill>
                          <a:latin typeface="Helvetica Neue"/>
                          <a:ea typeface="Helvetica Neue"/>
                          <a:cs typeface="Helvetica Neue"/>
                        </a:rPr>
                        <a:t>Starts at line</a:t>
                      </a:r>
                    </a:p>
                  </a:txBody>
                  <a:tcPr marL="91440" marR="91440" marT="45720" marB="45720" anchor="ctr">
                    <a:solidFill>
                      <a:srgbClr val="193E35"/>
                    </a:solidFill>
                  </a:tcPr>
                </a:tc>
              </a:tr>
              <a:tr h="668655">
                <a:tc>
                  <a:txBody>
                    <a:bodyPr lIns="142875" tIns="114300" rIns="142875" bIns="114300">
                      <a:noAutofit/>
                    </a:bodyPr>
                    <a:lstStyle/>
                    <a:p>
                      <a:r>
                        <a:rPr sz="1875" b="0">
                          <a:solidFill>
                            <a:srgbClr val="193E35"/>
                          </a:solidFill>
                          <a:latin typeface="Helvetica Neue"/>
                          <a:ea typeface="Helvetica Neue"/>
                          <a:cs typeface="Helvetica Neue"/>
                        </a:rPr>
                        <a:t>Profile</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analyze_profile()</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281</a:t>
                      </a:r>
                    </a:p>
                  </a:txBody>
                  <a:tcPr marL="91440" marR="91440" marT="45720" marB="45720" anchor="ctr">
                    <a:solidFill>
                      <a:srgbClr val="F5F3EC"/>
                    </a:solidFill>
                  </a:tcPr>
                </a:tc>
              </a:tr>
              <a:tr h="668655">
                <a:tc>
                  <a:txBody>
                    <a:bodyPr lIns="142875" tIns="114300" rIns="142875" bIns="114300">
                      <a:noAutofit/>
                    </a:bodyPr>
                    <a:lstStyle/>
                    <a:p>
                      <a:r>
                        <a:rPr sz="1875" b="0">
                          <a:solidFill>
                            <a:srgbClr val="193E35"/>
                          </a:solidFill>
                          <a:latin typeface="Helvetica Neue"/>
                          <a:ea typeface="Helvetica Neue"/>
                          <a:cs typeface="Helvetica Neue"/>
                        </a:rPr>
                        <a:t>Trends</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discover_trends()</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330</a:t>
                      </a:r>
                    </a:p>
                  </a:txBody>
                  <a:tcPr marL="91440" marR="91440" marT="45720" marB="45720" anchor="ctr">
                    <a:solidFill>
                      <a:srgbClr val="E9EDDF"/>
                    </a:solidFill>
                  </a:tcPr>
                </a:tc>
              </a:tr>
              <a:tr h="668655">
                <a:tc>
                  <a:txBody>
                    <a:bodyPr lIns="142875" tIns="114300" rIns="142875" bIns="114300">
                      <a:noAutofit/>
                    </a:bodyPr>
                    <a:lstStyle/>
                    <a:p>
                      <a:r>
                        <a:rPr sz="1875" b="0">
                          <a:solidFill>
                            <a:srgbClr val="193E35"/>
                          </a:solidFill>
                          <a:latin typeface="Helvetica Neue"/>
                          <a:ea typeface="Helvetica Neue"/>
                          <a:cs typeface="Helvetica Neue"/>
                        </a:rPr>
                        <a:t>Retrieval</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retrieve_courses()</a:t>
                      </a:r>
                    </a:p>
                  </a:txBody>
                  <a:tcPr marL="91440" marR="91440" marT="45720" marB="45720" anchor="ctr">
                    <a:solidFill>
                      <a:srgbClr val="F5F3EC"/>
                    </a:solidFill>
                  </a:tcPr>
                </a:tc>
                <a:tc>
                  <a:txBody>
                    <a:bodyPr lIns="142875" tIns="114300" rIns="142875" bIns="114300">
                      <a:noAutofit/>
                    </a:bodyPr>
                    <a:lstStyle/>
                    <a:p>
                      <a:r>
                        <a:rPr sz="1875" b="0">
                          <a:solidFill>
                            <a:srgbClr val="193E35"/>
                          </a:solidFill>
                          <a:latin typeface="Helvetica Neue"/>
                          <a:ea typeface="Helvetica Neue"/>
                          <a:cs typeface="Helvetica Neue"/>
                        </a:rPr>
                        <a:t>385</a:t>
                      </a:r>
                    </a:p>
                  </a:txBody>
                  <a:tcPr marL="91440" marR="91440" marT="45720" marB="45720" anchor="ctr">
                    <a:solidFill>
                      <a:srgbClr val="F5F3EC"/>
                    </a:solidFill>
                  </a:tcPr>
                </a:tc>
              </a:tr>
              <a:tr h="668655">
                <a:tc>
                  <a:txBody>
                    <a:bodyPr lIns="142875" tIns="114300" rIns="142875" bIns="114300">
                      <a:noAutofit/>
                    </a:bodyPr>
                    <a:lstStyle/>
                    <a:p>
                      <a:r>
                        <a:rPr sz="1875" b="0">
                          <a:solidFill>
                            <a:srgbClr val="193E35"/>
                          </a:solidFill>
                          <a:latin typeface="Helvetica Neue"/>
                          <a:ea typeface="Helvetica Neue"/>
                          <a:cs typeface="Helvetica Neue"/>
                        </a:rPr>
                        <a:t>Recommendation</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recommend()</a:t>
                      </a:r>
                    </a:p>
                  </a:txBody>
                  <a:tcPr marL="91440" marR="91440" marT="45720" marB="45720" anchor="ctr">
                    <a:solidFill>
                      <a:srgbClr val="E9EDDF"/>
                    </a:solidFill>
                  </a:tcPr>
                </a:tc>
                <a:tc>
                  <a:txBody>
                    <a:bodyPr lIns="142875" tIns="114300" rIns="142875" bIns="114300">
                      <a:noAutofit/>
                    </a:bodyPr>
                    <a:lstStyle/>
                    <a:p>
                      <a:r>
                        <a:rPr sz="1875" b="0">
                          <a:solidFill>
                            <a:srgbClr val="193E35"/>
                          </a:solidFill>
                          <a:latin typeface="Helvetica Neue"/>
                          <a:ea typeface="Helvetica Neue"/>
                          <a:cs typeface="Helvetica Neue"/>
                        </a:rPr>
                        <a:t>440</a:t>
                      </a:r>
                    </a:p>
                  </a:txBody>
                  <a:tcPr marL="91440" marR="91440" marT="45720" marB="45720" anchor="ctr">
                    <a:solidFill>
                      <a:srgbClr val="E9EDDF"/>
                    </a:solidFill>
                  </a:tcPr>
                </a:tc>
              </a:tr>
            </a:tbl>
          </a:graphicData>
        </a:graphic>
      </p:graphicFrame>
      <p:sp>
        <p:nvSpPr>
          <p:cNvPr id="5" name="Definitions: config.py. Launch: scripts/dev.py. ">
            <a:extLst xmlns:a="http://schemas.openxmlformats.org/drawingml/2006/main">
              <a:ext uri="{FF2B5EF4-FFF2-40B4-BE49-F238E27FC236}">
                <a16:creationId xmlns:a16="http://schemas.microsoft.com/office/drawing/2014/main" id="{C1C4767B-9C52-4B38-8725-BC2C6D26489B}"/>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Definitions: config.py. Launch: scripts/dev.py. Dispatch: worker.py. Orchestration: api.py.</a:t>
            </a:r>
          </a:p>
        </p:txBody>
      </p:sp>
    </p:spTree>
    <p:extLst>
      <p:ext uri="{BB962C8B-B14F-4D97-AF65-F5344CB8AC3E}">
        <p14:creationId xmlns:p14="http://schemas.microsoft.com/office/powerpoint/2010/main" val="1614605473"/>
      </p:ext>
    </p:extLst>
  </p:cSld>
</p:sld>
</file>

<file path=ppt/slides/slide2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BACKUP  /  DOMAIN KNOWLEDGE">
            <a:extLst xmlns:a="http://schemas.openxmlformats.org/drawingml/2006/main">
              <a:ext uri="{FF2B5EF4-FFF2-40B4-BE49-F238E27FC236}">
                <a16:creationId xmlns:a16="http://schemas.microsoft.com/office/drawing/2014/main" id="{DD58003D-3404-499C-A0B1-46E2E3AD44E4}"/>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BACKUP  /  DOMAIN KNOWLEDGE</a:t>
            </a:r>
          </a:p>
        </p:txBody>
      </p:sp>
      <p:sp>
        <p:nvSpPr>
          <p:cNvPr id="2" name="Why the skills are hardcoded">
            <a:extLst xmlns:a="http://schemas.openxmlformats.org/drawingml/2006/main">
              <a:ext uri="{FF2B5EF4-FFF2-40B4-BE49-F238E27FC236}">
                <a16:creationId xmlns:a16="http://schemas.microsoft.com/office/drawing/2014/main" id="{87ECC493-0253-4778-ACFE-CABD96C4E73E}"/>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Why the skills are hardcoded</a:t>
            </a:r>
          </a:p>
        </p:txBody>
      </p:sp>
      <p:sp>
        <p:nvSpPr>
          <p:cNvPr id="3" name="22">
            <a:extLst xmlns:a="http://schemas.openxmlformats.org/drawingml/2006/main">
              <a:ext uri="{FF2B5EF4-FFF2-40B4-BE49-F238E27FC236}">
                <a16:creationId xmlns:a16="http://schemas.microsoft.com/office/drawing/2014/main" id="{D2F7DBF2-BCBC-4B8C-ABDA-104D316455E4}"/>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22</a:t>
            </a:r>
          </a:p>
        </p:txBody>
      </p:sp>
      <p:sp>
        <p:nvSpPr>
          <p:cNvPr id="4" name="Controlled taxonomy">
            <a:extLst xmlns:a="http://schemas.openxmlformats.org/drawingml/2006/main">
              <a:ext uri="{FF2B5EF4-FFF2-40B4-BE49-F238E27FC236}">
                <a16:creationId xmlns:a16="http://schemas.microsoft.com/office/drawing/2014/main" id="{1E6E646C-64F2-48AE-8A03-773F4E01F277}"/>
              </a:ext>
            </a:extLst>
          </p:cNvPr>
          <p:cNvSpPr>
            <a:spLocks xmlns:a="http://schemas.openxmlformats.org/drawingml/2006/main" noGrp="1"/>
          </p:cNvSpPr>
          <p:nvPr/>
        </p:nvSpPr>
        <p:spPr>
          <a:xfrm xmlns:a="http://schemas.openxmlformats.org/drawingml/2006/main">
            <a:off x="609600" y="22002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Controlled taxonomy</a:t>
            </a:r>
          </a:p>
        </p:txBody>
      </p:sp>
      <p:sp>
        <p:nvSpPr>
          <p:cNvPr id="5" name="40 canonical skills&#10;15 role-to-skill mappings&#10;16">
            <a:extLst xmlns:a="http://schemas.openxmlformats.org/drawingml/2006/main">
              <a:ext uri="{FF2B5EF4-FFF2-40B4-BE49-F238E27FC236}">
                <a16:creationId xmlns:a16="http://schemas.microsoft.com/office/drawing/2014/main" id="{F04131C4-F0DA-49E1-A965-853B33EB82DD}"/>
              </a:ext>
            </a:extLst>
          </p:cNvPr>
          <p:cNvSpPr>
            <a:spLocks xmlns:a="http://schemas.openxmlformats.org/drawingml/2006/main" noGrp="1"/>
          </p:cNvSpPr>
          <p:nvPr/>
        </p:nvSpPr>
        <p:spPr>
          <a:xfrm xmlns:a="http://schemas.openxmlformats.org/drawingml/2006/main">
            <a:off x="609600" y="2743200"/>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3E35"/>
                </a:solidFill>
                <a:latin typeface="Helvetica Neue"/>
                <a:ea typeface="Helvetica Neue"/>
                <a:cs typeface="Helvetica Neue"/>
              </a:defRPr>
            </a:pPr>
            <a:r>
              <a:rPr sz="2100" b="0">
                <a:solidFill>
                  <a:srgbClr val="193E35"/>
                </a:solidFill>
                <a:latin typeface="Helvetica Neue"/>
                <a:ea typeface="Helvetica Neue"/>
                <a:cs typeface="Helvetica Neue"/>
              </a:rPr>
              <a:t>40 canonical skills</a:t>
            </a:r>
          </a:p>
          <a:p xmlns:a="http://schemas.openxmlformats.org/drawingml/2006/main">
            <a:pPr>
              <a:defRPr sz="2100" b="0">
                <a:solidFill>
                  <a:srgbClr val="193E35"/>
                </a:solidFill>
                <a:latin typeface="Helvetica Neue"/>
                <a:ea typeface="Helvetica Neue"/>
                <a:cs typeface="Helvetica Neue"/>
              </a:defRPr>
            </a:pPr>
            <a:r>
              <a:rPr sz="2100" b="0">
                <a:solidFill>
                  <a:srgbClr val="193E35"/>
                </a:solidFill>
                <a:latin typeface="Helvetica Neue"/>
                <a:ea typeface="Helvetica Neue"/>
                <a:cs typeface="Helvetica Neue"/>
              </a:rPr>
              <a:t>15 role-to-skill mappings</a:t>
            </a:r>
          </a:p>
          <a:p xmlns:a="http://schemas.openxmlformats.org/drawingml/2006/main">
            <a:pPr>
              <a:defRPr sz="2100" b="0">
                <a:solidFill>
                  <a:srgbClr val="193E35"/>
                </a:solidFill>
                <a:latin typeface="Helvetica Neue"/>
                <a:ea typeface="Helvetica Neue"/>
                <a:cs typeface="Helvetica Neue"/>
              </a:defRPr>
            </a:pPr>
            <a:r>
              <a:rPr sz="2100" b="0">
                <a:solidFill>
                  <a:srgbClr val="193E35"/>
                </a:solidFill>
                <a:latin typeface="Helvetica Neue"/>
                <a:ea typeface="Helvetica Neue"/>
                <a:cs typeface="Helvetica Neue"/>
              </a:rPr>
              <a:t>16 role aliases</a:t>
            </a:r>
          </a:p>
          <a:p xmlns:a="http://schemas.openxmlformats.org/drawingml/2006/main">
            <a:pPr>
              <a:defRPr sz="2100" b="0">
                <a:solidFill>
                  <a:srgbClr val="193E35"/>
                </a:solidFill>
                <a:latin typeface="Helvetica Neue"/>
                <a:ea typeface="Helvetica Neue"/>
                <a:cs typeface="Helvetica Neue"/>
              </a:defRPr>
            </a:pPr>
            <a:r>
              <a:rPr sz="2100" b="0">
                <a:solidFill>
                  <a:srgbClr val="193E35"/>
                </a:solidFill>
                <a:latin typeface="Helvetica Neue"/>
                <a:ea typeface="Helvetica Neue"/>
                <a:cs typeface="Helvetica Neue"/>
              </a:rPr>
              <a:t>12 prerequisite mappings</a:t>
            </a:r>
          </a:p>
        </p:txBody>
      </p:sp>
      <p:sp>
        <p:nvSpPr>
          <p:cNvPr id="6" name="Purpose and limitation">
            <a:extLst xmlns:a="http://schemas.openxmlformats.org/drawingml/2006/main">
              <a:ext uri="{FF2B5EF4-FFF2-40B4-BE49-F238E27FC236}">
                <a16:creationId xmlns:a16="http://schemas.microsoft.com/office/drawing/2014/main" id="{21A54A27-D167-411F-A015-6A05C1F769BD}"/>
              </a:ext>
            </a:extLst>
          </p:cNvPr>
          <p:cNvSpPr>
            <a:spLocks xmlns:a="http://schemas.openxmlformats.org/drawingml/2006/main" noGrp="1"/>
          </p:cNvSpPr>
          <p:nvPr/>
        </p:nvSpPr>
        <p:spPr>
          <a:xfrm xmlns:a="http://schemas.openxmlformats.org/drawingml/2006/main">
            <a:off x="6477000" y="2200275"/>
            <a:ext cx="4924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Purpose and limitation</a:t>
            </a:r>
          </a:p>
        </p:txBody>
      </p:sp>
      <p:sp>
        <p:nvSpPr>
          <p:cNvPr id="7" name="Normalizes different skill names.&#10;Makes gap logi">
            <a:extLst xmlns:a="http://schemas.openxmlformats.org/drawingml/2006/main">
              <a:ext uri="{FF2B5EF4-FFF2-40B4-BE49-F238E27FC236}">
                <a16:creationId xmlns:a16="http://schemas.microsoft.com/office/drawing/2014/main" id="{822EFEAD-CBCF-4463-9095-1056953AD55D}"/>
              </a:ext>
            </a:extLst>
          </p:cNvPr>
          <p:cNvSpPr>
            <a:spLocks xmlns:a="http://schemas.openxmlformats.org/drawingml/2006/main" noGrp="1"/>
          </p:cNvSpPr>
          <p:nvPr/>
        </p:nvSpPr>
        <p:spPr>
          <a:xfrm xmlns:a="http://schemas.openxmlformats.org/drawingml/2006/main">
            <a:off x="6477000" y="2743200"/>
            <a:ext cx="49244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3E35"/>
                </a:solidFill>
                <a:latin typeface="Helvetica Neue"/>
                <a:ea typeface="Helvetica Neue"/>
                <a:cs typeface="Helvetica Neue"/>
              </a:defRPr>
            </a:pPr>
            <a:r>
              <a:rPr sz="2100" b="0">
                <a:solidFill>
                  <a:srgbClr val="193E35"/>
                </a:solidFill>
                <a:latin typeface="Helvetica Neue"/>
                <a:ea typeface="Helvetica Neue"/>
                <a:cs typeface="Helvetica Neue"/>
              </a:rPr>
              <a:t>Normalizes different skill names.</a:t>
            </a:r>
          </a:p>
          <a:p xmlns:a="http://schemas.openxmlformats.org/drawingml/2006/main">
            <a:pPr>
              <a:defRPr sz="2100" b="0">
                <a:solidFill>
                  <a:srgbClr val="193E35"/>
                </a:solidFill>
                <a:latin typeface="Helvetica Neue"/>
                <a:ea typeface="Helvetica Neue"/>
                <a:cs typeface="Helvetica Neue"/>
              </a:defRPr>
            </a:pPr>
            <a:r>
              <a:rPr sz="2100" b="0">
                <a:solidFill>
                  <a:srgbClr val="193E35"/>
                </a:solidFill>
                <a:latin typeface="Helvetica Neue"/>
                <a:ea typeface="Helvetica Neue"/>
                <a:cs typeface="Helvetica Neue"/>
              </a:rPr>
              <a:t>Makes gap logic explainable.</a:t>
            </a:r>
          </a:p>
          <a:p xmlns:a="http://schemas.openxmlformats.org/drawingml/2006/main">
            <a:pPr>
              <a:defRPr sz="2100" b="0">
                <a:solidFill>
                  <a:srgbClr val="193E35"/>
                </a:solidFill>
                <a:latin typeface="Helvetica Neue"/>
                <a:ea typeface="Helvetica Neue"/>
                <a:cs typeface="Helvetica Neue"/>
              </a:defRPr>
            </a:pPr>
            <a:r>
              <a:rPr sz="2100" b="0">
                <a:solidFill>
                  <a:srgbClr val="193E35"/>
                </a:solidFill>
                <a:latin typeface="Helvetica Neue"/>
                <a:ea typeface="Helvetica Neue"/>
                <a:cs typeface="Helvetica Neue"/>
              </a:rPr>
              <a:t>Keeps model choices bounded.</a:t>
            </a:r>
          </a:p>
          <a:p xmlns:a="http://schemas.openxmlformats.org/drawingml/2006/main">
            <a:pPr>
              <a:defRPr sz="2100" b="0">
                <a:solidFill>
                  <a:srgbClr val="193E35"/>
                </a:solidFill>
                <a:latin typeface="Helvetica Neue"/>
                <a:ea typeface="Helvetica Neue"/>
                <a:cs typeface="Helvetica Neue"/>
              </a:defRPr>
            </a:pPr>
            <a:r>
              <a:rPr sz="2100" b="0">
                <a:solidFill>
                  <a:srgbClr val="193E35"/>
                </a:solidFill>
                <a:latin typeface="Helvetica Neue"/>
                <a:ea typeface="Helvetica Neue"/>
                <a:cs typeface="Helvetica Neue"/>
              </a:rPr>
              <a:t>Needs maintenance and wider coverage.</a:t>
            </a:r>
          </a:p>
        </p:txBody>
      </p:sp>
      <p:sp>
        <p:nvSpPr>
          <p:cNvPr id="8" name="The taxonomy is curated project knowledge. It is">
            <a:extLst xmlns:a="http://schemas.openxmlformats.org/drawingml/2006/main">
              <a:ext uri="{FF2B5EF4-FFF2-40B4-BE49-F238E27FC236}">
                <a16:creationId xmlns:a16="http://schemas.microsoft.com/office/drawing/2014/main" id="{EA07BBE3-64A7-49CC-B446-D380D4ABC3DE}"/>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The taxonomy is curated project knowledge. It is neither a complete job-market model nor a list learned by Ollama.</a:t>
            </a:r>
          </a:p>
        </p:txBody>
      </p:sp>
    </p:spTree>
    <p:extLst>
      <p:ext uri="{BB962C8B-B14F-4D97-AF65-F5344CB8AC3E}">
        <p14:creationId xmlns:p14="http://schemas.microsoft.com/office/powerpoint/2010/main" val="239793565"/>
      </p:ext>
    </p:extLst>
  </p:cSld>
</p:sld>
</file>

<file path=ppt/slides/slide2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0" name="BACKUP  /  INFORMATION RETRIEVAL">
            <a:extLst xmlns:a="http://schemas.openxmlformats.org/drawingml/2006/main">
              <a:ext uri="{FF2B5EF4-FFF2-40B4-BE49-F238E27FC236}">
                <a16:creationId xmlns:a16="http://schemas.microsoft.com/office/drawing/2014/main" id="{A26DC8B1-B7AB-475B-AA3E-88578E58BCB6}"/>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BACKUP  /  INFORMATION RETRIEVAL</a:t>
            </a:r>
          </a:p>
        </p:txBody>
      </p:sp>
      <p:sp>
        <p:nvSpPr>
          <p:cNvPr id="2" name="Retrieval scoring in detail">
            <a:extLst xmlns:a="http://schemas.openxmlformats.org/drawingml/2006/main">
              <a:ext uri="{FF2B5EF4-FFF2-40B4-BE49-F238E27FC236}">
                <a16:creationId xmlns:a16="http://schemas.microsoft.com/office/drawing/2014/main" id="{C7394F2D-415E-4CBD-871B-DDCC75FAFF54}"/>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Retrieval scoring in detail</a:t>
            </a:r>
          </a:p>
        </p:txBody>
      </p:sp>
      <p:sp>
        <p:nvSpPr>
          <p:cNvPr id="3" name="23">
            <a:extLst xmlns:a="http://schemas.openxmlformats.org/drawingml/2006/main">
              <a:ext uri="{FF2B5EF4-FFF2-40B4-BE49-F238E27FC236}">
                <a16:creationId xmlns:a16="http://schemas.microsoft.com/office/drawing/2014/main" id="{4551288A-E073-4071-A78A-E28FC2050EC2}"/>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23</a:t>
            </a:r>
          </a:p>
        </p:txBody>
      </p:sp>
      <p:sp>
        <p:nvSpPr>
          <p:cNvPr id="4" name="Hybrid = 0.62 × BM25 + 0.38 × cosine">
            <a:extLst xmlns:a="http://schemas.openxmlformats.org/drawingml/2006/main">
              <a:ext uri="{FF2B5EF4-FFF2-40B4-BE49-F238E27FC236}">
                <a16:creationId xmlns:a16="http://schemas.microsoft.com/office/drawing/2014/main" id="{26885A5D-8422-4E91-B743-5779230693FF}"/>
              </a:ext>
            </a:extLst>
          </p:cNvPr>
          <p:cNvSpPr>
            <a:spLocks xmlns:a="http://schemas.openxmlformats.org/drawingml/2006/main" noGrp="1"/>
          </p:cNvSpPr>
          <p:nvPr/>
        </p:nvSpPr>
        <p:spPr>
          <a:xfrm xmlns:a="http://schemas.openxmlformats.org/drawingml/2006/main">
            <a:off x="628650" y="2209800"/>
            <a:ext cx="1087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925" b="1">
                <a:solidFill>
                  <a:srgbClr val="193E35"/>
                </a:solidFill>
                <a:latin typeface="Helvetica Neue"/>
                <a:ea typeface="Helvetica Neue"/>
                <a:cs typeface="Helvetica Neue"/>
              </a:defRPr>
            </a:pPr>
            <a:r>
              <a:rPr sz="2925" b="1">
                <a:solidFill>
                  <a:srgbClr val="193E35"/>
                </a:solidFill>
                <a:latin typeface="Helvetica Neue"/>
                <a:ea typeface="Helvetica Neue"/>
                <a:cs typeface="Helvetica Neue"/>
              </a:rPr>
              <a:t>Hybrid = 0.62 × BM25 + 0.38 × cosine</a:t>
            </a:r>
          </a:p>
        </p:txBody>
      </p:sp>
      <p:sp>
        <p:nvSpPr>
          <p:cNvPr id="5" name="Retrieval = 0.88 × hybrid + 0.12 × skill coverag">
            <a:extLst xmlns:a="http://schemas.openxmlformats.org/drawingml/2006/main">
              <a:ext uri="{FF2B5EF4-FFF2-40B4-BE49-F238E27FC236}">
                <a16:creationId xmlns:a16="http://schemas.microsoft.com/office/drawing/2014/main" id="{CD1DCA28-12F7-48FD-83EB-E8D79B000798}"/>
              </a:ext>
            </a:extLst>
          </p:cNvPr>
          <p:cNvSpPr>
            <a:spLocks xmlns:a="http://schemas.openxmlformats.org/drawingml/2006/main" noGrp="1"/>
          </p:cNvSpPr>
          <p:nvPr/>
        </p:nvSpPr>
        <p:spPr>
          <a:xfrm xmlns:a="http://schemas.openxmlformats.org/drawingml/2006/main">
            <a:off x="628650" y="3162300"/>
            <a:ext cx="10877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32694F"/>
                </a:solidFill>
                <a:latin typeface="Helvetica Neue"/>
                <a:ea typeface="Helvetica Neue"/>
                <a:cs typeface="Helvetica Neue"/>
              </a:defRPr>
            </a:pPr>
            <a:r>
              <a:rPr sz="2700" b="1">
                <a:solidFill>
                  <a:srgbClr val="32694F"/>
                </a:solidFill>
                <a:latin typeface="Helvetica Neue"/>
                <a:ea typeface="Helvetica Neue"/>
                <a:cs typeface="Helvetica Neue"/>
              </a:rPr>
              <a:t>Retrieval = 0.88 × hybrid + 0.12 × skill coverage</a:t>
            </a:r>
          </a:p>
        </p:txBody>
      </p:sp>
      <p:sp>
        <p:nvSpPr>
          <p:cNvPr id="6" name="Preparation">
            <a:extLst xmlns:a="http://schemas.openxmlformats.org/drawingml/2006/main">
              <a:ext uri="{FF2B5EF4-FFF2-40B4-BE49-F238E27FC236}">
                <a16:creationId xmlns:a16="http://schemas.microsoft.com/office/drawing/2014/main" id="{37F49BE4-A9C3-4EB7-96AC-80E2E596316C}"/>
              </a:ext>
            </a:extLst>
          </p:cNvPr>
          <p:cNvSpPr>
            <a:spLocks xmlns:a="http://schemas.openxmlformats.org/drawingml/2006/main" noGrp="1"/>
          </p:cNvSpPr>
          <p:nvPr/>
        </p:nvSpPr>
        <p:spPr>
          <a:xfrm xmlns:a="http://schemas.openxmlformats.org/drawingml/2006/main">
            <a:off x="628650" y="4410075"/>
            <a:ext cx="4895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Preparation</a:t>
            </a:r>
          </a:p>
        </p:txBody>
      </p:sp>
      <p:sp>
        <p:nvSpPr>
          <p:cNvPr id="7" name="Tokenize course text. Build term frequencies, do">
            <a:extLst xmlns:a="http://schemas.openxmlformats.org/drawingml/2006/main">
              <a:ext uri="{FF2B5EF4-FFF2-40B4-BE49-F238E27FC236}">
                <a16:creationId xmlns:a16="http://schemas.microsoft.com/office/drawing/2014/main" id="{996D0C4F-4E13-4735-BE1B-1E885EF2DA0B}"/>
              </a:ext>
            </a:extLst>
          </p:cNvPr>
          <p:cNvSpPr>
            <a:spLocks xmlns:a="http://schemas.openxmlformats.org/drawingml/2006/main" noGrp="1"/>
          </p:cNvSpPr>
          <p:nvPr/>
        </p:nvSpPr>
        <p:spPr>
          <a:xfrm xmlns:a="http://schemas.openxmlformats.org/drawingml/2006/main">
            <a:off x="628650" y="4953000"/>
            <a:ext cx="48958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93E35"/>
                </a:solidFill>
                <a:latin typeface="Helvetica Neue"/>
                <a:ea typeface="Helvetica Neue"/>
                <a:cs typeface="Helvetica Neue"/>
              </a:defRPr>
            </a:pPr>
            <a:r>
              <a:rPr sz="1875" b="0">
                <a:solidFill>
                  <a:srgbClr val="193E35"/>
                </a:solidFill>
                <a:latin typeface="Helvetica Neue"/>
                <a:ea typeface="Helvetica Neue"/>
                <a:cs typeface="Helvetica Neue"/>
              </a:rPr>
              <a:t>Tokenize course text. Build term frequencies, document frequencies and TF-IDF vectors.</a:t>
            </a:r>
          </a:p>
        </p:txBody>
      </p:sp>
      <p:sp>
        <p:nvSpPr>
          <p:cNvPr id="8" name="Ranking">
            <a:extLst xmlns:a="http://schemas.openxmlformats.org/drawingml/2006/main">
              <a:ext uri="{FF2B5EF4-FFF2-40B4-BE49-F238E27FC236}">
                <a16:creationId xmlns:a16="http://schemas.microsoft.com/office/drawing/2014/main" id="{2AEB43B6-8301-4C20-9244-8DE665AA360E}"/>
              </a:ext>
            </a:extLst>
          </p:cNvPr>
          <p:cNvSpPr>
            <a:spLocks xmlns:a="http://schemas.openxmlformats.org/drawingml/2006/main" noGrp="1"/>
          </p:cNvSpPr>
          <p:nvPr/>
        </p:nvSpPr>
        <p:spPr>
          <a:xfrm xmlns:a="http://schemas.openxmlformats.org/drawingml/2006/main">
            <a:off x="6496050" y="4410075"/>
            <a:ext cx="48863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Ranking</a:t>
            </a:r>
          </a:p>
        </p:txBody>
      </p:sp>
      <p:sp>
        <p:nvSpPr>
          <p:cNvPr id="9" name="Normalize component scores. Rank candidates and ">
            <a:extLst xmlns:a="http://schemas.openxmlformats.org/drawingml/2006/main">
              <a:ext uri="{FF2B5EF4-FFF2-40B4-BE49-F238E27FC236}">
                <a16:creationId xmlns:a16="http://schemas.microsoft.com/office/drawing/2014/main" id="{AB41E38B-2A4D-41EC-A6A2-487007E41352}"/>
              </a:ext>
            </a:extLst>
          </p:cNvPr>
          <p:cNvSpPr>
            <a:spLocks xmlns:a="http://schemas.openxmlformats.org/drawingml/2006/main" noGrp="1"/>
          </p:cNvSpPr>
          <p:nvPr/>
        </p:nvSpPr>
        <p:spPr>
          <a:xfrm xmlns:a="http://schemas.openxmlformats.org/drawingml/2006/main">
            <a:off x="6496050" y="4953000"/>
            <a:ext cx="48863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93E35"/>
                </a:solidFill>
                <a:latin typeface="Helvetica Neue"/>
                <a:ea typeface="Helvetica Neue"/>
                <a:cs typeface="Helvetica Neue"/>
              </a:defRPr>
            </a:pPr>
            <a:r>
              <a:rPr sz="1875" b="0">
                <a:solidFill>
                  <a:srgbClr val="193E35"/>
                </a:solidFill>
                <a:latin typeface="Helvetica Neue"/>
                <a:ea typeface="Helvetica Neue"/>
                <a:cs typeface="Helvetica Neue"/>
              </a:rPr>
              <a:t>Normalize component scores. Rank candidates and return up to 12 courses by default.</a:t>
            </a:r>
          </a:p>
        </p:txBody>
      </p:sp>
    </p:spTree>
    <p:extLst>
      <p:ext uri="{BB962C8B-B14F-4D97-AF65-F5344CB8AC3E}">
        <p14:creationId xmlns:p14="http://schemas.microsoft.com/office/powerpoint/2010/main" val="139262156"/>
      </p:ext>
    </p:extLst>
  </p:cSld>
</p:sld>
</file>

<file path=ppt/slides/slide2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BACKUP  /  ILLUSTRATIVE CALCULATION">
            <a:extLst xmlns:a="http://schemas.openxmlformats.org/drawingml/2006/main">
              <a:ext uri="{FF2B5EF4-FFF2-40B4-BE49-F238E27FC236}">
                <a16:creationId xmlns:a16="http://schemas.microsoft.com/office/drawing/2014/main" id="{E6711DC3-55FE-4838-B9D4-FD94477CFF10}"/>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BACKUP  /  ILLUSTRATIVE CALCULATION</a:t>
            </a:r>
          </a:p>
        </p:txBody>
      </p:sp>
      <p:sp>
        <p:nvSpPr>
          <p:cNvPr id="2" name="A worked recommendation score">
            <a:extLst xmlns:a="http://schemas.openxmlformats.org/drawingml/2006/main">
              <a:ext uri="{FF2B5EF4-FFF2-40B4-BE49-F238E27FC236}">
                <a16:creationId xmlns:a16="http://schemas.microsoft.com/office/drawing/2014/main" id="{768F503B-9D4A-46B5-9C17-470C8218C126}"/>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A worked recommendation score</a:t>
            </a:r>
          </a:p>
        </p:txBody>
      </p:sp>
      <p:sp>
        <p:nvSpPr>
          <p:cNvPr id="3" name="24">
            <a:extLst xmlns:a="http://schemas.openxmlformats.org/drawingml/2006/main">
              <a:ext uri="{FF2B5EF4-FFF2-40B4-BE49-F238E27FC236}">
                <a16:creationId xmlns:a16="http://schemas.microsoft.com/office/drawing/2014/main" id="{2841A655-C9C5-4FA4-8E55-1A2C06B56AF0}"/>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24</a:t>
            </a:r>
          </a:p>
        </p:txBody>
      </p:sp>
      <p:graphicFrame>
        <p:nvGraphicFramePr>
          <p:cNvPr id="12" name=""/>
          <p:cNvGraphicFramePr/>
          <p:nvPr/>
        </p:nvGraphicFramePr>
        <p:xfrm>
          <a:off xmlns:a="http://schemas.openxmlformats.org/drawingml/2006/main" x="609600" y="2038350"/>
          <a:ext xmlns:a="http://schemas.openxmlformats.org/drawingml/2006/main" cx="7743825" cy="3581400"/>
        </p:xfrm>
        <a:graphic xmlns:a="http://schemas.openxmlformats.org/drawingml/2006/main">
          <a:graphicData uri="http://schemas.openxmlformats.org/drawingml/2006/table">
            <a:tbl>
              <a:tblPr/>
              <a:tblGrid>
                <a:gridCol w="3228975"/>
                <a:gridCol w="1304925"/>
                <a:gridCol w="1304925"/>
                <a:gridCol w="1905000"/>
              </a:tblGrid>
              <a:tr h="596900">
                <a:tc>
                  <a:txBody>
                    <a:bodyPr lIns="142875" tIns="114300" rIns="142875" bIns="114300">
                      <a:noAutofit/>
                    </a:bodyPr>
                    <a:lstStyle/>
                    <a:p>
                      <a:r>
                        <a:rPr sz="1725" b="1">
                          <a:solidFill>
                            <a:srgbClr val="F5F3EC"/>
                          </a:solidFill>
                          <a:latin typeface="Helvetica Neue"/>
                          <a:ea typeface="Helvetica Neue"/>
                          <a:cs typeface="Helvetica Neue"/>
                        </a:rPr>
                        <a:t>Factor</a:t>
                      </a:r>
                    </a:p>
                  </a:txBody>
                  <a:tcPr marL="91440" marR="91440" marT="45720" marB="45720" anchor="ctr">
                    <a:solidFill>
                      <a:srgbClr val="193E35"/>
                    </a:solidFill>
                  </a:tcPr>
                </a:tc>
                <a:tc>
                  <a:txBody>
                    <a:bodyPr lIns="142875" tIns="114300" rIns="142875" bIns="114300">
                      <a:noAutofit/>
                    </a:bodyPr>
                    <a:lstStyle/>
                    <a:p>
                      <a:r>
                        <a:rPr sz="1725" b="1">
                          <a:solidFill>
                            <a:srgbClr val="F5F3EC"/>
                          </a:solidFill>
                          <a:latin typeface="Helvetica Neue"/>
                          <a:ea typeface="Helvetica Neue"/>
                          <a:cs typeface="Helvetica Neue"/>
                        </a:rPr>
                        <a:t>Score</a:t>
                      </a:r>
                    </a:p>
                  </a:txBody>
                  <a:tcPr marL="91440" marR="91440" marT="45720" marB="45720" anchor="ctr">
                    <a:solidFill>
                      <a:srgbClr val="193E35"/>
                    </a:solidFill>
                  </a:tcPr>
                </a:tc>
                <a:tc>
                  <a:txBody>
                    <a:bodyPr lIns="142875" tIns="114300" rIns="142875" bIns="114300">
                      <a:noAutofit/>
                    </a:bodyPr>
                    <a:lstStyle/>
                    <a:p>
                      <a:r>
                        <a:rPr sz="1725" b="1">
                          <a:solidFill>
                            <a:srgbClr val="F5F3EC"/>
                          </a:solidFill>
                          <a:latin typeface="Helvetica Neue"/>
                          <a:ea typeface="Helvetica Neue"/>
                          <a:cs typeface="Helvetica Neue"/>
                        </a:rPr>
                        <a:t>Weight</a:t>
                      </a:r>
                    </a:p>
                  </a:txBody>
                  <a:tcPr marL="91440" marR="91440" marT="45720" marB="45720" anchor="ctr">
                    <a:solidFill>
                      <a:srgbClr val="193E35"/>
                    </a:solidFill>
                  </a:tcPr>
                </a:tc>
                <a:tc>
                  <a:txBody>
                    <a:bodyPr lIns="142875" tIns="114300" rIns="142875" bIns="114300">
                      <a:noAutofit/>
                    </a:bodyPr>
                    <a:lstStyle/>
                    <a:p>
                      <a:r>
                        <a:rPr sz="1725" b="1">
                          <a:solidFill>
                            <a:srgbClr val="F5F3EC"/>
                          </a:solidFill>
                          <a:latin typeface="Helvetica Neue"/>
                          <a:ea typeface="Helvetica Neue"/>
                          <a:cs typeface="Helvetica Neue"/>
                        </a:rPr>
                        <a:t>Contribution</a:t>
                      </a:r>
                    </a:p>
                  </a:txBody>
                  <a:tcPr marL="91440" marR="91440" marT="45720" marB="45720" anchor="ctr">
                    <a:solidFill>
                      <a:srgbClr val="193E35"/>
                    </a:solidFill>
                  </a:tcPr>
                </a:tc>
              </a:tr>
              <a:tr h="596900">
                <a:tc>
                  <a:txBody>
                    <a:bodyPr lIns="142875" tIns="114300" rIns="142875" bIns="114300">
                      <a:noAutofit/>
                    </a:bodyPr>
                    <a:lstStyle/>
                    <a:p>
                      <a:r>
                        <a:rPr sz="1800" b="0">
                          <a:solidFill>
                            <a:srgbClr val="193E35"/>
                          </a:solidFill>
                          <a:latin typeface="Helvetica Neue"/>
                          <a:ea typeface="Helvetica Neue"/>
                          <a:cs typeface="Helvetica Neue"/>
                        </a:rPr>
                        <a:t>Profile relevance</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92</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25%</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23.00</a:t>
                      </a:r>
                    </a:p>
                  </a:txBody>
                  <a:tcPr marL="91440" marR="91440" marT="45720" marB="45720" anchor="ctr">
                    <a:solidFill>
                      <a:srgbClr val="F5F3EC"/>
                    </a:solidFill>
                  </a:tcPr>
                </a:tc>
              </a:tr>
              <a:tr h="596900">
                <a:tc>
                  <a:txBody>
                    <a:bodyPr lIns="142875" tIns="114300" rIns="142875" bIns="114300">
                      <a:noAutofit/>
                    </a:bodyPr>
                    <a:lstStyle/>
                    <a:p>
                      <a:r>
                        <a:rPr sz="1800" b="0">
                          <a:solidFill>
                            <a:srgbClr val="193E35"/>
                          </a:solidFill>
                          <a:latin typeface="Helvetica Neue"/>
                          <a:ea typeface="Helvetica Neue"/>
                          <a:cs typeface="Helvetica Neue"/>
                        </a:rPr>
                        <a:t>Career alignment</a:t>
                      </a:r>
                    </a:p>
                  </a:txBody>
                  <a:tcPr marL="91440" marR="91440" marT="45720" marB="45720" anchor="ctr">
                    <a:solidFill>
                      <a:srgbClr val="E9EDDF"/>
                    </a:solidFill>
                  </a:tcPr>
                </a:tc>
                <a:tc>
                  <a:txBody>
                    <a:bodyPr lIns="142875" tIns="114300" rIns="142875" bIns="114300">
                      <a:noAutofit/>
                    </a:bodyPr>
                    <a:lstStyle/>
                    <a:p>
                      <a:r>
                        <a:rPr sz="1800" b="0">
                          <a:solidFill>
                            <a:srgbClr val="193E35"/>
                          </a:solidFill>
                          <a:latin typeface="Helvetica Neue"/>
                          <a:ea typeface="Helvetica Neue"/>
                          <a:cs typeface="Helvetica Neue"/>
                        </a:rPr>
                        <a:t>94</a:t>
                      </a:r>
                    </a:p>
                  </a:txBody>
                  <a:tcPr marL="91440" marR="91440" marT="45720" marB="45720" anchor="ctr">
                    <a:solidFill>
                      <a:srgbClr val="E9EDDF"/>
                    </a:solidFill>
                  </a:tcPr>
                </a:tc>
                <a:tc>
                  <a:txBody>
                    <a:bodyPr lIns="142875" tIns="114300" rIns="142875" bIns="114300">
                      <a:noAutofit/>
                    </a:bodyPr>
                    <a:lstStyle/>
                    <a:p>
                      <a:r>
                        <a:rPr sz="1800" b="0">
                          <a:solidFill>
                            <a:srgbClr val="193E35"/>
                          </a:solidFill>
                          <a:latin typeface="Helvetica Neue"/>
                          <a:ea typeface="Helvetica Neue"/>
                          <a:cs typeface="Helvetica Neue"/>
                        </a:rPr>
                        <a:t>25%</a:t>
                      </a:r>
                    </a:p>
                  </a:txBody>
                  <a:tcPr marL="91440" marR="91440" marT="45720" marB="45720" anchor="ctr">
                    <a:solidFill>
                      <a:srgbClr val="E9EDDF"/>
                    </a:solidFill>
                  </a:tcPr>
                </a:tc>
                <a:tc>
                  <a:txBody>
                    <a:bodyPr lIns="142875" tIns="114300" rIns="142875" bIns="114300">
                      <a:noAutofit/>
                    </a:bodyPr>
                    <a:lstStyle/>
                    <a:p>
                      <a:r>
                        <a:rPr sz="1800" b="0">
                          <a:solidFill>
                            <a:srgbClr val="193E35"/>
                          </a:solidFill>
                          <a:latin typeface="Helvetica Neue"/>
                          <a:ea typeface="Helvetica Neue"/>
                          <a:cs typeface="Helvetica Neue"/>
                        </a:rPr>
                        <a:t>23.50</a:t>
                      </a:r>
                    </a:p>
                  </a:txBody>
                  <a:tcPr marL="91440" marR="91440" marT="45720" marB="45720" anchor="ctr">
                    <a:solidFill>
                      <a:srgbClr val="E9EDDF"/>
                    </a:solidFill>
                  </a:tcPr>
                </a:tc>
              </a:tr>
              <a:tr h="596900">
                <a:tc>
                  <a:txBody>
                    <a:bodyPr lIns="142875" tIns="114300" rIns="142875" bIns="114300">
                      <a:noAutofit/>
                    </a:bodyPr>
                    <a:lstStyle/>
                    <a:p>
                      <a:r>
                        <a:rPr sz="1800" b="0">
                          <a:solidFill>
                            <a:srgbClr val="193E35"/>
                          </a:solidFill>
                          <a:latin typeface="Helvetica Neue"/>
                          <a:ea typeface="Helvetica Neue"/>
                          <a:cs typeface="Helvetica Neue"/>
                        </a:rPr>
                        <a:t>Skill-gap relevance</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90</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30%</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27.00</a:t>
                      </a:r>
                    </a:p>
                  </a:txBody>
                  <a:tcPr marL="91440" marR="91440" marT="45720" marB="45720" anchor="ctr">
                    <a:solidFill>
                      <a:srgbClr val="F5F3EC"/>
                    </a:solidFill>
                  </a:tcPr>
                </a:tc>
              </a:tr>
              <a:tr h="596900">
                <a:tc>
                  <a:txBody>
                    <a:bodyPr lIns="142875" tIns="114300" rIns="142875" bIns="114300">
                      <a:noAutofit/>
                    </a:bodyPr>
                    <a:lstStyle/>
                    <a:p>
                      <a:r>
                        <a:rPr sz="1800" b="0">
                          <a:solidFill>
                            <a:srgbClr val="193E35"/>
                          </a:solidFill>
                          <a:latin typeface="Helvetica Neue"/>
                          <a:ea typeface="Helvetica Neue"/>
                          <a:cs typeface="Helvetica Neue"/>
                        </a:rPr>
                        <a:t>Trend relevance</a:t>
                      </a:r>
                    </a:p>
                  </a:txBody>
                  <a:tcPr marL="91440" marR="91440" marT="45720" marB="45720" anchor="ctr">
                    <a:solidFill>
                      <a:srgbClr val="E9EDDF"/>
                    </a:solidFill>
                  </a:tcPr>
                </a:tc>
                <a:tc>
                  <a:txBody>
                    <a:bodyPr lIns="142875" tIns="114300" rIns="142875" bIns="114300">
                      <a:noAutofit/>
                    </a:bodyPr>
                    <a:lstStyle/>
                    <a:p>
                      <a:r>
                        <a:rPr sz="1800" b="0">
                          <a:solidFill>
                            <a:srgbClr val="193E35"/>
                          </a:solidFill>
                          <a:latin typeface="Helvetica Neue"/>
                          <a:ea typeface="Helvetica Neue"/>
                          <a:cs typeface="Helvetica Neue"/>
                        </a:rPr>
                        <a:t>88</a:t>
                      </a:r>
                    </a:p>
                  </a:txBody>
                  <a:tcPr marL="91440" marR="91440" marT="45720" marB="45720" anchor="ctr">
                    <a:solidFill>
                      <a:srgbClr val="E9EDDF"/>
                    </a:solidFill>
                  </a:tcPr>
                </a:tc>
                <a:tc>
                  <a:txBody>
                    <a:bodyPr lIns="142875" tIns="114300" rIns="142875" bIns="114300">
                      <a:noAutofit/>
                    </a:bodyPr>
                    <a:lstStyle/>
                    <a:p>
                      <a:r>
                        <a:rPr sz="1800" b="0">
                          <a:solidFill>
                            <a:srgbClr val="193E35"/>
                          </a:solidFill>
                          <a:latin typeface="Helvetica Neue"/>
                          <a:ea typeface="Helvetica Neue"/>
                          <a:cs typeface="Helvetica Neue"/>
                        </a:rPr>
                        <a:t>15%</a:t>
                      </a:r>
                    </a:p>
                  </a:txBody>
                  <a:tcPr marL="91440" marR="91440" marT="45720" marB="45720" anchor="ctr">
                    <a:solidFill>
                      <a:srgbClr val="E9EDDF"/>
                    </a:solidFill>
                  </a:tcPr>
                </a:tc>
                <a:tc>
                  <a:txBody>
                    <a:bodyPr lIns="142875" tIns="114300" rIns="142875" bIns="114300">
                      <a:noAutofit/>
                    </a:bodyPr>
                    <a:lstStyle/>
                    <a:p>
                      <a:r>
                        <a:rPr sz="1800" b="0">
                          <a:solidFill>
                            <a:srgbClr val="193E35"/>
                          </a:solidFill>
                          <a:latin typeface="Helvetica Neue"/>
                          <a:ea typeface="Helvetica Neue"/>
                          <a:cs typeface="Helvetica Neue"/>
                        </a:rPr>
                        <a:t>13.20</a:t>
                      </a:r>
                    </a:p>
                  </a:txBody>
                  <a:tcPr marL="91440" marR="91440" marT="45720" marB="45720" anchor="ctr">
                    <a:solidFill>
                      <a:srgbClr val="E9EDDF"/>
                    </a:solidFill>
                  </a:tcPr>
                </a:tc>
              </a:tr>
              <a:tr h="596900">
                <a:tc>
                  <a:txBody>
                    <a:bodyPr lIns="142875" tIns="114300" rIns="142875" bIns="114300">
                      <a:noAutofit/>
                    </a:bodyPr>
                    <a:lstStyle/>
                    <a:p>
                      <a:r>
                        <a:rPr sz="1800" b="0">
                          <a:solidFill>
                            <a:srgbClr val="193E35"/>
                          </a:solidFill>
                          <a:latin typeface="Helvetica Neue"/>
                          <a:ea typeface="Helvetica Neue"/>
                          <a:cs typeface="Helvetica Neue"/>
                        </a:rPr>
                        <a:t>Discount value</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90</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5%</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4.50</a:t>
                      </a:r>
                    </a:p>
                  </a:txBody>
                  <a:tcPr marL="91440" marR="91440" marT="45720" marB="45720" anchor="ctr">
                    <a:solidFill>
                      <a:srgbClr val="F5F3EC"/>
                    </a:solidFill>
                  </a:tcPr>
                </a:tc>
              </a:tr>
            </a:tbl>
          </a:graphicData>
        </a:graphic>
      </p:graphicFrame>
      <p:sp>
        <p:nvSpPr>
          <p:cNvPr id="5" name="91.2">
            <a:extLst xmlns:a="http://schemas.openxmlformats.org/drawingml/2006/main">
              <a:ext uri="{FF2B5EF4-FFF2-40B4-BE49-F238E27FC236}">
                <a16:creationId xmlns:a16="http://schemas.microsoft.com/office/drawing/2014/main" id="{99543671-5755-428E-988D-E6F5C0CBC966}"/>
              </a:ext>
            </a:extLst>
          </p:cNvPr>
          <p:cNvSpPr>
            <a:spLocks xmlns:a="http://schemas.openxmlformats.org/drawingml/2006/main" noGrp="1"/>
          </p:cNvSpPr>
          <p:nvPr/>
        </p:nvSpPr>
        <p:spPr>
          <a:xfrm xmlns:a="http://schemas.openxmlformats.org/drawingml/2006/main">
            <a:off x="8858250" y="2705100"/>
            <a:ext cx="2571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925" b="1">
                <a:solidFill>
                  <a:srgbClr val="32694F"/>
                </a:solidFill>
                <a:latin typeface="Helvetica Neue"/>
                <a:ea typeface="Helvetica Neue"/>
                <a:cs typeface="Helvetica Neue"/>
              </a:defRPr>
            </a:pPr>
            <a:r>
              <a:rPr sz="5925" b="1">
                <a:solidFill>
                  <a:srgbClr val="32694F"/>
                </a:solidFill>
                <a:latin typeface="Helvetica Neue"/>
                <a:ea typeface="Helvetica Neue"/>
                <a:cs typeface="Helvetica Neue"/>
              </a:rPr>
              <a:t>91.2</a:t>
            </a:r>
          </a:p>
        </p:txBody>
      </p:sp>
      <p:sp>
        <p:nvSpPr>
          <p:cNvPr id="6" name="out of 100">
            <a:extLst xmlns:a="http://schemas.openxmlformats.org/drawingml/2006/main">
              <a:ext uri="{FF2B5EF4-FFF2-40B4-BE49-F238E27FC236}">
                <a16:creationId xmlns:a16="http://schemas.microsoft.com/office/drawing/2014/main" id="{678C9CCF-31F6-4107-8230-DF6E2EE77ED3}"/>
              </a:ext>
            </a:extLst>
          </p:cNvPr>
          <p:cNvSpPr>
            <a:spLocks xmlns:a="http://schemas.openxmlformats.org/drawingml/2006/main" noGrp="1"/>
          </p:cNvSpPr>
          <p:nvPr/>
        </p:nvSpPr>
        <p:spPr>
          <a:xfrm xmlns:a="http://schemas.openxmlformats.org/drawingml/2006/main">
            <a:off x="8905875" y="3895725"/>
            <a:ext cx="2524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out of 100</a:t>
            </a:r>
          </a:p>
        </p:txBody>
      </p:sp>
      <p:sp>
        <p:nvSpPr>
          <p:cNvPr id="7" name="High priority">
            <a:extLst xmlns:a="http://schemas.openxmlformats.org/drawingml/2006/main">
              <a:ext uri="{FF2B5EF4-FFF2-40B4-BE49-F238E27FC236}">
                <a16:creationId xmlns:a16="http://schemas.microsoft.com/office/drawing/2014/main" id="{7CB68211-646E-483D-82E9-D58DE2F451DC}"/>
              </a:ext>
            </a:extLst>
          </p:cNvPr>
          <p:cNvSpPr>
            <a:spLocks xmlns:a="http://schemas.openxmlformats.org/drawingml/2006/main" noGrp="1"/>
          </p:cNvSpPr>
          <p:nvPr/>
        </p:nvSpPr>
        <p:spPr>
          <a:xfrm xmlns:a="http://schemas.openxmlformats.org/drawingml/2006/main">
            <a:off x="8877300" y="4638675"/>
            <a:ext cx="2590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93E35"/>
                </a:solidFill>
                <a:latin typeface="Helvetica Neue"/>
                <a:ea typeface="Helvetica Neue"/>
                <a:cs typeface="Helvetica Neue"/>
              </a:defRPr>
            </a:pPr>
            <a:r>
              <a:rPr sz="2325" b="1">
                <a:solidFill>
                  <a:srgbClr val="193E35"/>
                </a:solidFill>
                <a:latin typeface="Helvetica Neue"/>
                <a:ea typeface="Helvetica Neue"/>
                <a:cs typeface="Helvetica Neue"/>
              </a:rPr>
              <a:t>High priority</a:t>
            </a:r>
          </a:p>
        </p:txBody>
      </p:sp>
      <p:sp>
        <p:nvSpPr>
          <p:cNvPr id="8" name="Illustrative factor values only. Weighted sum = ">
            <a:extLst xmlns:a="http://schemas.openxmlformats.org/drawingml/2006/main">
              <a:ext uri="{FF2B5EF4-FFF2-40B4-BE49-F238E27FC236}">
                <a16:creationId xmlns:a16="http://schemas.microsoft.com/office/drawing/2014/main" id="{7A7BE359-C3E9-4ED6-BB59-C96602534546}"/>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Illustrative factor values only. Weighted sum = 23 + 23.5 + 27 + 13.2 + 4.5 = 91.2.</a:t>
            </a:r>
          </a:p>
        </p:txBody>
      </p:sp>
    </p:spTree>
    <p:extLst>
      <p:ext uri="{BB962C8B-B14F-4D97-AF65-F5344CB8AC3E}">
        <p14:creationId xmlns:p14="http://schemas.microsoft.com/office/powerpoint/2010/main" val="1650433223"/>
      </p:ext>
    </p:extLst>
  </p:cSld>
</p:sld>
</file>

<file path=ppt/slides/slide2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1" name="BACKUP  /  AGENT CONTRACTS">
            <a:extLst xmlns:a="http://schemas.openxmlformats.org/drawingml/2006/main">
              <a:ext uri="{FF2B5EF4-FFF2-40B4-BE49-F238E27FC236}">
                <a16:creationId xmlns:a16="http://schemas.microsoft.com/office/drawing/2014/main" id="{FECBD111-9A32-4E55-8A0B-56D7C134531C}"/>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BACKUP  /  AGENT CONTRACTS</a:t>
            </a:r>
          </a:p>
        </p:txBody>
      </p:sp>
      <p:sp>
        <p:nvSpPr>
          <p:cNvPr id="2" name="HTTP communication and failure handling">
            <a:extLst xmlns:a="http://schemas.openxmlformats.org/drawingml/2006/main">
              <a:ext uri="{FF2B5EF4-FFF2-40B4-BE49-F238E27FC236}">
                <a16:creationId xmlns:a16="http://schemas.microsoft.com/office/drawing/2014/main" id="{83F57D04-B542-4102-8163-5B2E175651FE}"/>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HTTP communication and failure handling</a:t>
            </a:r>
          </a:p>
        </p:txBody>
      </p:sp>
      <p:sp>
        <p:nvSpPr>
          <p:cNvPr id="3" name="25">
            <a:extLst xmlns:a="http://schemas.openxmlformats.org/drawingml/2006/main">
              <a:ext uri="{FF2B5EF4-FFF2-40B4-BE49-F238E27FC236}">
                <a16:creationId xmlns:a16="http://schemas.microsoft.com/office/drawing/2014/main" id="{03F18E24-626D-4434-B272-E1573914AF67}"/>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25</a:t>
            </a:r>
          </a:p>
        </p:txBody>
      </p:sp>
      <p:sp>
        <p:nvSpPr>
          <p:cNvPr id="4" name="POST /execute">
            <a:extLst xmlns:a="http://schemas.openxmlformats.org/drawingml/2006/main">
              <a:ext uri="{FF2B5EF4-FFF2-40B4-BE49-F238E27FC236}">
                <a16:creationId xmlns:a16="http://schemas.microsoft.com/office/drawing/2014/main" id="{26718596-9163-4218-B259-3BCC76B3F009}"/>
              </a:ext>
            </a:extLst>
          </p:cNvPr>
          <p:cNvSpPr>
            <a:spLocks xmlns:a="http://schemas.openxmlformats.org/drawingml/2006/main" noGrp="1"/>
          </p:cNvSpPr>
          <p:nvPr/>
        </p:nvSpPr>
        <p:spPr>
          <a:xfrm xmlns:a="http://schemas.openxmlformats.org/drawingml/2006/main">
            <a:off x="619125" y="2171700"/>
            <a:ext cx="5524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1">
                <a:solidFill>
                  <a:srgbClr val="32694F"/>
                </a:solidFill>
                <a:latin typeface="Helvetica Neue"/>
                <a:ea typeface="Helvetica Neue"/>
                <a:cs typeface="Helvetica Neue"/>
              </a:defRPr>
            </a:pPr>
            <a:r>
              <a:rPr sz="2850" b="1">
                <a:solidFill>
                  <a:srgbClr val="32694F"/>
                </a:solidFill>
                <a:latin typeface="Helvetica Neue"/>
                <a:ea typeface="Helvetica Neue"/>
                <a:cs typeface="Helvetica Neue"/>
              </a:rPr>
              <a:t>POST /execute</a:t>
            </a:r>
          </a:p>
        </p:txBody>
      </p:sp>
      <p:sp>
        <p:nvSpPr>
          <p:cNvPr id="5" name="{&#10;  &quot;run_id&quot;: &quot;demo-run&quot;,&#10;  &quot;user_id&quot;: &quot;employee">
            <a:extLst xmlns:a="http://schemas.openxmlformats.org/drawingml/2006/main">
              <a:ext uri="{FF2B5EF4-FFF2-40B4-BE49-F238E27FC236}">
                <a16:creationId xmlns:a16="http://schemas.microsoft.com/office/drawing/2014/main" id="{05C2540A-C09F-40DD-A0FF-46FBD5E8BDA6}"/>
              </a:ext>
            </a:extLst>
          </p:cNvPr>
          <p:cNvSpPr>
            <a:spLocks xmlns:a="http://schemas.openxmlformats.org/drawingml/2006/main" noGrp="1"/>
          </p:cNvSpPr>
          <p:nvPr/>
        </p:nvSpPr>
        <p:spPr>
          <a:xfrm xmlns:a="http://schemas.openxmlformats.org/drawingml/2006/main">
            <a:off x="619125" y="3028950"/>
            <a:ext cx="6143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3E35"/>
                </a:solidFill>
                <a:latin typeface="Helvetica Neue"/>
                <a:ea typeface="Helvetica Neue"/>
                <a:cs typeface="Helvetica Neue"/>
              </a:defRPr>
            </a:pPr>
            <a:r>
              <a:rPr sz="2100" b="0">
                <a:solidFill>
                  <a:srgbClr val="193E35"/>
                </a:solidFill>
                <a:latin typeface="Helvetica Neue"/>
                <a:ea typeface="Helvetica Neue"/>
                <a:cs typeface="Helvetica Neue"/>
              </a:rPr>
              <a:t>{</a:t>
            </a:r>
          </a:p>
          <a:p xmlns:a="http://schemas.openxmlformats.org/drawingml/2006/main">
            <a:pPr>
              <a:defRPr sz="2100" b="0">
                <a:solidFill>
                  <a:srgbClr val="193E35"/>
                </a:solidFill>
                <a:latin typeface="Helvetica Neue"/>
                <a:ea typeface="Helvetica Neue"/>
                <a:cs typeface="Helvetica Neue"/>
              </a:defRPr>
            </a:pPr>
            <a:r>
              <a:rPr sz="2100" b="0">
                <a:solidFill>
                  <a:srgbClr val="193E35"/>
                </a:solidFill>
                <a:latin typeface="Helvetica Neue"/>
                <a:ea typeface="Helvetica Neue"/>
                <a:cs typeface="Helvetica Neue"/>
              </a:rPr>
              <a:t>  "run_id": "demo-run",</a:t>
            </a:r>
          </a:p>
          <a:p xmlns:a="http://schemas.openxmlformats.org/drawingml/2006/main">
            <a:pPr>
              <a:defRPr sz="2100" b="0">
                <a:solidFill>
                  <a:srgbClr val="193E35"/>
                </a:solidFill>
                <a:latin typeface="Helvetica Neue"/>
                <a:ea typeface="Helvetica Neue"/>
                <a:cs typeface="Helvetica Neue"/>
              </a:defRPr>
            </a:pPr>
            <a:r>
              <a:rPr sz="2100" b="0">
                <a:solidFill>
                  <a:srgbClr val="193E35"/>
                </a:solidFill>
                <a:latin typeface="Helvetica Neue"/>
                <a:ea typeface="Helvetica Neue"/>
                <a:cs typeface="Helvetica Neue"/>
              </a:rPr>
              <a:t>  "user_id": "employee-id",</a:t>
            </a:r>
          </a:p>
          <a:p xmlns:a="http://schemas.openxmlformats.org/drawingml/2006/main">
            <a:pPr>
              <a:defRPr sz="2100" b="0">
                <a:solidFill>
                  <a:srgbClr val="193E35"/>
                </a:solidFill>
                <a:latin typeface="Helvetica Neue"/>
                <a:ea typeface="Helvetica Neue"/>
                <a:cs typeface="Helvetica Neue"/>
              </a:defRPr>
            </a:pPr>
            <a:r>
              <a:rPr sz="2100" b="0">
                <a:solidFill>
                  <a:srgbClr val="193E35"/>
                </a:solidFill>
                <a:latin typeface="Helvetica Neue"/>
                <a:ea typeface="Helvetica Neue"/>
                <a:cs typeface="Helvetica Neue"/>
              </a:rPr>
              <a:t>  "payload": { "profile": { … } }</a:t>
            </a:r>
          </a:p>
          <a:p xmlns:a="http://schemas.openxmlformats.org/drawingml/2006/main">
            <a:pPr>
              <a:defRPr sz="2100" b="0">
                <a:solidFill>
                  <a:srgbClr val="193E35"/>
                </a:solidFill>
                <a:latin typeface="Helvetica Neue"/>
                <a:ea typeface="Helvetica Neue"/>
                <a:cs typeface="Helvetica Neue"/>
              </a:defRPr>
            </a:pPr>
            <a:r>
              <a:rPr sz="2100" b="0">
                <a:solidFill>
                  <a:srgbClr val="193E35"/>
                </a:solidFill>
                <a:latin typeface="Helvetica Neue"/>
                <a:ea typeface="Helvetica Neue"/>
                <a:cs typeface="Helvetica Neue"/>
              </a:rPr>
              <a:t>}</a:t>
            </a:r>
          </a:p>
        </p:txBody>
      </p:sp>
      <p:sp>
        <p:nvSpPr>
          <p:cNvPr id="6" name="Request checks">
            <a:extLst xmlns:a="http://schemas.openxmlformats.org/drawingml/2006/main">
              <a:ext uri="{FF2B5EF4-FFF2-40B4-BE49-F238E27FC236}">
                <a16:creationId xmlns:a16="http://schemas.microsoft.com/office/drawing/2014/main" id="{46EA0621-CCA1-4B7F-90B3-59E9E2A073C4}"/>
              </a:ext>
            </a:extLst>
          </p:cNvPr>
          <p:cNvSpPr>
            <a:spLocks xmlns:a="http://schemas.openxmlformats.org/drawingml/2006/main" noGrp="1"/>
          </p:cNvSpPr>
          <p:nvPr/>
        </p:nvSpPr>
        <p:spPr>
          <a:xfrm xmlns:a="http://schemas.openxmlformats.org/drawingml/2006/main">
            <a:off x="7572375" y="2200275"/>
            <a:ext cx="3790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Request checks</a:t>
            </a:r>
          </a:p>
        </p:txBody>
      </p:sp>
      <p:sp>
        <p:nvSpPr>
          <p:cNvPr id="7" name="X-Agent-Key authentication&#10;Typed payload validat">
            <a:extLst xmlns:a="http://schemas.openxmlformats.org/drawingml/2006/main">
              <a:ext uri="{FF2B5EF4-FFF2-40B4-BE49-F238E27FC236}">
                <a16:creationId xmlns:a16="http://schemas.microsoft.com/office/drawing/2014/main" id="{9D5BC485-F119-46CD-8A3D-2EDD267CE339}"/>
              </a:ext>
            </a:extLst>
          </p:cNvPr>
          <p:cNvSpPr>
            <a:spLocks xmlns:a="http://schemas.openxmlformats.org/drawingml/2006/main" noGrp="1"/>
          </p:cNvSpPr>
          <p:nvPr/>
        </p:nvSpPr>
        <p:spPr>
          <a:xfrm xmlns:a="http://schemas.openxmlformats.org/drawingml/2006/main">
            <a:off x="7572375" y="2743200"/>
            <a:ext cx="37909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X-Agent-Key authentication</a:t>
            </a:r>
          </a:p>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Typed payload validation</a:t>
            </a:r>
          </a:p>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Run and user identity</a:t>
            </a:r>
          </a:p>
        </p:txBody>
      </p:sp>
      <p:sp>
        <p:nvSpPr>
          <p:cNvPr id="8" name="Failure visibility">
            <a:extLst xmlns:a="http://schemas.openxmlformats.org/drawingml/2006/main">
              <a:ext uri="{FF2B5EF4-FFF2-40B4-BE49-F238E27FC236}">
                <a16:creationId xmlns:a16="http://schemas.microsoft.com/office/drawing/2014/main" id="{50DEB0D5-7D61-4AE5-84C4-3A8AA662ED7F}"/>
              </a:ext>
            </a:extLst>
          </p:cNvPr>
          <p:cNvSpPr>
            <a:spLocks xmlns:a="http://schemas.openxmlformats.org/drawingml/2006/main" noGrp="1"/>
          </p:cNvSpPr>
          <p:nvPr/>
        </p:nvSpPr>
        <p:spPr>
          <a:xfrm xmlns:a="http://schemas.openxmlformats.org/drawingml/2006/main">
            <a:off x="7572375" y="4210050"/>
            <a:ext cx="3790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Failure visibility</a:t>
            </a:r>
          </a:p>
        </p:txBody>
      </p:sp>
      <p:sp>
        <p:nvSpPr>
          <p:cNvPr id="9" name="Record the failed step.&#10;Keep its error in the ru">
            <a:extLst xmlns:a="http://schemas.openxmlformats.org/drawingml/2006/main">
              <a:ext uri="{FF2B5EF4-FFF2-40B4-BE49-F238E27FC236}">
                <a16:creationId xmlns:a16="http://schemas.microsoft.com/office/drawing/2014/main" id="{953E9670-16A4-4010-86B4-4611544C271F}"/>
              </a:ext>
            </a:extLst>
          </p:cNvPr>
          <p:cNvSpPr>
            <a:spLocks xmlns:a="http://schemas.openxmlformats.org/drawingml/2006/main" noGrp="1"/>
          </p:cNvSpPr>
          <p:nvPr/>
        </p:nvSpPr>
        <p:spPr>
          <a:xfrm xmlns:a="http://schemas.openxmlformats.org/drawingml/2006/main">
            <a:off x="7572375" y="4752975"/>
            <a:ext cx="37909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Record the failed step.</a:t>
            </a:r>
          </a:p>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Keep its error in the run trace.</a:t>
            </a:r>
          </a:p>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Allow a later retry.</a:t>
            </a:r>
          </a:p>
        </p:txBody>
      </p:sp>
      <p:sp>
        <p:nvSpPr>
          <p:cNvPr id="10" name="The JSON is an abbreviated example. Actual paylo">
            <a:extLst xmlns:a="http://schemas.openxmlformats.org/drawingml/2006/main">
              <a:ext uri="{FF2B5EF4-FFF2-40B4-BE49-F238E27FC236}">
                <a16:creationId xmlns:a16="http://schemas.microsoft.com/office/drawing/2014/main" id="{469AA88D-6FFE-464C-B0D6-1555EA4D3F13}"/>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The JSON is an abbreviated example. Actual payload fields depend on the agent.</a:t>
            </a:r>
          </a:p>
        </p:txBody>
      </p:sp>
    </p:spTree>
    <p:extLst>
      <p:ext uri="{BB962C8B-B14F-4D97-AF65-F5344CB8AC3E}">
        <p14:creationId xmlns:p14="http://schemas.microsoft.com/office/powerpoint/2010/main" val="992125857"/>
      </p:ext>
    </p:extLst>
  </p:cSld>
</p:sld>
</file>

<file path=ppt/slides/slide2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2" name="BACKUP  /  LLM SAFETY">
            <a:extLst xmlns:a="http://schemas.openxmlformats.org/drawingml/2006/main">
              <a:ext uri="{FF2B5EF4-FFF2-40B4-BE49-F238E27FC236}">
                <a16:creationId xmlns:a16="http://schemas.microsoft.com/office/drawing/2014/main" id="{A371C468-DF5F-47DF-B03E-D17DBC79DC5E}"/>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BACKUP  /  LLM SAFETY</a:t>
            </a:r>
          </a:p>
        </p:txBody>
      </p:sp>
      <p:sp>
        <p:nvSpPr>
          <p:cNvPr id="2" name="Hallucination and grounded answers">
            <a:extLst xmlns:a="http://schemas.openxmlformats.org/drawingml/2006/main">
              <a:ext uri="{FF2B5EF4-FFF2-40B4-BE49-F238E27FC236}">
                <a16:creationId xmlns:a16="http://schemas.microsoft.com/office/drawing/2014/main" id="{F703E1C4-97A9-4971-B3BF-187FBC745B80}"/>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Hallucination and grounded answers</a:t>
            </a:r>
          </a:p>
        </p:txBody>
      </p:sp>
      <p:sp>
        <p:nvSpPr>
          <p:cNvPr id="3" name="26">
            <a:extLst xmlns:a="http://schemas.openxmlformats.org/drawingml/2006/main">
              <a:ext uri="{FF2B5EF4-FFF2-40B4-BE49-F238E27FC236}">
                <a16:creationId xmlns:a16="http://schemas.microsoft.com/office/drawing/2014/main" id="{1DE905D6-47CF-4BB1-855B-6743A2BB392E}"/>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26</a:t>
            </a:r>
          </a:p>
        </p:txBody>
      </p:sp>
      <p:sp>
        <p:nvSpPr>
          <p:cNvPr id="4" name="Hallucination: a confident answer&#10;that invents o">
            <a:extLst xmlns:a="http://schemas.openxmlformats.org/drawingml/2006/main">
              <a:ext uri="{FF2B5EF4-FFF2-40B4-BE49-F238E27FC236}">
                <a16:creationId xmlns:a16="http://schemas.microsoft.com/office/drawing/2014/main" id="{4B067292-E722-4823-869B-DC3F814466A1}"/>
              </a:ext>
            </a:extLst>
          </p:cNvPr>
          <p:cNvSpPr>
            <a:spLocks xmlns:a="http://schemas.openxmlformats.org/drawingml/2006/main" noGrp="1"/>
          </p:cNvSpPr>
          <p:nvPr/>
        </p:nvSpPr>
        <p:spPr>
          <a:xfrm xmlns:a="http://schemas.openxmlformats.org/drawingml/2006/main">
            <a:off x="619125" y="2200275"/>
            <a:ext cx="10763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93E35"/>
                </a:solidFill>
                <a:latin typeface="Helvetica Neue"/>
                <a:ea typeface="Helvetica Neue"/>
                <a:cs typeface="Helvetica Neue"/>
              </a:defRPr>
            </a:pPr>
            <a:r>
              <a:rPr sz="3300" b="1">
                <a:solidFill>
                  <a:srgbClr val="193E35"/>
                </a:solidFill>
                <a:latin typeface="Helvetica Neue"/>
                <a:ea typeface="Helvetica Neue"/>
                <a:cs typeface="Helvetica Neue"/>
              </a:rPr>
              <a:t>Hallucination: a confident answer</a:t>
            </a:r>
          </a:p>
          <a:p xmlns:a="http://schemas.openxmlformats.org/drawingml/2006/main">
            <a:pPr>
              <a:defRPr sz="3300" b="1">
                <a:solidFill>
                  <a:srgbClr val="193E35"/>
                </a:solidFill>
                <a:latin typeface="Helvetica Neue"/>
                <a:ea typeface="Helvetica Neue"/>
                <a:cs typeface="Helvetica Neue"/>
              </a:defRPr>
            </a:pPr>
            <a:r>
              <a:rPr sz="3300" b="1">
                <a:solidFill>
                  <a:srgbClr val="193E35"/>
                </a:solidFill>
                <a:latin typeface="Helvetica Neue"/>
                <a:ea typeface="Helvetica Neue"/>
                <a:cs typeface="Helvetica Neue"/>
              </a:rPr>
              <a:t>that invents or misstates facts.</a:t>
            </a:r>
          </a:p>
        </p:txBody>
      </p:sp>
      <p:sp>
        <p:nvSpPr>
          <p:cNvPr id="5" name="01">
            <a:extLst xmlns:a="http://schemas.openxmlformats.org/drawingml/2006/main">
              <a:ext uri="{FF2B5EF4-FFF2-40B4-BE49-F238E27FC236}">
                <a16:creationId xmlns:a16="http://schemas.microsoft.com/office/drawing/2014/main" id="{55FA0990-0C65-41C8-A52A-A6BF29AB84A7}"/>
              </a:ext>
            </a:extLst>
          </p:cNvPr>
          <p:cNvSpPr>
            <a:spLocks xmlns:a="http://schemas.openxmlformats.org/drawingml/2006/main" noGrp="1"/>
          </p:cNvSpPr>
          <p:nvPr/>
        </p:nvSpPr>
        <p:spPr>
          <a:xfrm xmlns:a="http://schemas.openxmlformats.org/drawingml/2006/main">
            <a:off x="609600" y="385762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32694F"/>
                </a:solidFill>
                <a:latin typeface="Helvetica Neue"/>
                <a:ea typeface="Helvetica Neue"/>
                <a:cs typeface="Helvetica Neue"/>
              </a:defRPr>
            </a:pPr>
            <a:r>
              <a:rPr sz="2025" b="1">
                <a:solidFill>
                  <a:srgbClr val="32694F"/>
                </a:solidFill>
                <a:latin typeface="Helvetica Neue"/>
                <a:ea typeface="Helvetica Neue"/>
                <a:cs typeface="Helvetica Neue"/>
              </a:rPr>
              <a:t>01</a:t>
            </a:r>
          </a:p>
        </p:txBody>
      </p:sp>
      <p:sp>
        <p:nvSpPr>
          <p:cNvPr id="6" name="Retrieve existing records from the local catalog">
            <a:extLst xmlns:a="http://schemas.openxmlformats.org/drawingml/2006/main">
              <a:ext uri="{FF2B5EF4-FFF2-40B4-BE49-F238E27FC236}">
                <a16:creationId xmlns:a16="http://schemas.microsoft.com/office/drawing/2014/main" id="{09548950-F5EB-48E2-9246-DA186A2213AB}"/>
              </a:ext>
            </a:extLst>
          </p:cNvPr>
          <p:cNvSpPr>
            <a:spLocks xmlns:a="http://schemas.openxmlformats.org/drawingml/2006/main" noGrp="1"/>
          </p:cNvSpPr>
          <p:nvPr/>
        </p:nvSpPr>
        <p:spPr>
          <a:xfrm xmlns:a="http://schemas.openxmlformats.org/drawingml/2006/main">
            <a:off x="1409700" y="3857625"/>
            <a:ext cx="10172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Retrieve existing records from the local catalogue.</a:t>
            </a:r>
          </a:p>
        </p:txBody>
      </p:sp>
      <p:sp>
        <p:nvSpPr>
          <p:cNvPr id="7" name="02">
            <a:extLst xmlns:a="http://schemas.openxmlformats.org/drawingml/2006/main">
              <a:ext uri="{FF2B5EF4-FFF2-40B4-BE49-F238E27FC236}">
                <a16:creationId xmlns:a16="http://schemas.microsoft.com/office/drawing/2014/main" id="{838DACBC-973A-48D4-ACB6-E3B09981CAAB}"/>
              </a:ext>
            </a:extLst>
          </p:cNvPr>
          <p:cNvSpPr>
            <a:spLocks xmlns:a="http://schemas.openxmlformats.org/drawingml/2006/main" noGrp="1"/>
          </p:cNvSpPr>
          <p:nvPr/>
        </p:nvSpPr>
        <p:spPr>
          <a:xfrm xmlns:a="http://schemas.openxmlformats.org/drawingml/2006/main">
            <a:off x="609600" y="44862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32694F"/>
                </a:solidFill>
                <a:latin typeface="Helvetica Neue"/>
                <a:ea typeface="Helvetica Neue"/>
                <a:cs typeface="Helvetica Neue"/>
              </a:defRPr>
            </a:pPr>
            <a:r>
              <a:rPr sz="2025" b="1">
                <a:solidFill>
                  <a:srgbClr val="32694F"/>
                </a:solidFill>
                <a:latin typeface="Helvetica Neue"/>
                <a:ea typeface="Helvetica Neue"/>
                <a:cs typeface="Helvetica Neue"/>
              </a:rPr>
              <a:t>02</a:t>
            </a:r>
          </a:p>
        </p:txBody>
      </p:sp>
      <p:sp>
        <p:nvSpPr>
          <p:cNvPr id="8" name="Limit model output to allowed skills, course IDs">
            <a:extLst xmlns:a="http://schemas.openxmlformats.org/drawingml/2006/main">
              <a:ext uri="{FF2B5EF4-FFF2-40B4-BE49-F238E27FC236}">
                <a16:creationId xmlns:a16="http://schemas.microsoft.com/office/drawing/2014/main" id="{C9A3799F-B5DE-43D1-B08D-30494AA0FF38}"/>
              </a:ext>
            </a:extLst>
          </p:cNvPr>
          <p:cNvSpPr>
            <a:spLocks xmlns:a="http://schemas.openxmlformats.org/drawingml/2006/main" noGrp="1"/>
          </p:cNvSpPr>
          <p:nvPr/>
        </p:nvSpPr>
        <p:spPr>
          <a:xfrm xmlns:a="http://schemas.openxmlformats.org/drawingml/2006/main">
            <a:off x="1409700" y="4486275"/>
            <a:ext cx="10172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Limit model output to allowed skills, course IDs and focus values.</a:t>
            </a:r>
          </a:p>
        </p:txBody>
      </p:sp>
      <p:sp>
        <p:nvSpPr>
          <p:cNvPr id="9" name="03">
            <a:extLst xmlns:a="http://schemas.openxmlformats.org/drawingml/2006/main">
              <a:ext uri="{FF2B5EF4-FFF2-40B4-BE49-F238E27FC236}">
                <a16:creationId xmlns:a16="http://schemas.microsoft.com/office/drawing/2014/main" id="{194087AD-A793-4EAB-8F18-EE599BF44090}"/>
              </a:ext>
            </a:extLst>
          </p:cNvPr>
          <p:cNvSpPr>
            <a:spLocks xmlns:a="http://schemas.openxmlformats.org/drawingml/2006/main" noGrp="1"/>
          </p:cNvSpPr>
          <p:nvPr/>
        </p:nvSpPr>
        <p:spPr>
          <a:xfrm xmlns:a="http://schemas.openxmlformats.org/drawingml/2006/main">
            <a:off x="609600" y="511492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32694F"/>
                </a:solidFill>
                <a:latin typeface="Helvetica Neue"/>
                <a:ea typeface="Helvetica Neue"/>
                <a:cs typeface="Helvetica Neue"/>
              </a:defRPr>
            </a:pPr>
            <a:r>
              <a:rPr sz="2025" b="1">
                <a:solidFill>
                  <a:srgbClr val="32694F"/>
                </a:solidFill>
                <a:latin typeface="Helvetica Neue"/>
                <a:ea typeface="Helvetica Neue"/>
                <a:cs typeface="Helvetica Neue"/>
              </a:rPr>
              <a:t>03</a:t>
            </a:r>
          </a:p>
        </p:txBody>
      </p:sp>
      <p:sp>
        <p:nvSpPr>
          <p:cNvPr id="10" name="Reject invalid output and construct the answer f">
            <a:extLst xmlns:a="http://schemas.openxmlformats.org/drawingml/2006/main">
              <a:ext uri="{FF2B5EF4-FFF2-40B4-BE49-F238E27FC236}">
                <a16:creationId xmlns:a16="http://schemas.microsoft.com/office/drawing/2014/main" id="{24240619-EB97-4C10-BCCA-F145EEC655AD}"/>
              </a:ext>
            </a:extLst>
          </p:cNvPr>
          <p:cNvSpPr>
            <a:spLocks xmlns:a="http://schemas.openxmlformats.org/drawingml/2006/main" noGrp="1"/>
          </p:cNvSpPr>
          <p:nvPr/>
        </p:nvSpPr>
        <p:spPr>
          <a:xfrm xmlns:a="http://schemas.openxmlformats.org/drawingml/2006/main">
            <a:off x="1409700" y="5114925"/>
            <a:ext cx="10172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93E35"/>
                </a:solidFill>
                <a:latin typeface="Helvetica Neue"/>
                <a:ea typeface="Helvetica Neue"/>
                <a:cs typeface="Helvetica Neue"/>
              </a:defRPr>
            </a:pPr>
            <a:r>
              <a:rPr sz="2025" b="0">
                <a:solidFill>
                  <a:srgbClr val="193E35"/>
                </a:solidFill>
                <a:latin typeface="Helvetica Neue"/>
                <a:ea typeface="Helvetica Neue"/>
                <a:cs typeface="Helvetica Neue"/>
              </a:rPr>
              <a:t>Reject invalid output and construct the answer from stored facts.</a:t>
            </a:r>
          </a:p>
        </p:txBody>
      </p:sp>
      <p:sp>
        <p:nvSpPr>
          <p:cNvPr id="11" name="Grounding limits invented facts. It cannot make ">
            <a:extLst xmlns:a="http://schemas.openxmlformats.org/drawingml/2006/main">
              <a:ext uri="{FF2B5EF4-FFF2-40B4-BE49-F238E27FC236}">
                <a16:creationId xmlns:a16="http://schemas.microsoft.com/office/drawing/2014/main" id="{52DDD350-02E4-4672-B593-E5841E8CB950}"/>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Grounding limits invented facts. It cannot make inaccurate or stale source data correct.</a:t>
            </a:r>
          </a:p>
        </p:txBody>
      </p:sp>
    </p:spTree>
    <p:extLst>
      <p:ext uri="{BB962C8B-B14F-4D97-AF65-F5344CB8AC3E}">
        <p14:creationId xmlns:p14="http://schemas.microsoft.com/office/powerpoint/2010/main" val="1273999652"/>
      </p:ext>
    </p:extLst>
  </p:cSld>
</p:sld>
</file>

<file path=ppt/slides/slide27.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1" name="BACKUP  /  SETUP">
            <a:extLst xmlns:a="http://schemas.openxmlformats.org/drawingml/2006/main">
              <a:ext uri="{FF2B5EF4-FFF2-40B4-BE49-F238E27FC236}">
                <a16:creationId xmlns:a16="http://schemas.microsoft.com/office/drawing/2014/main" id="{96D04EC2-2AF0-40A6-9AD4-760E7578B6BA}"/>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BACKUP  /  SETUP</a:t>
            </a:r>
          </a:p>
        </p:txBody>
      </p:sp>
      <p:sp>
        <p:nvSpPr>
          <p:cNvPr id="2" name="Running the project locally">
            <a:extLst xmlns:a="http://schemas.openxmlformats.org/drawingml/2006/main">
              <a:ext uri="{FF2B5EF4-FFF2-40B4-BE49-F238E27FC236}">
                <a16:creationId xmlns:a16="http://schemas.microsoft.com/office/drawing/2014/main" id="{271819A1-86D4-4A8A-92E3-A54696E7A9C8}"/>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Running the project locally</a:t>
            </a:r>
          </a:p>
        </p:txBody>
      </p:sp>
      <p:sp>
        <p:nvSpPr>
          <p:cNvPr id="3" name="27">
            <a:extLst xmlns:a="http://schemas.openxmlformats.org/drawingml/2006/main">
              <a:ext uri="{FF2B5EF4-FFF2-40B4-BE49-F238E27FC236}">
                <a16:creationId xmlns:a16="http://schemas.microsoft.com/office/drawing/2014/main" id="{52A4E5DC-FB2F-49C4-A61B-F2D20D5F42AD}"/>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27</a:t>
            </a:r>
          </a:p>
        </p:txBody>
      </p:sp>
      <p:sp>
        <p:nvSpPr>
          <p:cNvPr id="4" name="Existing local setup">
            <a:extLst xmlns:a="http://schemas.openxmlformats.org/drawingml/2006/main">
              <a:ext uri="{FF2B5EF4-FFF2-40B4-BE49-F238E27FC236}">
                <a16:creationId xmlns:a16="http://schemas.microsoft.com/office/drawing/2014/main" id="{71FF3789-09D3-410B-9719-6504EEDD7063}"/>
              </a:ext>
            </a:extLst>
          </p:cNvPr>
          <p:cNvSpPr>
            <a:spLocks xmlns:a="http://schemas.openxmlformats.org/drawingml/2006/main" noGrp="1"/>
          </p:cNvSpPr>
          <p:nvPr/>
        </p:nvSpPr>
        <p:spPr>
          <a:xfrm xmlns:a="http://schemas.openxmlformats.org/drawingml/2006/main">
            <a:off x="619125" y="2238375"/>
            <a:ext cx="4981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Existing local setup</a:t>
            </a:r>
          </a:p>
        </p:txBody>
      </p:sp>
      <p:sp>
        <p:nvSpPr>
          <p:cNvPr id="5" name="Open the full folder in VS Code.&#10;Run the launche">
            <a:extLst xmlns:a="http://schemas.openxmlformats.org/drawingml/2006/main">
              <a:ext uri="{FF2B5EF4-FFF2-40B4-BE49-F238E27FC236}">
                <a16:creationId xmlns:a16="http://schemas.microsoft.com/office/drawing/2014/main" id="{A9A30E86-A0BA-4410-AB5A-CD30F2728DF4}"/>
              </a:ext>
            </a:extLst>
          </p:cNvPr>
          <p:cNvSpPr>
            <a:spLocks xmlns:a="http://schemas.openxmlformats.org/drawingml/2006/main" noGrp="1"/>
          </p:cNvSpPr>
          <p:nvPr/>
        </p:nvSpPr>
        <p:spPr>
          <a:xfrm xmlns:a="http://schemas.openxmlformats.org/drawingml/2006/main">
            <a:off x="619125" y="2781300"/>
            <a:ext cx="49815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3E35"/>
                </a:solidFill>
                <a:latin typeface="Helvetica Neue"/>
                <a:ea typeface="Helvetica Neue"/>
                <a:cs typeface="Helvetica Neue"/>
              </a:defRPr>
            </a:pPr>
            <a:r>
              <a:rPr sz="2100" b="0">
                <a:solidFill>
                  <a:srgbClr val="193E35"/>
                </a:solidFill>
                <a:latin typeface="Helvetica Neue"/>
                <a:ea typeface="Helvetica Neue"/>
                <a:cs typeface="Helvetica Neue"/>
              </a:rPr>
              <a:t>Open the full folder in VS Code.</a:t>
            </a:r>
          </a:p>
          <a:p xmlns:a="http://schemas.openxmlformats.org/drawingml/2006/main">
            <a:pPr>
              <a:defRPr sz="2100" b="0">
                <a:solidFill>
                  <a:srgbClr val="193E35"/>
                </a:solidFill>
                <a:latin typeface="Helvetica Neue"/>
                <a:ea typeface="Helvetica Neue"/>
                <a:cs typeface="Helvetica Neue"/>
              </a:defRPr>
            </a:pPr>
            <a:r>
              <a:rPr sz="2100" b="0">
                <a:solidFill>
                  <a:srgbClr val="193E35"/>
                </a:solidFill>
                <a:latin typeface="Helvetica Neue"/>
                <a:ea typeface="Helvetica Neue"/>
                <a:cs typeface="Helvetica Neue"/>
              </a:rPr>
              <a:t>Run the launcher.</a:t>
            </a:r>
          </a:p>
          <a:p xmlns:a="http://schemas.openxmlformats.org/drawingml/2006/main">
            <a:pPr>
              <a:defRPr sz="2100" b="0">
                <a:solidFill>
                  <a:srgbClr val="193E35"/>
                </a:solidFill>
                <a:latin typeface="Helvetica Neue"/>
                <a:ea typeface="Helvetica Neue"/>
                <a:cs typeface="Helvetica Neue"/>
              </a:defRPr>
            </a:pPr>
            <a:r>
              <a:rPr sz="2100" b="0">
                <a:solidFill>
                  <a:srgbClr val="193E35"/>
                </a:solidFill>
                <a:latin typeface="Helvetica Neue"/>
                <a:ea typeface="Helvetica Neue"/>
                <a:cs typeface="Helvetica Neue"/>
              </a:rPr>
              <a:t>Keep its terminal open.</a:t>
            </a:r>
          </a:p>
        </p:txBody>
      </p:sp>
      <p:sp>
        <p:nvSpPr>
          <p:cNvPr id="6" name="python3 scripts/dev.py">
            <a:extLst xmlns:a="http://schemas.openxmlformats.org/drawingml/2006/main">
              <a:ext uri="{FF2B5EF4-FFF2-40B4-BE49-F238E27FC236}">
                <a16:creationId xmlns:a16="http://schemas.microsoft.com/office/drawing/2014/main" id="{D466B4CD-492A-44CA-A769-AB1660274919}"/>
              </a:ext>
            </a:extLst>
          </p:cNvPr>
          <p:cNvSpPr>
            <a:spLocks xmlns:a="http://schemas.openxmlformats.org/drawingml/2006/main" noGrp="1"/>
          </p:cNvSpPr>
          <p:nvPr/>
        </p:nvSpPr>
        <p:spPr>
          <a:xfrm xmlns:a="http://schemas.openxmlformats.org/drawingml/2006/main">
            <a:off x="619125" y="4410075"/>
            <a:ext cx="5429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1">
                <a:solidFill>
                  <a:srgbClr val="32694F"/>
                </a:solidFill>
                <a:latin typeface="Helvetica Neue"/>
                <a:ea typeface="Helvetica Neue"/>
                <a:cs typeface="Helvetica Neue"/>
              </a:defRPr>
            </a:pPr>
            <a:r>
              <a:rPr sz="2550" b="1">
                <a:solidFill>
                  <a:srgbClr val="32694F"/>
                </a:solidFill>
                <a:latin typeface="Helvetica Neue"/>
                <a:ea typeface="Helvetica Neue"/>
                <a:cs typeface="Helvetica Neue"/>
              </a:rPr>
              <a:t>python3 scripts/dev.py</a:t>
            </a:r>
          </a:p>
        </p:txBody>
      </p:sp>
      <p:sp>
        <p:nvSpPr>
          <p:cNvPr id="7" name="Fresh clone">
            <a:extLst xmlns:a="http://schemas.openxmlformats.org/drawingml/2006/main">
              <a:ext uri="{FF2B5EF4-FFF2-40B4-BE49-F238E27FC236}">
                <a16:creationId xmlns:a16="http://schemas.microsoft.com/office/drawing/2014/main" id="{2E8A5589-69E0-4B7A-9E47-E92BA16A9364}"/>
              </a:ext>
            </a:extLst>
          </p:cNvPr>
          <p:cNvSpPr>
            <a:spLocks xmlns:a="http://schemas.openxmlformats.org/drawingml/2006/main" noGrp="1"/>
          </p:cNvSpPr>
          <p:nvPr/>
        </p:nvSpPr>
        <p:spPr>
          <a:xfrm xmlns:a="http://schemas.openxmlformats.org/drawingml/2006/main">
            <a:off x="6572250" y="223837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32694F"/>
                </a:solidFill>
                <a:latin typeface="Helvetica Neue"/>
                <a:ea typeface="Helvetica Neue"/>
                <a:cs typeface="Helvetica Neue"/>
              </a:defRPr>
            </a:pPr>
            <a:r>
              <a:rPr sz="2175" b="1">
                <a:solidFill>
                  <a:srgbClr val="32694F"/>
                </a:solidFill>
                <a:latin typeface="Helvetica Neue"/>
                <a:ea typeface="Helvetica Neue"/>
                <a:cs typeface="Helvetica Neue"/>
              </a:rPr>
              <a:t>Fresh clone</a:t>
            </a:r>
          </a:p>
        </p:txBody>
      </p:sp>
      <p:sp>
        <p:nvSpPr>
          <p:cNvPr id="8" name="python3 scripts/setup.py&#10;python3 scripts/model.p">
            <a:extLst xmlns:a="http://schemas.openxmlformats.org/drawingml/2006/main">
              <a:ext uri="{FF2B5EF4-FFF2-40B4-BE49-F238E27FC236}">
                <a16:creationId xmlns:a16="http://schemas.microsoft.com/office/drawing/2014/main" id="{BE55908C-70C9-4E26-B8E7-B4F341FD8247}"/>
              </a:ext>
            </a:extLst>
          </p:cNvPr>
          <p:cNvSpPr>
            <a:spLocks xmlns:a="http://schemas.openxmlformats.org/drawingml/2006/main" noGrp="1"/>
          </p:cNvSpPr>
          <p:nvPr/>
        </p:nvSpPr>
        <p:spPr>
          <a:xfrm xmlns:a="http://schemas.openxmlformats.org/drawingml/2006/main">
            <a:off x="6572250" y="27813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python3 scripts/setup.py</a:t>
            </a:r>
          </a:p>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python3 scripts/model.py --pull</a:t>
            </a:r>
          </a:p>
          <a:p xmlns:a="http://schemas.openxmlformats.org/drawingml/2006/main">
            <a:pPr>
              <a:defRPr sz="1950" b="0">
                <a:solidFill>
                  <a:srgbClr val="193E35"/>
                </a:solidFill>
                <a:latin typeface="Helvetica Neue"/>
                <a:ea typeface="Helvetica Neue"/>
                <a:cs typeface="Helvetica Neue"/>
              </a:defRPr>
            </a:pPr>
            <a:r>
              <a:rPr sz="1950" b="0">
                <a:solidFill>
                  <a:srgbClr val="193E35"/>
                </a:solidFill>
                <a:latin typeface="Helvetica Neue"/>
                <a:ea typeface="Helvetica Neue"/>
                <a:cs typeface="Helvetica Neue"/>
              </a:rPr>
              <a:t>python3 scripts/dev.py</a:t>
            </a:r>
          </a:p>
        </p:txBody>
      </p:sp>
      <p:sp>
        <p:nvSpPr>
          <p:cNvPr id="9" name="http://127.0.0.1:5173">
            <a:extLst xmlns:a="http://schemas.openxmlformats.org/drawingml/2006/main">
              <a:ext uri="{FF2B5EF4-FFF2-40B4-BE49-F238E27FC236}">
                <a16:creationId xmlns:a16="http://schemas.microsoft.com/office/drawing/2014/main" id="{F9608499-C84A-4341-A444-CFF971471A7F}"/>
              </a:ext>
            </a:extLst>
          </p:cNvPr>
          <p:cNvSpPr>
            <a:spLocks xmlns:a="http://schemas.openxmlformats.org/drawingml/2006/main" noGrp="1"/>
          </p:cNvSpPr>
          <p:nvPr/>
        </p:nvSpPr>
        <p:spPr>
          <a:xfrm xmlns:a="http://schemas.openxmlformats.org/drawingml/2006/main">
            <a:off x="619125" y="5314950"/>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193E35"/>
                </a:solidFill>
                <a:latin typeface="Helvetica Neue"/>
                <a:ea typeface="Helvetica Neue"/>
                <a:cs typeface="Helvetica Neue"/>
              </a:defRPr>
            </a:pPr>
            <a:r>
              <a:rPr sz="2175" b="1">
                <a:solidFill>
                  <a:srgbClr val="193E35"/>
                </a:solidFill>
                <a:latin typeface="Helvetica Neue"/>
                <a:ea typeface="Helvetica Neue"/>
                <a:cs typeface="Helvetica Neue"/>
              </a:rPr>
              <a:t>http://127.0.0.1:5173</a:t>
            </a:r>
          </a:p>
        </p:txBody>
      </p:sp>
      <p:sp>
        <p:nvSpPr>
          <p:cNvPr id="10" name="Ctrl+C stops the launcher. The configured model ">
            <a:extLst xmlns:a="http://schemas.openxmlformats.org/drawingml/2006/main">
              <a:ext uri="{FF2B5EF4-FFF2-40B4-BE49-F238E27FC236}">
                <a16:creationId xmlns:a16="http://schemas.microsoft.com/office/drawing/2014/main" id="{A83F14B3-73FB-42CD-83A6-4B6C74DAAC0D}"/>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Ctrl+C stops the launcher. The configured model must be available for a successful LLM demonstration.</a:t>
            </a:r>
          </a:p>
        </p:txBody>
      </p:sp>
    </p:spTree>
    <p:extLst>
      <p:ext uri="{BB962C8B-B14F-4D97-AF65-F5344CB8AC3E}">
        <p14:creationId xmlns:p14="http://schemas.microsoft.com/office/powerpoint/2010/main" val="1511698516"/>
      </p:ext>
    </p:extLst>
  </p:cSld>
</p:sld>
</file>

<file path=ppt/slides/slide28.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BACKUP  /  PRESENTER PREPARATION">
            <a:extLst xmlns:a="http://schemas.openxmlformats.org/drawingml/2006/main">
              <a:ext uri="{FF2B5EF4-FFF2-40B4-BE49-F238E27FC236}">
                <a16:creationId xmlns:a16="http://schemas.microsoft.com/office/drawing/2014/main" id="{9D619CA7-4146-4226-B6D4-4EDD2F058CFC}"/>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BACKUP  /  PRESENTER PREPARATION</a:t>
            </a:r>
          </a:p>
        </p:txBody>
      </p:sp>
      <p:sp>
        <p:nvSpPr>
          <p:cNvPr id="2" name="Pre-viva rehearsal checks">
            <a:extLst xmlns:a="http://schemas.openxmlformats.org/drawingml/2006/main">
              <a:ext uri="{FF2B5EF4-FFF2-40B4-BE49-F238E27FC236}">
                <a16:creationId xmlns:a16="http://schemas.microsoft.com/office/drawing/2014/main" id="{CFDA2A68-E9E6-4467-97A9-B42FBDD8EB86}"/>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Pre-viva rehearsal checks</a:t>
            </a:r>
          </a:p>
        </p:txBody>
      </p:sp>
      <p:sp>
        <p:nvSpPr>
          <p:cNvPr id="3" name="28">
            <a:extLst xmlns:a="http://schemas.openxmlformats.org/drawingml/2006/main">
              <a:ext uri="{FF2B5EF4-FFF2-40B4-BE49-F238E27FC236}">
                <a16:creationId xmlns:a16="http://schemas.microsoft.com/office/drawing/2014/main" id="{C7453FCC-5340-46EE-B833-16C63C5573C3}"/>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28</a:t>
            </a:r>
          </a:p>
        </p:txBody>
      </p:sp>
      <p:graphicFrame>
        <p:nvGraphicFramePr>
          <p:cNvPr id="9" name=""/>
          <p:cNvGraphicFramePr/>
          <p:nvPr/>
        </p:nvGraphicFramePr>
        <p:xfrm>
          <a:off xmlns:a="http://schemas.openxmlformats.org/drawingml/2006/main" x="609600" y="2095500"/>
          <a:ext xmlns:a="http://schemas.openxmlformats.org/drawingml/2006/main" cx="10972800" cy="3562350"/>
        </p:xfrm>
        <a:graphic xmlns:a="http://schemas.openxmlformats.org/drawingml/2006/main">
          <a:graphicData uri="http://schemas.openxmlformats.org/drawingml/2006/table">
            <a:tbl>
              <a:tblPr/>
              <a:tblGrid>
                <a:gridCol w="4267200"/>
                <a:gridCol w="6705600"/>
              </a:tblGrid>
              <a:tr h="593725">
                <a:tc>
                  <a:txBody>
                    <a:bodyPr lIns="142875" tIns="114300" rIns="142875" bIns="114300">
                      <a:noAutofit/>
                    </a:bodyPr>
                    <a:lstStyle/>
                    <a:p>
                      <a:r>
                        <a:rPr sz="1725" b="1">
                          <a:solidFill>
                            <a:srgbClr val="F5F3EC"/>
                          </a:solidFill>
                          <a:latin typeface="Helvetica Neue"/>
                          <a:ea typeface="Helvetica Neue"/>
                          <a:cs typeface="Helvetica Neue"/>
                        </a:rPr>
                        <a:t>Check</a:t>
                      </a:r>
                    </a:p>
                  </a:txBody>
                  <a:tcPr marL="91440" marR="91440" marT="45720" marB="45720" anchor="ctr">
                    <a:solidFill>
                      <a:srgbClr val="193E35"/>
                    </a:solidFill>
                  </a:tcPr>
                </a:tc>
                <a:tc>
                  <a:txBody>
                    <a:bodyPr lIns="142875" tIns="114300" rIns="142875" bIns="114300">
                      <a:noAutofit/>
                    </a:bodyPr>
                    <a:lstStyle/>
                    <a:p>
                      <a:r>
                        <a:rPr sz="1725" b="1">
                          <a:solidFill>
                            <a:srgbClr val="F5F3EC"/>
                          </a:solidFill>
                          <a:latin typeface="Helvetica Neue"/>
                          <a:ea typeface="Helvetica Neue"/>
                          <a:cs typeface="Helvetica Neue"/>
                        </a:rPr>
                        <a:t>Current evidence / action</a:t>
                      </a:r>
                    </a:p>
                  </a:txBody>
                  <a:tcPr marL="91440" marR="91440" marT="45720" marB="45720" anchor="ctr">
                    <a:solidFill>
                      <a:srgbClr val="193E35"/>
                    </a:solidFill>
                  </a:tcPr>
                </a:tc>
              </a:tr>
              <a:tr h="593725">
                <a:tc>
                  <a:txBody>
                    <a:bodyPr lIns="142875" tIns="114300" rIns="142875" bIns="114300">
                      <a:noAutofit/>
                    </a:bodyPr>
                    <a:lstStyle/>
                    <a:p>
                      <a:r>
                        <a:rPr sz="1800" b="0">
                          <a:solidFill>
                            <a:srgbClr val="193E35"/>
                          </a:solidFill>
                          <a:latin typeface="Helvetica Neue"/>
                          <a:ea typeface="Helvetica Neue"/>
                          <a:cs typeface="Helvetica Neue"/>
                        </a:rPr>
                        <a:t>Python tests and IR evaluation</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Rerun passed on 21 September 2026</a:t>
                      </a:r>
                    </a:p>
                  </a:txBody>
                  <a:tcPr marL="91440" marR="91440" marT="45720" marB="45720" anchor="ctr">
                    <a:solidFill>
                      <a:srgbClr val="F5F3EC"/>
                    </a:solidFill>
                  </a:tcPr>
                </a:tc>
              </a:tr>
              <a:tr h="593725">
                <a:tc>
                  <a:txBody>
                    <a:bodyPr lIns="142875" tIns="114300" rIns="142875" bIns="114300">
                      <a:noAutofit/>
                    </a:bodyPr>
                    <a:lstStyle/>
                    <a:p>
                      <a:r>
                        <a:rPr sz="1800" b="0">
                          <a:solidFill>
                            <a:srgbClr val="193E35"/>
                          </a:solidFill>
                          <a:latin typeface="Helvetica Neue"/>
                          <a:ea typeface="Helvetica Neue"/>
                          <a:cs typeface="Helvetica Neue"/>
                        </a:rPr>
                        <a:t>Frontend production build</a:t>
                      </a:r>
                    </a:p>
                  </a:txBody>
                  <a:tcPr marL="91440" marR="91440" marT="45720" marB="45720" anchor="ctr">
                    <a:solidFill>
                      <a:srgbClr val="E9EDDF"/>
                    </a:solidFill>
                  </a:tcPr>
                </a:tc>
                <a:tc>
                  <a:txBody>
                    <a:bodyPr lIns="142875" tIns="114300" rIns="142875" bIns="114300">
                      <a:noAutofit/>
                    </a:bodyPr>
                    <a:lstStyle/>
                    <a:p>
                      <a:r>
                        <a:rPr sz="1800" b="0">
                          <a:solidFill>
                            <a:srgbClr val="193E35"/>
                          </a:solidFill>
                          <a:latin typeface="Helvetica Neue"/>
                          <a:ea typeface="Helvetica Neue"/>
                          <a:cs typeface="Helvetica Neue"/>
                        </a:rPr>
                        <a:t>TS2578 at main.tsx:5 needs correction</a:t>
                      </a:r>
                    </a:p>
                  </a:txBody>
                  <a:tcPr marL="91440" marR="91440" marT="45720" marB="45720" anchor="ctr">
                    <a:solidFill>
                      <a:srgbClr val="E9EDDF"/>
                    </a:solidFill>
                  </a:tcPr>
                </a:tc>
              </a:tr>
              <a:tr h="593725">
                <a:tc>
                  <a:txBody>
                    <a:bodyPr lIns="142875" tIns="114300" rIns="142875" bIns="114300">
                      <a:noAutofit/>
                    </a:bodyPr>
                    <a:lstStyle/>
                    <a:p>
                      <a:r>
                        <a:rPr sz="1800" b="0">
                          <a:solidFill>
                            <a:srgbClr val="193E35"/>
                          </a:solidFill>
                          <a:latin typeface="Helvetica Neue"/>
                          <a:ea typeface="Helvetica Neue"/>
                          <a:cs typeface="Helvetica Neue"/>
                        </a:rPr>
                        <a:t>Live local-model inference</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Verify llm_used: true before the viva</a:t>
                      </a:r>
                    </a:p>
                  </a:txBody>
                  <a:tcPr marL="91440" marR="91440" marT="45720" marB="45720" anchor="ctr">
                    <a:solidFill>
                      <a:srgbClr val="F5F3EC"/>
                    </a:solidFill>
                  </a:tcPr>
                </a:tc>
              </a:tr>
              <a:tr h="593725">
                <a:tc>
                  <a:txBody>
                    <a:bodyPr lIns="142875" tIns="114300" rIns="142875" bIns="114300">
                      <a:noAutofit/>
                    </a:bodyPr>
                    <a:lstStyle/>
                    <a:p>
                      <a:r>
                        <a:rPr sz="1800" b="0">
                          <a:solidFill>
                            <a:srgbClr val="193E35"/>
                          </a:solidFill>
                          <a:latin typeface="Helvetica Neue"/>
                          <a:ea typeface="Helvetica Neue"/>
                          <a:cs typeface="Helvetica Neue"/>
                        </a:rPr>
                        <a:t>Demo profile and sources</a:t>
                      </a:r>
                    </a:p>
                  </a:txBody>
                  <a:tcPr marL="91440" marR="91440" marT="45720" marB="45720" anchor="ctr">
                    <a:solidFill>
                      <a:srgbClr val="E9EDDF"/>
                    </a:solidFill>
                  </a:tcPr>
                </a:tc>
                <a:tc>
                  <a:txBody>
                    <a:bodyPr lIns="142875" tIns="114300" rIns="142875" bIns="114300">
                      <a:noAutofit/>
                    </a:bodyPr>
                    <a:lstStyle/>
                    <a:p>
                      <a:r>
                        <a:rPr sz="1800" b="0">
                          <a:solidFill>
                            <a:srgbClr val="193E35"/>
                          </a:solidFill>
                          <a:latin typeface="Helvetica Neue"/>
                          <a:ea typeface="Helvetica Neue"/>
                          <a:cs typeface="Helvetica Neue"/>
                        </a:rPr>
                        <a:t>Check consent, exact gaps and current outputs</a:t>
                      </a:r>
                    </a:p>
                  </a:txBody>
                  <a:tcPr marL="91440" marR="91440" marT="45720" marB="45720" anchor="ctr">
                    <a:solidFill>
                      <a:srgbClr val="E9EDDF"/>
                    </a:solidFill>
                  </a:tcPr>
                </a:tc>
              </a:tr>
              <a:tr h="593725">
                <a:tc>
                  <a:txBody>
                    <a:bodyPr lIns="142875" tIns="114300" rIns="142875" bIns="114300">
                      <a:noAutofit/>
                    </a:bodyPr>
                    <a:lstStyle/>
                    <a:p>
                      <a:r>
                        <a:rPr sz="1800" b="0">
                          <a:solidFill>
                            <a:srgbClr val="193E35"/>
                          </a:solidFill>
                          <a:latin typeface="Helvetica Neue"/>
                          <a:ea typeface="Helvetica Neue"/>
                          <a:cs typeface="Helvetica Neue"/>
                        </a:rPr>
                        <a:t>Individual contribution</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Prepare truthful code and commit evidence</a:t>
                      </a:r>
                    </a:p>
                  </a:txBody>
                  <a:tcPr marL="91440" marR="91440" marT="45720" marB="45720" anchor="ctr">
                    <a:solidFill>
                      <a:srgbClr val="F5F3EC"/>
                    </a:solidFill>
                  </a:tcPr>
                </a:tc>
              </a:tr>
            </a:tbl>
          </a:graphicData>
        </a:graphic>
      </p:graphicFrame>
      <p:sp>
        <p:nvSpPr>
          <p:cNvPr id="5" name="The historical live smoke test is documented on ">
            <a:extLst xmlns:a="http://schemas.openxmlformats.org/drawingml/2006/main">
              <a:ext uri="{FF2B5EF4-FFF2-40B4-BE49-F238E27FC236}">
                <a16:creationId xmlns:a16="http://schemas.microsoft.com/office/drawing/2014/main" id="{97DA77CF-FC8C-4939-9BB3-27748CC8A425}"/>
              </a:ext>
            </a:extLst>
          </p:cNvPr>
          <p:cNvSpPr>
            <a:spLocks xmlns:a="http://schemas.openxmlformats.org/drawingml/2006/main" noGrp="1"/>
          </p:cNvSpPr>
          <p:nvPr/>
        </p:nvSpPr>
        <p:spPr>
          <a:xfrm xmlns:a="http://schemas.openxmlformats.org/drawingml/2006/main">
            <a:off x="609600" y="60674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63736B"/>
                </a:solidFill>
                <a:latin typeface="Helvetica Neue"/>
                <a:ea typeface="Helvetica Neue"/>
                <a:cs typeface="Helvetica Neue"/>
              </a:defRPr>
            </a:pPr>
            <a:r>
              <a:rPr sz="1350" b="0">
                <a:solidFill>
                  <a:srgbClr val="63736B"/>
                </a:solidFill>
                <a:latin typeface="Helvetica Neue"/>
                <a:ea typeface="Helvetica Neue"/>
                <a:cs typeface="Helvetica Neue"/>
              </a:rPr>
              <a:t>The historical live smoke test is documented on 16 September. It was not repeated for this deck.</a:t>
            </a:r>
          </a:p>
        </p:txBody>
      </p:sp>
    </p:spTree>
    <p:extLst>
      <p:ext uri="{BB962C8B-B14F-4D97-AF65-F5344CB8AC3E}">
        <p14:creationId xmlns:p14="http://schemas.microsoft.com/office/powerpoint/2010/main" val="1735409900"/>
      </p:ext>
    </p:extLst>
  </p:cSld>
</p:sld>
</file>

<file path=ppt/slides/slide29.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5" name="BACKUP  /  DISCUSSION">
            <a:extLst xmlns:a="http://schemas.openxmlformats.org/drawingml/2006/main">
              <a:ext uri="{FF2B5EF4-FFF2-40B4-BE49-F238E27FC236}">
                <a16:creationId xmlns:a16="http://schemas.microsoft.com/office/drawing/2014/main" id="{911A00B2-11F2-4331-86E7-059E4DF787B0}"/>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BACKUP  /  DISCUSSION</a:t>
            </a:r>
          </a:p>
        </p:txBody>
      </p:sp>
      <p:sp>
        <p:nvSpPr>
          <p:cNvPr id="2" name="Likely viva questions">
            <a:extLst xmlns:a="http://schemas.openxmlformats.org/drawingml/2006/main">
              <a:ext uri="{FF2B5EF4-FFF2-40B4-BE49-F238E27FC236}">
                <a16:creationId xmlns:a16="http://schemas.microsoft.com/office/drawing/2014/main" id="{6F357967-3470-4E83-8918-82A8B52D97D1}"/>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Likely viva questions</a:t>
            </a:r>
          </a:p>
        </p:txBody>
      </p:sp>
      <p:sp>
        <p:nvSpPr>
          <p:cNvPr id="3" name="29">
            <a:extLst xmlns:a="http://schemas.openxmlformats.org/drawingml/2006/main">
              <a:ext uri="{FF2B5EF4-FFF2-40B4-BE49-F238E27FC236}">
                <a16:creationId xmlns:a16="http://schemas.microsoft.com/office/drawing/2014/main" id="{BA13FA0F-1C4B-4BAD-A399-0A78EF5BEC6F}"/>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29</a:t>
            </a:r>
          </a:p>
        </p:txBody>
      </p:sp>
      <p:graphicFrame>
        <p:nvGraphicFramePr>
          <p:cNvPr id="8" name=""/>
          <p:cNvGraphicFramePr/>
          <p:nvPr/>
        </p:nvGraphicFramePr>
        <p:xfrm>
          <a:off xmlns:a="http://schemas.openxmlformats.org/drawingml/2006/main" x="609600" y="2095500"/>
          <a:ext xmlns:a="http://schemas.openxmlformats.org/drawingml/2006/main" cx="10972800" cy="3686175"/>
        </p:xfrm>
        <a:graphic xmlns:a="http://schemas.openxmlformats.org/drawingml/2006/main">
          <a:graphicData uri="http://schemas.openxmlformats.org/drawingml/2006/table">
            <a:tbl>
              <a:tblPr/>
              <a:tblGrid>
                <a:gridCol w="3590925"/>
                <a:gridCol w="7381875"/>
              </a:tblGrid>
              <a:tr h="614363">
                <a:tc>
                  <a:txBody>
                    <a:bodyPr lIns="142875" tIns="114300" rIns="142875" bIns="114300">
                      <a:noAutofit/>
                    </a:bodyPr>
                    <a:lstStyle/>
                    <a:p>
                      <a:r>
                        <a:rPr sz="1725" b="1">
                          <a:solidFill>
                            <a:srgbClr val="F5F3EC"/>
                          </a:solidFill>
                          <a:latin typeface="Helvetica Neue"/>
                          <a:ea typeface="Helvetica Neue"/>
                          <a:cs typeface="Helvetica Neue"/>
                        </a:rPr>
                        <a:t>Question</a:t>
                      </a:r>
                    </a:p>
                  </a:txBody>
                  <a:tcPr marL="91440" marR="91440" marT="45720" marB="45720" anchor="ctr">
                    <a:solidFill>
                      <a:srgbClr val="193E35"/>
                    </a:solidFill>
                  </a:tcPr>
                </a:tc>
                <a:tc>
                  <a:txBody>
                    <a:bodyPr lIns="142875" tIns="114300" rIns="142875" bIns="114300">
                      <a:noAutofit/>
                    </a:bodyPr>
                    <a:lstStyle/>
                    <a:p>
                      <a:r>
                        <a:rPr sz="1725" b="1">
                          <a:solidFill>
                            <a:srgbClr val="F5F3EC"/>
                          </a:solidFill>
                          <a:latin typeface="Helvetica Neue"/>
                          <a:ea typeface="Helvetica Neue"/>
                          <a:cs typeface="Helvetica Neue"/>
                        </a:rPr>
                        <a:t>A clear starting answer</a:t>
                      </a:r>
                    </a:p>
                  </a:txBody>
                  <a:tcPr marL="91440" marR="91440" marT="45720" marB="45720" anchor="ctr">
                    <a:solidFill>
                      <a:srgbClr val="193E35"/>
                    </a:solidFill>
                  </a:tcPr>
                </a:tc>
              </a:tr>
              <a:tr h="614363">
                <a:tc>
                  <a:txBody>
                    <a:bodyPr lIns="142875" tIns="114300" rIns="142875" bIns="114300">
                      <a:noAutofit/>
                    </a:bodyPr>
                    <a:lstStyle/>
                    <a:p>
                      <a:r>
                        <a:rPr sz="1800" b="0">
                          <a:solidFill>
                            <a:srgbClr val="193E35"/>
                          </a:solidFill>
                          <a:latin typeface="Helvetica Neue"/>
                          <a:ea typeface="Helvetica Neue"/>
                          <a:cs typeface="Helvetica Neue"/>
                        </a:rPr>
                        <a:t>Why four agents?</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Separate objectives, inputs and outputs make the workflow inspectable.</a:t>
                      </a:r>
                    </a:p>
                  </a:txBody>
                  <a:tcPr marL="91440" marR="91440" marT="45720" marB="45720" anchor="ctr">
                    <a:solidFill>
                      <a:srgbClr val="F5F3EC"/>
                    </a:solidFill>
                  </a:tcPr>
                </a:tc>
              </a:tr>
              <a:tr h="614363">
                <a:tc>
                  <a:txBody>
                    <a:bodyPr lIns="142875" tIns="114300" rIns="142875" bIns="114300">
                      <a:noAutofit/>
                    </a:bodyPr>
                    <a:lstStyle/>
                    <a:p>
                      <a:r>
                        <a:rPr sz="1800" b="0">
                          <a:solidFill>
                            <a:srgbClr val="193E35"/>
                          </a:solidFill>
                          <a:latin typeface="Helvetica Neue"/>
                          <a:ea typeface="Helvetica Neue"/>
                          <a:cs typeface="Helvetica Neue"/>
                        </a:rPr>
                        <a:t>Are all four LLM agents?</a:t>
                      </a:r>
                    </a:p>
                  </a:txBody>
                  <a:tcPr marL="91440" marR="91440" marT="45720" marB="45720" anchor="ctr">
                    <a:solidFill>
                      <a:srgbClr val="E9EDDF"/>
                    </a:solidFill>
                  </a:tcPr>
                </a:tc>
                <a:tc>
                  <a:txBody>
                    <a:bodyPr lIns="142875" tIns="114300" rIns="142875" bIns="114300">
                      <a:noAutofit/>
                    </a:bodyPr>
                    <a:lstStyle/>
                    <a:p>
                      <a:r>
                        <a:rPr sz="1800" b="0">
                          <a:solidFill>
                            <a:srgbClr val="193E35"/>
                          </a:solidFill>
                          <a:latin typeface="Helvetica Neue"/>
                          <a:ea typeface="Helvetica Neue"/>
                          <a:cs typeface="Helvetica Neue"/>
                        </a:rPr>
                        <a:t>The services combine rules, NLP, IR and constrained LLM choices.</a:t>
                      </a:r>
                    </a:p>
                  </a:txBody>
                  <a:tcPr marL="91440" marR="91440" marT="45720" marB="45720" anchor="ctr">
                    <a:solidFill>
                      <a:srgbClr val="E9EDDF"/>
                    </a:solidFill>
                  </a:tcPr>
                </a:tc>
              </a:tr>
              <a:tr h="614363">
                <a:tc>
                  <a:txBody>
                    <a:bodyPr lIns="142875" tIns="114300" rIns="142875" bIns="114300">
                      <a:noAutofit/>
                    </a:bodyPr>
                    <a:lstStyle/>
                    <a:p>
                      <a:r>
                        <a:rPr sz="1800" b="0">
                          <a:solidFill>
                            <a:srgbClr val="193E35"/>
                          </a:solidFill>
                          <a:latin typeface="Helvetica Neue"/>
                          <a:ea typeface="Helvetica Neue"/>
                          <a:cs typeface="Helvetica Neue"/>
                        </a:rPr>
                        <a:t>Why use RAG?</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Retrieved records ground course choices and the displayed facts.</a:t>
                      </a:r>
                    </a:p>
                  </a:txBody>
                  <a:tcPr marL="91440" marR="91440" marT="45720" marB="45720" anchor="ctr">
                    <a:solidFill>
                      <a:srgbClr val="F5F3EC"/>
                    </a:solidFill>
                  </a:tcPr>
                </a:tc>
              </a:tr>
              <a:tr h="614363">
                <a:tc>
                  <a:txBody>
                    <a:bodyPr lIns="142875" tIns="114300" rIns="142875" bIns="114300">
                      <a:noAutofit/>
                    </a:bodyPr>
                    <a:lstStyle/>
                    <a:p>
                      <a:r>
                        <a:rPr sz="1800" b="0">
                          <a:solidFill>
                            <a:srgbClr val="193E35"/>
                          </a:solidFill>
                          <a:latin typeface="Helvetica Neue"/>
                          <a:ea typeface="Helvetica Neue"/>
                          <a:cs typeface="Helvetica Neue"/>
                        </a:rPr>
                        <a:t>Is the system fully autonomous?</a:t>
                      </a:r>
                    </a:p>
                  </a:txBody>
                  <a:tcPr marL="91440" marR="91440" marT="45720" marB="45720" anchor="ctr">
                    <a:solidFill>
                      <a:srgbClr val="E9EDDF"/>
                    </a:solidFill>
                  </a:tcPr>
                </a:tc>
                <a:tc>
                  <a:txBody>
                    <a:bodyPr lIns="142875" tIns="114300" rIns="142875" bIns="114300">
                      <a:noAutofit/>
                    </a:bodyPr>
                    <a:lstStyle/>
                    <a:p>
                      <a:r>
                        <a:rPr sz="1800" b="0">
                          <a:solidFill>
                            <a:srgbClr val="193E35"/>
                          </a:solidFill>
                          <a:latin typeface="Helvetica Neue"/>
                          <a:ea typeface="Helvetica Neue"/>
                          <a:cs typeface="Helvetica Neue"/>
                        </a:rPr>
                        <a:t>It runs a bounded pipeline with optional scheduled checks.</a:t>
                      </a:r>
                    </a:p>
                  </a:txBody>
                  <a:tcPr marL="91440" marR="91440" marT="45720" marB="45720" anchor="ctr">
                    <a:solidFill>
                      <a:srgbClr val="E9EDDF"/>
                    </a:solidFill>
                  </a:tcPr>
                </a:tc>
              </a:tr>
              <a:tr h="614363">
                <a:tc>
                  <a:txBody>
                    <a:bodyPr lIns="142875" tIns="114300" rIns="142875" bIns="114300">
                      <a:noAutofit/>
                    </a:bodyPr>
                    <a:lstStyle/>
                    <a:p>
                      <a:r>
                        <a:rPr sz="1800" b="0">
                          <a:solidFill>
                            <a:srgbClr val="193E35"/>
                          </a:solidFill>
                          <a:latin typeface="Helvetica Neue"/>
                          <a:ea typeface="Helvetica Neue"/>
                          <a:cs typeface="Helvetica Neue"/>
                        </a:rPr>
                        <a:t>What did you contribute?</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Explain your actual changes, decisions and tests with evidence.</a:t>
                      </a:r>
                    </a:p>
                  </a:txBody>
                  <a:tcPr marL="91440" marR="91440" marT="45720" marB="45720" anchor="ctr">
                    <a:solidFill>
                      <a:srgbClr val="F5F3EC"/>
                    </a:solidFill>
                  </a:tcPr>
                </a:tc>
              </a:tr>
            </a:tbl>
          </a:graphicData>
        </a:graphic>
      </p:graphicFrame>
    </p:spTree>
    <p:extLst>
      <p:ext uri="{BB962C8B-B14F-4D97-AF65-F5344CB8AC3E}">
        <p14:creationId xmlns:p14="http://schemas.microsoft.com/office/powerpoint/2010/main" val="1407742172"/>
      </p:ext>
    </p:extLst>
  </p:cSld>
</p:sld>
</file>

<file path=ppt/slides/slide30.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BACKUP  /  SOURCE MAP">
            <a:extLst xmlns:a="http://schemas.openxmlformats.org/drawingml/2006/main">
              <a:ext uri="{FF2B5EF4-FFF2-40B4-BE49-F238E27FC236}">
                <a16:creationId xmlns:a16="http://schemas.microsoft.com/office/drawing/2014/main" id="{331109D2-EAF1-4CEA-899F-57D8128D5FC6}"/>
              </a:ext>
            </a:extLst>
          </p:cNvPr>
          <p:cNvSpPr>
            <a:spLocks xmlns:a="http://schemas.openxmlformats.org/drawingml/2006/main" noGrp="1"/>
          </p:cNvSpPr>
          <p:nvPr/>
        </p:nvSpPr>
        <p:spPr>
          <a:xfrm xmlns:a="http://schemas.openxmlformats.org/drawingml/2006/main">
            <a:off x="609600" y="333375"/>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1">
                <a:solidFill>
                  <a:srgbClr val="63736B"/>
                </a:solidFill>
                <a:latin typeface="Helvetica Neue"/>
                <a:ea typeface="Helvetica Neue"/>
                <a:cs typeface="Helvetica Neue"/>
              </a:defRPr>
            </a:pPr>
            <a:r>
              <a:rPr sz="1275" b="1">
                <a:solidFill>
                  <a:srgbClr val="63736B"/>
                </a:solidFill>
                <a:latin typeface="Helvetica Neue"/>
                <a:ea typeface="Helvetica Neue"/>
                <a:cs typeface="Helvetica Neue"/>
              </a:rPr>
              <a:t>BACKUP  /  SOURCE MAP</a:t>
            </a:r>
          </a:p>
        </p:txBody>
      </p:sp>
      <p:sp>
        <p:nvSpPr>
          <p:cNvPr id="2" name="Assignment coverage and references">
            <a:extLst xmlns:a="http://schemas.openxmlformats.org/drawingml/2006/main">
              <a:ext uri="{FF2B5EF4-FFF2-40B4-BE49-F238E27FC236}">
                <a16:creationId xmlns:a16="http://schemas.microsoft.com/office/drawing/2014/main" id="{3E31C7D7-F4C4-4DA8-9809-E88A44F527E3}"/>
              </a:ext>
            </a:extLst>
          </p:cNvPr>
          <p:cNvSpPr>
            <a:spLocks xmlns:a="http://schemas.openxmlformats.org/drawingml/2006/main" noGrp="1"/>
          </p:cNvSpPr>
          <p:nvPr/>
        </p:nvSpPr>
        <p:spPr>
          <a:xfrm xmlns:a="http://schemas.openxmlformats.org/drawingml/2006/main">
            <a:off x="609600" y="7810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1">
                <a:solidFill>
                  <a:srgbClr val="193E35"/>
                </a:solidFill>
                <a:latin typeface="Helvetica Neue"/>
                <a:ea typeface="Helvetica Neue"/>
                <a:cs typeface="Helvetica Neue"/>
              </a:defRPr>
            </a:pPr>
            <a:r>
              <a:rPr sz="3450" b="1">
                <a:solidFill>
                  <a:srgbClr val="193E35"/>
                </a:solidFill>
                <a:latin typeface="Helvetica Neue"/>
                <a:ea typeface="Helvetica Neue"/>
                <a:cs typeface="Helvetica Neue"/>
              </a:rPr>
              <a:t>Assignment coverage and references</a:t>
            </a:r>
          </a:p>
        </p:txBody>
      </p:sp>
      <p:sp>
        <p:nvSpPr>
          <p:cNvPr id="3" name="30">
            <a:extLst xmlns:a="http://schemas.openxmlformats.org/drawingml/2006/main">
              <a:ext uri="{FF2B5EF4-FFF2-40B4-BE49-F238E27FC236}">
                <a16:creationId xmlns:a16="http://schemas.microsoft.com/office/drawing/2014/main" id="{E1E3AD3A-44AC-4218-9FB4-4310A076B3AA}"/>
              </a:ext>
            </a:extLst>
          </p:cNvPr>
          <p:cNvSpPr>
            <a:spLocks xmlns:a="http://schemas.openxmlformats.org/drawingml/2006/main" noGrp="1"/>
          </p:cNvSpPr>
          <p:nvPr/>
        </p:nvSpPr>
        <p:spPr>
          <a:xfrm xmlns:a="http://schemas.openxmlformats.org/drawingml/2006/main">
            <a:off x="11049000" y="63436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75" b="0">
                <a:solidFill>
                  <a:srgbClr val="63736B"/>
                </a:solidFill>
                <a:latin typeface="Helvetica Neue"/>
                <a:ea typeface="Helvetica Neue"/>
                <a:cs typeface="Helvetica Neue"/>
              </a:defRPr>
            </a:pPr>
            <a:r>
              <a:rPr sz="1275" b="0">
                <a:solidFill>
                  <a:srgbClr val="63736B"/>
                </a:solidFill>
                <a:latin typeface="Helvetica Neue"/>
                <a:ea typeface="Helvetica Neue"/>
                <a:cs typeface="Helvetica Neue"/>
              </a:rPr>
              <a:t>30</a:t>
            </a:r>
          </a:p>
        </p:txBody>
      </p:sp>
      <p:graphicFrame>
        <p:nvGraphicFramePr>
          <p:cNvPr id="9" name=""/>
          <p:cNvGraphicFramePr/>
          <p:nvPr/>
        </p:nvGraphicFramePr>
        <p:xfrm>
          <a:off xmlns:a="http://schemas.openxmlformats.org/drawingml/2006/main" x="609600" y="2095500"/>
          <a:ext xmlns:a="http://schemas.openxmlformats.org/drawingml/2006/main" cx="10972800" cy="3352800"/>
        </p:xfrm>
        <a:graphic xmlns:a="http://schemas.openxmlformats.org/drawingml/2006/main">
          <a:graphicData uri="http://schemas.openxmlformats.org/drawingml/2006/table">
            <a:tbl>
              <a:tblPr/>
              <a:tblGrid>
                <a:gridCol w="3895725"/>
                <a:gridCol w="7077075"/>
              </a:tblGrid>
              <a:tr h="558800">
                <a:tc>
                  <a:txBody>
                    <a:bodyPr lIns="142875" tIns="114300" rIns="142875" bIns="114300">
                      <a:noAutofit/>
                    </a:bodyPr>
                    <a:lstStyle/>
                    <a:p>
                      <a:r>
                        <a:rPr sz="1725" b="1">
                          <a:solidFill>
                            <a:srgbClr val="F5F3EC"/>
                          </a:solidFill>
                          <a:latin typeface="Helvetica Neue"/>
                          <a:ea typeface="Helvetica Neue"/>
                          <a:cs typeface="Helvetica Neue"/>
                        </a:rPr>
                        <a:t>Requirement</a:t>
                      </a:r>
                    </a:p>
                  </a:txBody>
                  <a:tcPr marL="91440" marR="91440" marT="45720" marB="45720" anchor="ctr">
                    <a:solidFill>
                      <a:srgbClr val="193E35"/>
                    </a:solidFill>
                  </a:tcPr>
                </a:tc>
                <a:tc>
                  <a:txBody>
                    <a:bodyPr lIns="142875" tIns="114300" rIns="142875" bIns="114300">
                      <a:noAutofit/>
                    </a:bodyPr>
                    <a:lstStyle/>
                    <a:p>
                      <a:r>
                        <a:rPr sz="1725" b="1">
                          <a:solidFill>
                            <a:srgbClr val="F5F3EC"/>
                          </a:solidFill>
                          <a:latin typeface="Helvetica Neue"/>
                          <a:ea typeface="Helvetica Neue"/>
                          <a:cs typeface="Helvetica Neue"/>
                        </a:rPr>
                        <a:t>Where to demonstrate it</a:t>
                      </a:r>
                    </a:p>
                  </a:txBody>
                  <a:tcPr marL="91440" marR="91440" marT="45720" marB="45720" anchor="ctr">
                    <a:solidFill>
                      <a:srgbClr val="193E35"/>
                    </a:solidFill>
                  </a:tcPr>
                </a:tc>
              </a:tr>
              <a:tr h="558800">
                <a:tc>
                  <a:txBody>
                    <a:bodyPr lIns="142875" tIns="114300" rIns="142875" bIns="114300">
                      <a:noAutofit/>
                    </a:bodyPr>
                    <a:lstStyle/>
                    <a:p>
                      <a:r>
                        <a:rPr sz="1800" b="0">
                          <a:solidFill>
                            <a:srgbClr val="193E35"/>
                          </a:solidFill>
                          <a:latin typeface="Helvetica Neue"/>
                          <a:ea typeface="Helvetica Neue"/>
                          <a:cs typeface="Helvetica Neue"/>
                        </a:rPr>
                        <a:t>LLM and NLP</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Profile planning, Ask Scout, taxonomy and trend extraction</a:t>
                      </a:r>
                    </a:p>
                  </a:txBody>
                  <a:tcPr marL="91440" marR="91440" marT="45720" marB="45720" anchor="ctr">
                    <a:solidFill>
                      <a:srgbClr val="F5F3EC"/>
                    </a:solidFill>
                  </a:tcPr>
                </a:tc>
              </a:tr>
              <a:tr h="558800">
                <a:tc>
                  <a:txBody>
                    <a:bodyPr lIns="142875" tIns="114300" rIns="142875" bIns="114300">
                      <a:noAutofit/>
                    </a:bodyPr>
                    <a:lstStyle/>
                    <a:p>
                      <a:r>
                        <a:rPr sz="1800" b="0">
                          <a:solidFill>
                            <a:srgbClr val="193E35"/>
                          </a:solidFill>
                          <a:latin typeface="Helvetica Neue"/>
                          <a:ea typeface="Helvetica Neue"/>
                          <a:cs typeface="Helvetica Neue"/>
                        </a:rPr>
                        <a:t>Information retrieval</a:t>
                      </a:r>
                    </a:p>
                  </a:txBody>
                  <a:tcPr marL="91440" marR="91440" marT="45720" marB="45720" anchor="ctr">
                    <a:solidFill>
                      <a:srgbClr val="E9EDDF"/>
                    </a:solidFill>
                  </a:tcPr>
                </a:tc>
                <a:tc>
                  <a:txBody>
                    <a:bodyPr lIns="142875" tIns="114300" rIns="142875" bIns="114300">
                      <a:noAutofit/>
                    </a:bodyPr>
                    <a:lstStyle/>
                    <a:p>
                      <a:r>
                        <a:rPr sz="1800" b="0">
                          <a:solidFill>
                            <a:srgbClr val="193E35"/>
                          </a:solidFill>
                          <a:latin typeface="Helvetica Neue"/>
                          <a:ea typeface="Helvetica Neue"/>
                          <a:cs typeface="Helvetica Neue"/>
                        </a:rPr>
                        <a:t>HybridIndex and labelled retrieval evaluation</a:t>
                      </a:r>
                    </a:p>
                  </a:txBody>
                  <a:tcPr marL="91440" marR="91440" marT="45720" marB="45720" anchor="ctr">
                    <a:solidFill>
                      <a:srgbClr val="E9EDDF"/>
                    </a:solidFill>
                  </a:tcPr>
                </a:tc>
              </a:tr>
              <a:tr h="558800">
                <a:tc>
                  <a:txBody>
                    <a:bodyPr lIns="142875" tIns="114300" rIns="142875" bIns="114300">
                      <a:noAutofit/>
                    </a:bodyPr>
                    <a:lstStyle/>
                    <a:p>
                      <a:r>
                        <a:rPr sz="1800" b="0">
                          <a:solidFill>
                            <a:srgbClr val="193E35"/>
                          </a:solidFill>
                          <a:latin typeface="Helvetica Neue"/>
                          <a:ea typeface="Helvetica Neue"/>
                          <a:cs typeface="Helvetica Neue"/>
                        </a:rPr>
                        <a:t>Agent communication</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Gateway, four workers, HTTP contracts and run trace</a:t>
                      </a:r>
                    </a:p>
                  </a:txBody>
                  <a:tcPr marL="91440" marR="91440" marT="45720" marB="45720" anchor="ctr">
                    <a:solidFill>
                      <a:srgbClr val="F5F3EC"/>
                    </a:solidFill>
                  </a:tcPr>
                </a:tc>
              </a:tr>
              <a:tr h="558800">
                <a:tc>
                  <a:txBody>
                    <a:bodyPr lIns="142875" tIns="114300" rIns="142875" bIns="114300">
                      <a:noAutofit/>
                    </a:bodyPr>
                    <a:lstStyle/>
                    <a:p>
                      <a:r>
                        <a:rPr sz="1800" b="0">
                          <a:solidFill>
                            <a:srgbClr val="193E35"/>
                          </a:solidFill>
                          <a:latin typeface="Helvetica Neue"/>
                          <a:ea typeface="Helvetica Neue"/>
                          <a:cs typeface="Helvetica Neue"/>
                        </a:rPr>
                        <a:t>Security and Responsible AI</a:t>
                      </a:r>
                    </a:p>
                  </a:txBody>
                  <a:tcPr marL="91440" marR="91440" marT="45720" marB="45720" anchor="ctr">
                    <a:solidFill>
                      <a:srgbClr val="E9EDDF"/>
                    </a:solidFill>
                  </a:tcPr>
                </a:tc>
                <a:tc>
                  <a:txBody>
                    <a:bodyPr lIns="142875" tIns="114300" rIns="142875" bIns="114300">
                      <a:noAutofit/>
                    </a:bodyPr>
                    <a:lstStyle/>
                    <a:p>
                      <a:r>
                        <a:rPr sz="1800" b="0">
                          <a:solidFill>
                            <a:srgbClr val="193E35"/>
                          </a:solidFill>
                          <a:latin typeface="Helvetica Neue"/>
                          <a:ea typeface="Helvetica Neue"/>
                          <a:cs typeface="Helvetica Neue"/>
                        </a:rPr>
                        <a:t>Login, consent, user scoping, explanations and privacy</a:t>
                      </a:r>
                    </a:p>
                  </a:txBody>
                  <a:tcPr marL="91440" marR="91440" marT="45720" marB="45720" anchor="ctr">
                    <a:solidFill>
                      <a:srgbClr val="E9EDDF"/>
                    </a:solidFill>
                  </a:tcPr>
                </a:tc>
              </a:tr>
              <a:tr h="558800">
                <a:tc>
                  <a:txBody>
                    <a:bodyPr lIns="142875" tIns="114300" rIns="142875" bIns="114300">
                      <a:noAutofit/>
                    </a:bodyPr>
                    <a:lstStyle/>
                    <a:p>
                      <a:r>
                        <a:rPr sz="1800" b="0">
                          <a:solidFill>
                            <a:srgbClr val="193E35"/>
                          </a:solidFill>
                          <a:latin typeface="Helvetica Neue"/>
                          <a:ea typeface="Helvetica Neue"/>
                          <a:cs typeface="Helvetica Neue"/>
                        </a:rPr>
                        <a:t>Commercialization</a:t>
                      </a:r>
                    </a:p>
                  </a:txBody>
                  <a:tcPr marL="91440" marR="91440" marT="45720" marB="45720" anchor="ctr">
                    <a:solidFill>
                      <a:srgbClr val="F5F3EC"/>
                    </a:solidFill>
                  </a:tcPr>
                </a:tc>
                <a:tc>
                  <a:txBody>
                    <a:bodyPr lIns="142875" tIns="114300" rIns="142875" bIns="114300">
                      <a:noAutofit/>
                    </a:bodyPr>
                    <a:lstStyle/>
                    <a:p>
                      <a:r>
                        <a:rPr sz="1800" b="0">
                          <a:solidFill>
                            <a:srgbClr val="193E35"/>
                          </a:solidFill>
                          <a:latin typeface="Helvetica Neue"/>
                          <a:ea typeface="Helvetica Neue"/>
                          <a:cs typeface="Helvetica Neue"/>
                        </a:rPr>
                        <a:t>HR/L&amp;D buyer, per-employee pricing hypotheses</a:t>
                      </a:r>
                    </a:p>
                  </a:txBody>
                  <a:tcPr marL="91440" marR="91440" marT="45720" marB="45720" anchor="ctr">
                    <a:solidFill>
                      <a:srgbClr val="F5F3EC"/>
                    </a:solidFill>
                  </a:tcPr>
                </a:tc>
              </a:tr>
            </a:tbl>
          </a:graphicData>
        </a:graphic>
      </p:graphicFrame>
      <p:sp>
        <p:nvSpPr>
          <p:cNvPr id="5" name="Primary references: assignment brief, current so">
            <a:extLst xmlns:a="http://schemas.openxmlformats.org/drawingml/2006/main">
              <a:ext uri="{FF2B5EF4-FFF2-40B4-BE49-F238E27FC236}">
                <a16:creationId xmlns:a16="http://schemas.microsoft.com/office/drawing/2014/main" id="{04F284F8-A7FD-4ABF-9C70-2EAC45277F07}"/>
              </a:ext>
            </a:extLst>
          </p:cNvPr>
          <p:cNvSpPr>
            <a:spLocks xmlns:a="http://schemas.openxmlformats.org/drawingml/2006/main" noGrp="1"/>
          </p:cNvSpPr>
          <p:nvPr/>
        </p:nvSpPr>
        <p:spPr>
          <a:xfrm xmlns:a="http://schemas.openxmlformats.org/drawingml/2006/main">
            <a:off x="619125" y="56292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63736B"/>
                </a:solidFill>
                <a:latin typeface="Helvetica Neue"/>
                <a:ea typeface="Helvetica Neue"/>
                <a:cs typeface="Helvetica Neue"/>
              </a:defRPr>
            </a:pPr>
            <a:r>
              <a:rPr sz="1650" b="0">
                <a:solidFill>
                  <a:srgbClr val="63736B"/>
                </a:solidFill>
                <a:latin typeface="Helvetica Neue"/>
                <a:ea typeface="Helvetica Neue"/>
                <a:cs typeface="Helvetica Neue"/>
              </a:rPr>
              <a:t>Primary references: assignment brief, current source code,</a:t>
            </a:r>
          </a:p>
          <a:p xmlns:a="http://schemas.openxmlformats.org/drawingml/2006/main">
            <a:pPr>
              <a:defRPr sz="1650" b="0">
                <a:solidFill>
                  <a:srgbClr val="63736B"/>
                </a:solidFill>
                <a:latin typeface="Helvetica Neue"/>
                <a:ea typeface="Helvetica Neue"/>
                <a:cs typeface="Helvetica Neue"/>
              </a:defRPr>
            </a:pPr>
            <a:r>
              <a:rPr sz="1650" b="0">
                <a:solidFill>
                  <a:srgbClr val="63736B"/>
                </a:solidFill>
                <a:latin typeface="Helvetica Neue"/>
                <a:ea typeface="Helvetica Neue"/>
                <a:cs typeface="Helvetica Neue"/>
              </a:rPr>
              <a:t>README.md and docs/ARCHITECTURE.md</a:t>
            </a:r>
          </a:p>
        </p:txBody>
      </p:sp>
    </p:spTree>
    <p:extLst>
      <p:ext uri="{BB962C8B-B14F-4D97-AF65-F5344CB8AC3E}">
        <p14:creationId xmlns:p14="http://schemas.microsoft.com/office/powerpoint/2010/main" val="12989424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2026-09-21T06:58:28.5860000Z</dcterms:created>
  <dcterms:modified xsi:type="dcterms:W3CDTF">2026-09-21T06:58:28.5860000Z</dcterms:modified>
</coreProperties>
</file>